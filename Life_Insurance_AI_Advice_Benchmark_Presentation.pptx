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12192000"/>
  <p:notesSz cx="6858000" cy="12192000"/>
  <p:embeddedFontLst>
    <p:embeddedFont>
      <p:font typeface="Play"/>
      <p:regular r:id="rId28"/>
      <p:bold r:id="rId29"/>
    </p:embeddedFont>
    <p:embeddedFont>
      <p:font typeface="Gill Sans"/>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55447FE-BC30-4ACA-B035-155DD77227F6}">
  <a:tblStyle styleId="{C55447FE-BC30-4ACA-B035-155DD77227F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Play-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lay-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GillSans-bold.fntdata"/><Relationship Id="rId30" Type="http://schemas.openxmlformats.org/officeDocument/2006/relationships/font" Target="fonts/GillSans-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Use this slide to explain the motivation and stakes. The aim is not just comparing models, but checking whether automated evaluations line up with human judgment.</a:t>
            </a:r>
            <a:endParaRPr/>
          </a:p>
        </p:txBody>
      </p:sp>
      <p:sp>
        <p:nvSpPr>
          <p:cNvPr id="108" name="Google Shape;108;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Walk through the main components: two datasets, four advice generators, a fifth model as the judge, human annotation, and five scoring dimensions.</a:t>
            </a:r>
            <a:endParaRPr/>
          </a:p>
        </p:txBody>
      </p:sp>
      <p:sp>
        <p:nvSpPr>
          <p:cNvPr id="128" name="Google Shape;128;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Emphasize that the datasets test different kinds of advice: broad knowledge versus comparison and provider specificity.</a:t>
            </a:r>
            <a:endParaRPr/>
          </a:p>
        </p:txBody>
      </p:sp>
      <p:sp>
        <p:nvSpPr>
          <p:cNvPr id="160" name="Google Shape;160;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f5c19d17f6_0_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g3f5c19d17f6_0_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Emphasize that the datasets test different kinds of advice: broad knowledge versus comparison and provider specificity.</a:t>
            </a:r>
            <a:endParaRPr/>
          </a:p>
        </p:txBody>
      </p:sp>
      <p:sp>
        <p:nvSpPr>
          <p:cNvPr id="178" name="Google Shape;178;g3f5c19d17f6_0_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f5c19d17f6_0_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g3f5c19d17f6_0_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188" name="Google Shape;188;g3f5c19d17f6_0_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Explain the operational flow from prompts to model responses to LLM judge scores, then human annotation and agreement analysis.</a:t>
            </a:r>
            <a:endParaRPr/>
          </a:p>
        </p:txBody>
      </p:sp>
      <p:sp>
        <p:nvSpPr>
          <p:cNvPr id="198" name="Google Shape;198;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Focus on the contrast: general policy topics are easier; provider comparison and consumer decision-making are harder.</a:t>
            </a:r>
            <a:endParaRPr/>
          </a:p>
        </p:txBody>
      </p:sp>
      <p:sp>
        <p:nvSpPr>
          <p:cNvPr id="242" name="Google Shape;242;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 name="Google Shape;25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Explain Cohen’s kappa as an agreement measure. The uneven bars are the major story: the automated judge does not match humans equally across criteria.</a:t>
            </a:r>
            <a:endParaRPr/>
          </a:p>
        </p:txBody>
      </p:sp>
      <p:sp>
        <p:nvSpPr>
          <p:cNvPr id="257" name="Google Shape;257;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 name="Google Shape;29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Point to the circled professional-referral rows on the poster chart; this dimension shows model behavior can differ by task and dataset.</a:t>
            </a:r>
            <a:endParaRPr/>
          </a:p>
        </p:txBody>
      </p:sp>
      <p:sp>
        <p:nvSpPr>
          <p:cNvPr id="296" name="Google Shape;296;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Focus on the contrast: general policy topics are easier; provider comparison and consumer decision-making are harder.</a:t>
            </a:r>
            <a:endParaRPr/>
          </a:p>
        </p:txBody>
      </p:sp>
      <p:sp>
        <p:nvSpPr>
          <p:cNvPr id="310" name="Google Shape;310;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5" name="Google Shape;325;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slide is for visually showing the distribution plots from the poster. The key phrase from the poster is that human ratings are generally more consistent.</a:t>
            </a:r>
            <a:endParaRPr/>
          </a:p>
        </p:txBody>
      </p:sp>
      <p:sp>
        <p:nvSpPr>
          <p:cNvPr id="326" name="Google Shape;326;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f5c19d17f6_3_145: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f5c19d17f6_3_145: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f5c19d17f6_3_151: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f5c19d17f6_3_151: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f5c19d17f6_3_157: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f5c19d17f6_3_157: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f5c19d17f6_3_165: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f5c19d17f6_3_165: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f5c19d17f6_3_123: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f5c19d17f6_3_123: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8" name="Google Shape;378;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Connect missing responses to the conclusion: higher reasoning cost and higher scores do not automatically mean the model is more reliable.</a:t>
            </a:r>
            <a:endParaRPr/>
          </a:p>
        </p:txBody>
      </p:sp>
      <p:sp>
        <p:nvSpPr>
          <p:cNvPr id="379" name="Google Shape;379;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4" name="Google Shape;394;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Make the key point: GPT-5.4-mini performed best overall, but performance must be considered with missing outputs and cost/reliability concerns.</a:t>
            </a:r>
            <a:endParaRPr/>
          </a:p>
        </p:txBody>
      </p:sp>
      <p:sp>
        <p:nvSpPr>
          <p:cNvPr id="395" name="Google Shape;395;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0" name="Google Shape;410;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End with the main takeaway and future research path.</a:t>
            </a:r>
            <a:endParaRPr/>
          </a:p>
        </p:txBody>
      </p:sp>
      <p:sp>
        <p:nvSpPr>
          <p:cNvPr id="411" name="Google Shape;411;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6" name="Google Shape;42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Use this slide for citation and contact details.</a:t>
            </a:r>
            <a:endParaRPr/>
          </a:p>
        </p:txBody>
      </p:sp>
      <p:sp>
        <p:nvSpPr>
          <p:cNvPr id="427" name="Google Shape;427;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f5e142ef3c_0_0: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f5e142ef3c_0_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2"/>
          <p:cNvSpPr txBox="1"/>
          <p:nvPr>
            <p:ph type="title"/>
          </p:nvPr>
        </p:nvSpPr>
        <p:spPr>
          <a:xfrm>
            <a:off x="1454239" y="1756130"/>
            <a:ext cx="8643154" cy="18879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 type="body"/>
          </p:nvPr>
        </p:nvSpPr>
        <p:spPr>
          <a:xfrm>
            <a:off x="1454239" y="3806195"/>
            <a:ext cx="8630446" cy="1012929"/>
          </a:xfrm>
          <a:prstGeom prst="rect">
            <a:avLst/>
          </a:prstGeom>
          <a:noFill/>
          <a:ln>
            <a:noFill/>
          </a:ln>
        </p:spPr>
        <p:txBody>
          <a:bodyPr anchorCtr="0" anchor="t" bIns="45700" lIns="91425" spcFirstLastPara="1" rIns="91425" wrap="square" tIns="91425">
            <a:normAutofit/>
          </a:bodyPr>
          <a:lstStyle>
            <a:lvl1pPr indent="-228600" lvl="0" marL="457200" algn="l">
              <a:lnSpc>
                <a:spcPct val="120000"/>
              </a:lnSpc>
              <a:spcBef>
                <a:spcPts val="1000"/>
              </a:spcBef>
              <a:spcAft>
                <a:spcPts val="0"/>
              </a:spcAft>
              <a:buSzPts val="1800"/>
              <a:buNone/>
              <a:defRPr sz="1800">
                <a:solidFill>
                  <a:schemeClr val="dk1"/>
                </a:solidFill>
              </a:defRPr>
            </a:lvl1pPr>
            <a:lvl2pPr indent="-228600" lvl="1" marL="914400" algn="l">
              <a:lnSpc>
                <a:spcPct val="120000"/>
              </a:lnSpc>
              <a:spcBef>
                <a:spcPts val="500"/>
              </a:spcBef>
              <a:spcAft>
                <a:spcPts val="0"/>
              </a:spcAft>
              <a:buSzPts val="1800"/>
              <a:buNone/>
              <a:defRPr sz="1800">
                <a:solidFill>
                  <a:srgbClr val="888888"/>
                </a:solidFill>
              </a:defRPr>
            </a:lvl2pPr>
            <a:lvl3pPr indent="-228600" lvl="2" marL="1371600" algn="l">
              <a:lnSpc>
                <a:spcPct val="120000"/>
              </a:lnSpc>
              <a:spcBef>
                <a:spcPts val="500"/>
              </a:spcBef>
              <a:spcAft>
                <a:spcPts val="0"/>
              </a:spcAft>
              <a:buSzPts val="1800"/>
              <a:buNone/>
              <a:defRPr sz="1800">
                <a:solidFill>
                  <a:srgbClr val="888888"/>
                </a:solidFill>
              </a:defRPr>
            </a:lvl3pPr>
            <a:lvl4pPr indent="-228600" lvl="3" marL="1828800" algn="l">
              <a:lnSpc>
                <a:spcPct val="120000"/>
              </a:lnSpc>
              <a:spcBef>
                <a:spcPts val="500"/>
              </a:spcBef>
              <a:spcAft>
                <a:spcPts val="0"/>
              </a:spcAft>
              <a:buSzPts val="1600"/>
              <a:buNone/>
              <a:defRPr sz="1600">
                <a:solidFill>
                  <a:srgbClr val="888888"/>
                </a:solidFill>
              </a:defRPr>
            </a:lvl4pPr>
            <a:lvl5pPr indent="-228600" lvl="4" marL="2286000" algn="l">
              <a:lnSpc>
                <a:spcPct val="120000"/>
              </a:lnSpc>
              <a:spcBef>
                <a:spcPts val="500"/>
              </a:spcBef>
              <a:spcAft>
                <a:spcPts val="0"/>
              </a:spcAft>
              <a:buSzPts val="1600"/>
              <a:buNone/>
              <a:defRPr sz="1600">
                <a:solidFill>
                  <a:srgbClr val="888888"/>
                </a:solidFill>
              </a:defRPr>
            </a:lvl5pPr>
            <a:lvl6pPr indent="-228600" lvl="5" marL="2743200" algn="l">
              <a:lnSpc>
                <a:spcPct val="120000"/>
              </a:lnSpc>
              <a:spcBef>
                <a:spcPts val="500"/>
              </a:spcBef>
              <a:spcAft>
                <a:spcPts val="0"/>
              </a:spcAft>
              <a:buSzPts val="1600"/>
              <a:buNone/>
              <a:defRPr sz="1600">
                <a:solidFill>
                  <a:srgbClr val="888888"/>
                </a:solidFill>
              </a:defRPr>
            </a:lvl6pPr>
            <a:lvl7pPr indent="-228600" lvl="6" marL="3200400" algn="l">
              <a:lnSpc>
                <a:spcPct val="120000"/>
              </a:lnSpc>
              <a:spcBef>
                <a:spcPts val="500"/>
              </a:spcBef>
              <a:spcAft>
                <a:spcPts val="0"/>
              </a:spcAft>
              <a:buSzPts val="1600"/>
              <a:buNone/>
              <a:defRPr sz="1600">
                <a:solidFill>
                  <a:srgbClr val="888888"/>
                </a:solidFill>
              </a:defRPr>
            </a:lvl7pPr>
            <a:lvl8pPr indent="-228600" lvl="7" marL="3657600" algn="l">
              <a:lnSpc>
                <a:spcPct val="120000"/>
              </a:lnSpc>
              <a:spcBef>
                <a:spcPts val="500"/>
              </a:spcBef>
              <a:spcAft>
                <a:spcPts val="0"/>
              </a:spcAft>
              <a:buSzPts val="1600"/>
              <a:buNone/>
              <a:defRPr sz="1600">
                <a:solidFill>
                  <a:srgbClr val="888888"/>
                </a:solidFill>
              </a:defRPr>
            </a:lvl8pPr>
            <a:lvl9pPr indent="-228600" lvl="8" marL="4114800" algn="l">
              <a:lnSpc>
                <a:spcPct val="120000"/>
              </a:lnSpc>
              <a:spcBef>
                <a:spcPts val="500"/>
              </a:spcBef>
              <a:spcAft>
                <a:spcPts val="0"/>
              </a:spcAft>
              <a:buSzPts val="1600"/>
              <a:buNone/>
              <a:defRPr sz="1600">
                <a:solidFill>
                  <a:srgbClr val="888888"/>
                </a:solidFill>
              </a:defRPr>
            </a:lvl9pPr>
          </a:lstStyle>
          <a:p/>
        </p:txBody>
      </p:sp>
      <p:sp>
        <p:nvSpPr>
          <p:cNvPr id="17" name="Google Shape;17;p2"/>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a:lvl1pPr>
            <a:lvl2pPr indent="0" lvl="1" marL="0" algn="l">
              <a:spcBef>
                <a:spcPts val="0"/>
              </a:spcBef>
              <a:buNone/>
              <a:defRPr b="0"/>
            </a:lvl2pPr>
            <a:lvl3pPr indent="0" lvl="2" marL="0" algn="l">
              <a:spcBef>
                <a:spcPts val="0"/>
              </a:spcBef>
              <a:buNone/>
              <a:defRPr b="0"/>
            </a:lvl3pPr>
            <a:lvl4pPr indent="0" lvl="3" marL="0" algn="l">
              <a:spcBef>
                <a:spcPts val="0"/>
              </a:spcBef>
              <a:buNone/>
              <a:defRPr b="0"/>
            </a:lvl4pPr>
            <a:lvl5pPr indent="0" lvl="4" marL="0" algn="l">
              <a:spcBef>
                <a:spcPts val="0"/>
              </a:spcBef>
              <a:buNone/>
              <a:defRPr b="0"/>
            </a:lvl5pPr>
            <a:lvl6pPr indent="0" lvl="5" marL="0" algn="l">
              <a:spcBef>
                <a:spcPts val="0"/>
              </a:spcBef>
              <a:buNone/>
              <a:defRPr b="0"/>
            </a:lvl6pPr>
            <a:lvl7pPr indent="0" lvl="6" marL="0" algn="l">
              <a:spcBef>
                <a:spcPts val="0"/>
              </a:spcBef>
              <a:buNone/>
              <a:defRPr b="0"/>
            </a:lvl7pPr>
            <a:lvl8pPr indent="0" lvl="7" marL="0" algn="l">
              <a:spcBef>
                <a:spcPts val="0"/>
              </a:spcBef>
              <a:buNone/>
              <a:defRPr b="0"/>
            </a:lvl8pPr>
            <a:lvl9pPr indent="0" lvl="8" marL="0" algn="l">
              <a:spcBef>
                <a:spcPts val="0"/>
              </a:spcBef>
              <a:buNone/>
              <a:defRPr b="0"/>
            </a:lvl9pPr>
          </a:lstStyle>
          <a:p>
            <a:pPr indent="0" lvl="0" marL="0" rtl="0" algn="l">
              <a:spcBef>
                <a:spcPts val="0"/>
              </a:spcBef>
              <a:spcAft>
                <a:spcPts val="0"/>
              </a:spcAft>
              <a:buNone/>
            </a:pPr>
            <a:fld id="{00000000-1234-1234-1234-123412341234}" type="slidenum">
              <a:rPr lang="en-US"/>
              <a:t>‹#›</a:t>
            </a:fld>
            <a:endParaRPr/>
          </a:p>
        </p:txBody>
      </p:sp>
      <p:cxnSp>
        <p:nvCxnSpPr>
          <p:cNvPr id="20" name="Google Shape;20;p2"/>
          <p:cNvCxnSpPr/>
          <p:nvPr/>
        </p:nvCxnSpPr>
        <p:spPr>
          <a:xfrm>
            <a:off x="1454239" y="3804985"/>
            <a:ext cx="8630446"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p:cSld name="MASTER">
    <p:bg>
      <p:bgPr>
        <a:solidFill>
          <a:srgbClr val="F7F8FC"/>
        </a:solidFill>
      </p:bgPr>
    </p:bg>
    <p:spTree>
      <p:nvGrpSpPr>
        <p:cNvPr id="21" name="Shape 21"/>
        <p:cNvGrpSpPr/>
        <p:nvPr/>
      </p:nvGrpSpPr>
      <p:grpSpPr>
        <a:xfrm>
          <a:off x="0" y="0"/>
          <a:ext cx="0" cy="0"/>
          <a:chOff x="0" y="0"/>
          <a:chExt cx="0" cy="0"/>
        </a:xfrm>
      </p:grpSpPr>
      <p:sp>
        <p:nvSpPr>
          <p:cNvPr id="22" name="Google Shape;22;p3"/>
          <p:cNvSpPr txBox="1"/>
          <p:nvPr>
            <p:ph idx="12" type="sldNum"/>
          </p:nvPr>
        </p:nvSpPr>
        <p:spPr>
          <a:xfrm>
            <a:off x="11612880" y="6601968"/>
            <a:ext cx="800000" cy="30000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800" u="none" cap="none" strike="noStrike">
                <a:solidFill>
                  <a:srgbClr val="6B7280"/>
                </a:solidFill>
                <a:latin typeface="Arial"/>
                <a:ea typeface="Arial"/>
                <a:cs typeface="Arial"/>
                <a:sym typeface="Arial"/>
              </a:defRPr>
            </a:lvl1pPr>
            <a:lvl2pPr indent="0" lvl="1" marL="0" marR="0" algn="l">
              <a:spcBef>
                <a:spcPts val="0"/>
              </a:spcBef>
              <a:buNone/>
              <a:defRPr b="0" i="0" sz="800" u="none" cap="none" strike="noStrike">
                <a:solidFill>
                  <a:srgbClr val="6B7280"/>
                </a:solidFill>
                <a:latin typeface="Arial"/>
                <a:ea typeface="Arial"/>
                <a:cs typeface="Arial"/>
                <a:sym typeface="Arial"/>
              </a:defRPr>
            </a:lvl2pPr>
            <a:lvl3pPr indent="0" lvl="2" marL="0" marR="0" algn="l">
              <a:spcBef>
                <a:spcPts val="0"/>
              </a:spcBef>
              <a:buNone/>
              <a:defRPr b="0" i="0" sz="800" u="none" cap="none" strike="noStrike">
                <a:solidFill>
                  <a:srgbClr val="6B7280"/>
                </a:solidFill>
                <a:latin typeface="Arial"/>
                <a:ea typeface="Arial"/>
                <a:cs typeface="Arial"/>
                <a:sym typeface="Arial"/>
              </a:defRPr>
            </a:lvl3pPr>
            <a:lvl4pPr indent="0" lvl="3" marL="0" marR="0" algn="l">
              <a:spcBef>
                <a:spcPts val="0"/>
              </a:spcBef>
              <a:buNone/>
              <a:defRPr b="0" i="0" sz="800" u="none" cap="none" strike="noStrike">
                <a:solidFill>
                  <a:srgbClr val="6B7280"/>
                </a:solidFill>
                <a:latin typeface="Arial"/>
                <a:ea typeface="Arial"/>
                <a:cs typeface="Arial"/>
                <a:sym typeface="Arial"/>
              </a:defRPr>
            </a:lvl4pPr>
            <a:lvl5pPr indent="0" lvl="4" marL="0" marR="0" algn="l">
              <a:spcBef>
                <a:spcPts val="0"/>
              </a:spcBef>
              <a:buNone/>
              <a:defRPr b="0" i="0" sz="800" u="none" cap="none" strike="noStrike">
                <a:solidFill>
                  <a:srgbClr val="6B7280"/>
                </a:solidFill>
                <a:latin typeface="Arial"/>
                <a:ea typeface="Arial"/>
                <a:cs typeface="Arial"/>
                <a:sym typeface="Arial"/>
              </a:defRPr>
            </a:lvl5pPr>
            <a:lvl6pPr indent="0" lvl="5" marL="0" marR="0" algn="l">
              <a:spcBef>
                <a:spcPts val="0"/>
              </a:spcBef>
              <a:buNone/>
              <a:defRPr b="0" i="0" sz="800" u="none" cap="none" strike="noStrike">
                <a:solidFill>
                  <a:srgbClr val="6B7280"/>
                </a:solidFill>
                <a:latin typeface="Arial"/>
                <a:ea typeface="Arial"/>
                <a:cs typeface="Arial"/>
                <a:sym typeface="Arial"/>
              </a:defRPr>
            </a:lvl6pPr>
            <a:lvl7pPr indent="0" lvl="6" marL="0" marR="0" algn="l">
              <a:spcBef>
                <a:spcPts val="0"/>
              </a:spcBef>
              <a:buNone/>
              <a:defRPr b="0" i="0" sz="800" u="none" cap="none" strike="noStrike">
                <a:solidFill>
                  <a:srgbClr val="6B7280"/>
                </a:solidFill>
                <a:latin typeface="Arial"/>
                <a:ea typeface="Arial"/>
                <a:cs typeface="Arial"/>
                <a:sym typeface="Arial"/>
              </a:defRPr>
            </a:lvl7pPr>
            <a:lvl8pPr indent="0" lvl="7" marL="0" marR="0" algn="l">
              <a:spcBef>
                <a:spcPts val="0"/>
              </a:spcBef>
              <a:buNone/>
              <a:defRPr b="0" i="0" sz="800" u="none" cap="none" strike="noStrike">
                <a:solidFill>
                  <a:srgbClr val="6B7280"/>
                </a:solidFill>
                <a:latin typeface="Arial"/>
                <a:ea typeface="Arial"/>
                <a:cs typeface="Arial"/>
                <a:sym typeface="Arial"/>
              </a:defRPr>
            </a:lvl8pPr>
            <a:lvl9pPr indent="0" lvl="8" marL="0" marR="0" algn="l">
              <a:spcBef>
                <a:spcPts val="0"/>
              </a:spcBef>
              <a:buNone/>
              <a:defRPr b="0" i="0" sz="800" u="none" cap="none" strike="noStrike">
                <a:solidFill>
                  <a:srgbClr val="6B728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sp>
        <p:nvSpPr>
          <p:cNvPr id="24" name="Google Shape;24;p4"/>
          <p:cNvSpPr txBox="1"/>
          <p:nvPr>
            <p:ph type="ctrTitle"/>
          </p:nvPr>
        </p:nvSpPr>
        <p:spPr>
          <a:xfrm>
            <a:off x="2417779" y="802298"/>
            <a:ext cx="8637073" cy="2541431"/>
          </a:xfrm>
          <a:prstGeom prst="rect">
            <a:avLst/>
          </a:prstGeom>
          <a:noFill/>
          <a:ln>
            <a:noFill/>
          </a:ln>
        </p:spPr>
        <p:txBody>
          <a:bodyPr anchorCtr="0" anchor="b" bIns="0" lIns="91425" spcFirstLastPara="1" rIns="91425" wrap="square" tIns="45700">
            <a:normAutofit/>
          </a:bodyPr>
          <a:lstStyle>
            <a:lvl1pPr lvl="0" algn="l">
              <a:lnSpc>
                <a:spcPct val="90000"/>
              </a:lnSpc>
              <a:spcBef>
                <a:spcPts val="0"/>
              </a:spcBef>
              <a:spcAft>
                <a:spcPts val="0"/>
              </a:spcAft>
              <a:buClr>
                <a:schemeClr val="dk1"/>
              </a:buClr>
              <a:buSzPts val="6600"/>
              <a:buFont typeface="Gill Sans"/>
              <a:buNone/>
              <a:defRPr sz="6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subTitle"/>
          </p:nvPr>
        </p:nvSpPr>
        <p:spPr>
          <a:xfrm>
            <a:off x="2417780" y="3531204"/>
            <a:ext cx="8637072" cy="977621"/>
          </a:xfrm>
          <a:prstGeom prst="rect">
            <a:avLst/>
          </a:prstGeom>
          <a:noFill/>
          <a:ln>
            <a:noFill/>
          </a:ln>
        </p:spPr>
        <p:txBody>
          <a:bodyPr anchorCtr="0" anchor="t" bIns="91425" lIns="91425" spcFirstLastPara="1" rIns="91425" wrap="square" tIns="91425">
            <a:normAutofit/>
          </a:bodyPr>
          <a:lstStyle>
            <a:lvl1pPr lvl="0" algn="l">
              <a:lnSpc>
                <a:spcPct val="120000"/>
              </a:lnSpc>
              <a:spcBef>
                <a:spcPts val="1000"/>
              </a:spcBef>
              <a:spcAft>
                <a:spcPts val="0"/>
              </a:spcAft>
              <a:buSzPts val="1800"/>
              <a:buNone/>
              <a:defRPr b="0" sz="1800" cap="none">
                <a:solidFill>
                  <a:schemeClr val="dk1"/>
                </a:solidFill>
              </a:defRPr>
            </a:lvl1pPr>
            <a:lvl2pPr lvl="1" algn="ctr">
              <a:lnSpc>
                <a:spcPct val="120000"/>
              </a:lnSpc>
              <a:spcBef>
                <a:spcPts val="500"/>
              </a:spcBef>
              <a:spcAft>
                <a:spcPts val="0"/>
              </a:spcAft>
              <a:buSzPts val="1800"/>
              <a:buNone/>
              <a:defRPr sz="1800"/>
            </a:lvl2pPr>
            <a:lvl3pPr lvl="2" algn="ctr">
              <a:lnSpc>
                <a:spcPct val="120000"/>
              </a:lnSpc>
              <a:spcBef>
                <a:spcPts val="500"/>
              </a:spcBef>
              <a:spcAft>
                <a:spcPts val="0"/>
              </a:spcAft>
              <a:buSzPts val="1800"/>
              <a:buNone/>
              <a:defRPr sz="1800"/>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120000"/>
              </a:lnSpc>
              <a:spcBef>
                <a:spcPts val="500"/>
              </a:spcBef>
              <a:spcAft>
                <a:spcPts val="0"/>
              </a:spcAft>
              <a:buSzPts val="1600"/>
              <a:buNone/>
              <a:defRPr sz="1600"/>
            </a:lvl6pPr>
            <a:lvl7pPr lvl="6" algn="ctr">
              <a:lnSpc>
                <a:spcPct val="120000"/>
              </a:lnSpc>
              <a:spcBef>
                <a:spcPts val="500"/>
              </a:spcBef>
              <a:spcAft>
                <a:spcPts val="0"/>
              </a:spcAft>
              <a:buSzPts val="1600"/>
              <a:buNone/>
              <a:defRPr sz="1600"/>
            </a:lvl7pPr>
            <a:lvl8pPr lvl="7" algn="ctr">
              <a:lnSpc>
                <a:spcPct val="120000"/>
              </a:lnSpc>
              <a:spcBef>
                <a:spcPts val="500"/>
              </a:spcBef>
              <a:spcAft>
                <a:spcPts val="0"/>
              </a:spcAft>
              <a:buSzPts val="1600"/>
              <a:buNone/>
              <a:defRPr sz="1600"/>
            </a:lvl8pPr>
            <a:lvl9pPr lvl="8" algn="ctr">
              <a:lnSpc>
                <a:spcPct val="120000"/>
              </a:lnSpc>
              <a:spcBef>
                <a:spcPts val="500"/>
              </a:spcBef>
              <a:spcAft>
                <a:spcPts val="0"/>
              </a:spcAft>
              <a:buSzPts val="1600"/>
              <a:buNone/>
              <a:defRPr sz="1600"/>
            </a:lvl9pPr>
          </a:lstStyle>
          <a:p/>
        </p:txBody>
      </p:sp>
      <p:sp>
        <p:nvSpPr>
          <p:cNvPr id="26" name="Google Shape;26;p4"/>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2416500" y="329307"/>
            <a:ext cx="4973915"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1437664" y="798973"/>
            <a:ext cx="811019" cy="503578"/>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a:lvl1pPr>
            <a:lvl2pPr indent="0" lvl="1" marL="0" algn="l">
              <a:spcBef>
                <a:spcPts val="0"/>
              </a:spcBef>
              <a:buNone/>
              <a:defRPr b="0"/>
            </a:lvl2pPr>
            <a:lvl3pPr indent="0" lvl="2" marL="0" algn="l">
              <a:spcBef>
                <a:spcPts val="0"/>
              </a:spcBef>
              <a:buNone/>
              <a:defRPr b="0"/>
            </a:lvl3pPr>
            <a:lvl4pPr indent="0" lvl="3" marL="0" algn="l">
              <a:spcBef>
                <a:spcPts val="0"/>
              </a:spcBef>
              <a:buNone/>
              <a:defRPr b="0"/>
            </a:lvl4pPr>
            <a:lvl5pPr indent="0" lvl="4" marL="0" algn="l">
              <a:spcBef>
                <a:spcPts val="0"/>
              </a:spcBef>
              <a:buNone/>
              <a:defRPr b="0"/>
            </a:lvl5pPr>
            <a:lvl6pPr indent="0" lvl="5" marL="0" algn="l">
              <a:spcBef>
                <a:spcPts val="0"/>
              </a:spcBef>
              <a:buNone/>
              <a:defRPr b="0"/>
            </a:lvl6pPr>
            <a:lvl7pPr indent="0" lvl="6" marL="0" algn="l">
              <a:spcBef>
                <a:spcPts val="0"/>
              </a:spcBef>
              <a:buNone/>
              <a:defRPr b="0"/>
            </a:lvl7pPr>
            <a:lvl8pPr indent="0" lvl="7" marL="0" algn="l">
              <a:spcBef>
                <a:spcPts val="0"/>
              </a:spcBef>
              <a:buNone/>
              <a:defRPr b="0"/>
            </a:lvl8pPr>
            <a:lvl9pPr indent="0" lvl="8" marL="0" algn="l">
              <a:spcBef>
                <a:spcPts val="0"/>
              </a:spcBef>
              <a:buNone/>
              <a:defRPr b="0"/>
            </a:lvl9pPr>
          </a:lstStyle>
          <a:p>
            <a:pPr indent="0" lvl="0" marL="0" rtl="0" algn="l">
              <a:spcBef>
                <a:spcPts val="0"/>
              </a:spcBef>
              <a:spcAft>
                <a:spcPts val="0"/>
              </a:spcAft>
              <a:buNone/>
            </a:pPr>
            <a:fld id="{00000000-1234-1234-1234-123412341234}" type="slidenum">
              <a:rPr lang="en-US"/>
              <a:t>‹#›</a:t>
            </a:fld>
            <a:endParaRPr/>
          </a:p>
        </p:txBody>
      </p:sp>
      <p:cxnSp>
        <p:nvCxnSpPr>
          <p:cNvPr id="29" name="Google Shape;29;p4"/>
          <p:cNvCxnSpPr/>
          <p:nvPr/>
        </p:nvCxnSpPr>
        <p:spPr>
          <a:xfrm>
            <a:off x="2417780" y="3528542"/>
            <a:ext cx="863707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 name="Shape 30"/>
        <p:cNvGrpSpPr/>
        <p:nvPr/>
      </p:nvGrpSpPr>
      <p:grpSpPr>
        <a:xfrm>
          <a:off x="0" y="0"/>
          <a:ext cx="0" cy="0"/>
          <a:chOff x="0" y="0"/>
          <a:chExt cx="0" cy="0"/>
        </a:xfrm>
      </p:grpSpPr>
      <p:sp>
        <p:nvSpPr>
          <p:cNvPr id="31" name="Google Shape;31;p5"/>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5"/>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33" name="Google Shape;33;p5"/>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a:lvl1pPr>
            <a:lvl2pPr indent="0" lvl="1" marL="0" algn="l">
              <a:spcBef>
                <a:spcPts val="0"/>
              </a:spcBef>
              <a:buNone/>
              <a:defRPr b="0"/>
            </a:lvl2pPr>
            <a:lvl3pPr indent="0" lvl="2" marL="0" algn="l">
              <a:spcBef>
                <a:spcPts val="0"/>
              </a:spcBef>
              <a:buNone/>
              <a:defRPr b="0"/>
            </a:lvl3pPr>
            <a:lvl4pPr indent="0" lvl="3" marL="0" algn="l">
              <a:spcBef>
                <a:spcPts val="0"/>
              </a:spcBef>
              <a:buNone/>
              <a:defRPr b="0"/>
            </a:lvl4pPr>
            <a:lvl5pPr indent="0" lvl="4" marL="0" algn="l">
              <a:spcBef>
                <a:spcPts val="0"/>
              </a:spcBef>
              <a:buNone/>
              <a:defRPr b="0"/>
            </a:lvl5pPr>
            <a:lvl6pPr indent="0" lvl="5" marL="0" algn="l">
              <a:spcBef>
                <a:spcPts val="0"/>
              </a:spcBef>
              <a:buNone/>
              <a:defRPr b="0"/>
            </a:lvl6pPr>
            <a:lvl7pPr indent="0" lvl="6" marL="0" algn="l">
              <a:spcBef>
                <a:spcPts val="0"/>
              </a:spcBef>
              <a:buNone/>
              <a:defRPr b="0"/>
            </a:lvl7pPr>
            <a:lvl8pPr indent="0" lvl="7" marL="0" algn="l">
              <a:spcBef>
                <a:spcPts val="0"/>
              </a:spcBef>
              <a:buNone/>
              <a:defRPr b="0"/>
            </a:lvl8pPr>
            <a:lvl9pPr indent="0" lvl="8" marL="0" algn="l">
              <a:spcBef>
                <a:spcPts val="0"/>
              </a:spcBef>
              <a:buNone/>
              <a:defRPr b="0"/>
            </a:lvl9pPr>
          </a:lstStyle>
          <a:p>
            <a:pPr indent="0" lvl="0" marL="0" rtl="0" algn="l">
              <a:spcBef>
                <a:spcPts val="0"/>
              </a:spcBef>
              <a:spcAft>
                <a:spcPts val="0"/>
              </a:spcAft>
              <a:buNone/>
            </a:pPr>
            <a:fld id="{00000000-1234-1234-1234-123412341234}" type="slidenum">
              <a:rPr lang="en-US"/>
              <a:t>‹#›</a:t>
            </a:fld>
            <a:endParaRPr/>
          </a:p>
        </p:txBody>
      </p:sp>
      <p:cxnSp>
        <p:nvCxnSpPr>
          <p:cNvPr id="36" name="Google Shape;36;p5"/>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1449217" y="804889"/>
            <a:ext cx="9605635" cy="105930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1447331" y="2010878"/>
            <a:ext cx="4645152" cy="344859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0" name="Google Shape;40;p6"/>
          <p:cNvSpPr txBox="1"/>
          <p:nvPr>
            <p:ph idx="2" type="body"/>
          </p:nvPr>
        </p:nvSpPr>
        <p:spPr>
          <a:xfrm>
            <a:off x="6413771" y="2017343"/>
            <a:ext cx="4645152" cy="344152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1" name="Google Shape;41;p6"/>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a:lvl1pPr>
            <a:lvl2pPr indent="0" lvl="1" marL="0" algn="l">
              <a:spcBef>
                <a:spcPts val="0"/>
              </a:spcBef>
              <a:buNone/>
              <a:defRPr b="0"/>
            </a:lvl2pPr>
            <a:lvl3pPr indent="0" lvl="2" marL="0" algn="l">
              <a:spcBef>
                <a:spcPts val="0"/>
              </a:spcBef>
              <a:buNone/>
              <a:defRPr b="0"/>
            </a:lvl3pPr>
            <a:lvl4pPr indent="0" lvl="3" marL="0" algn="l">
              <a:spcBef>
                <a:spcPts val="0"/>
              </a:spcBef>
              <a:buNone/>
              <a:defRPr b="0"/>
            </a:lvl4pPr>
            <a:lvl5pPr indent="0" lvl="4" marL="0" algn="l">
              <a:spcBef>
                <a:spcPts val="0"/>
              </a:spcBef>
              <a:buNone/>
              <a:defRPr b="0"/>
            </a:lvl5pPr>
            <a:lvl6pPr indent="0" lvl="5" marL="0" algn="l">
              <a:spcBef>
                <a:spcPts val="0"/>
              </a:spcBef>
              <a:buNone/>
              <a:defRPr b="0"/>
            </a:lvl6pPr>
            <a:lvl7pPr indent="0" lvl="6" marL="0" algn="l">
              <a:spcBef>
                <a:spcPts val="0"/>
              </a:spcBef>
              <a:buNone/>
              <a:defRPr b="0"/>
            </a:lvl7pPr>
            <a:lvl8pPr indent="0" lvl="7" marL="0" algn="l">
              <a:spcBef>
                <a:spcPts val="0"/>
              </a:spcBef>
              <a:buNone/>
              <a:defRPr b="0"/>
            </a:lvl8pPr>
            <a:lvl9pPr indent="0" lvl="8" marL="0" algn="l">
              <a:spcBef>
                <a:spcPts val="0"/>
              </a:spcBef>
              <a:buNone/>
              <a:defRPr b="0"/>
            </a:lvl9pPr>
          </a:lstStyle>
          <a:p>
            <a:pPr indent="0" lvl="0" marL="0" rtl="0" algn="l">
              <a:spcBef>
                <a:spcPts val="0"/>
              </a:spcBef>
              <a:spcAft>
                <a:spcPts val="0"/>
              </a:spcAft>
              <a:buNone/>
            </a:pPr>
            <a:fld id="{00000000-1234-1234-1234-123412341234}" type="slidenum">
              <a:rPr lang="en-US"/>
              <a:t>‹#›</a:t>
            </a:fld>
            <a:endParaRPr/>
          </a:p>
        </p:txBody>
      </p:sp>
      <p:cxnSp>
        <p:nvCxnSpPr>
          <p:cNvPr id="44" name="Google Shape;44;p6"/>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7"/>
          <p:cNvSpPr txBox="1"/>
          <p:nvPr>
            <p:ph type="title"/>
          </p:nvPr>
        </p:nvSpPr>
        <p:spPr>
          <a:xfrm>
            <a:off x="1447191" y="804163"/>
            <a:ext cx="9607661" cy="1056319"/>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 type="body"/>
          </p:nvPr>
        </p:nvSpPr>
        <p:spPr>
          <a:xfrm>
            <a:off x="1447191" y="2019549"/>
            <a:ext cx="4645152" cy="801943"/>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2200"/>
              <a:buNone/>
              <a:defRPr b="0" sz="2200"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48" name="Google Shape;48;p7"/>
          <p:cNvSpPr txBox="1"/>
          <p:nvPr>
            <p:ph idx="2" type="body"/>
          </p:nvPr>
        </p:nvSpPr>
        <p:spPr>
          <a:xfrm>
            <a:off x="1447191" y="2824269"/>
            <a:ext cx="4645152" cy="264445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9" name="Google Shape;49;p7"/>
          <p:cNvSpPr txBox="1"/>
          <p:nvPr>
            <p:ph idx="3" type="body"/>
          </p:nvPr>
        </p:nvSpPr>
        <p:spPr>
          <a:xfrm>
            <a:off x="6412362" y="2023003"/>
            <a:ext cx="4645152" cy="80223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2200"/>
              <a:buNone/>
              <a:defRPr b="0" sz="2200"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50" name="Google Shape;50;p7"/>
          <p:cNvSpPr txBox="1"/>
          <p:nvPr>
            <p:ph idx="4" type="body"/>
          </p:nvPr>
        </p:nvSpPr>
        <p:spPr>
          <a:xfrm>
            <a:off x="6412362" y="2821491"/>
            <a:ext cx="4645152" cy="2637371"/>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51" name="Google Shape;51;p7"/>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a:lvl1pPr>
            <a:lvl2pPr indent="0" lvl="1" marL="0" algn="l">
              <a:spcBef>
                <a:spcPts val="0"/>
              </a:spcBef>
              <a:buNone/>
              <a:defRPr b="0"/>
            </a:lvl2pPr>
            <a:lvl3pPr indent="0" lvl="2" marL="0" algn="l">
              <a:spcBef>
                <a:spcPts val="0"/>
              </a:spcBef>
              <a:buNone/>
              <a:defRPr b="0"/>
            </a:lvl3pPr>
            <a:lvl4pPr indent="0" lvl="3" marL="0" algn="l">
              <a:spcBef>
                <a:spcPts val="0"/>
              </a:spcBef>
              <a:buNone/>
              <a:defRPr b="0"/>
            </a:lvl4pPr>
            <a:lvl5pPr indent="0" lvl="4" marL="0" algn="l">
              <a:spcBef>
                <a:spcPts val="0"/>
              </a:spcBef>
              <a:buNone/>
              <a:defRPr b="0"/>
            </a:lvl5pPr>
            <a:lvl6pPr indent="0" lvl="5" marL="0" algn="l">
              <a:spcBef>
                <a:spcPts val="0"/>
              </a:spcBef>
              <a:buNone/>
              <a:defRPr b="0"/>
            </a:lvl6pPr>
            <a:lvl7pPr indent="0" lvl="6" marL="0" algn="l">
              <a:spcBef>
                <a:spcPts val="0"/>
              </a:spcBef>
              <a:buNone/>
              <a:defRPr b="0"/>
            </a:lvl7pPr>
            <a:lvl8pPr indent="0" lvl="7" marL="0" algn="l">
              <a:spcBef>
                <a:spcPts val="0"/>
              </a:spcBef>
              <a:buNone/>
              <a:defRPr b="0"/>
            </a:lvl8pPr>
            <a:lvl9pPr indent="0" lvl="8" marL="0" algn="l">
              <a:spcBef>
                <a:spcPts val="0"/>
              </a:spcBef>
              <a:buNone/>
              <a:defRPr b="0"/>
            </a:lvl9pPr>
          </a:lstStyle>
          <a:p>
            <a:pPr indent="0" lvl="0" marL="0" rtl="0" algn="l">
              <a:spcBef>
                <a:spcPts val="0"/>
              </a:spcBef>
              <a:spcAft>
                <a:spcPts val="0"/>
              </a:spcAft>
              <a:buNone/>
            </a:pPr>
            <a:fld id="{00000000-1234-1234-1234-123412341234}" type="slidenum">
              <a:rPr lang="en-US"/>
              <a:t>‹#›</a:t>
            </a:fld>
            <a:endParaRPr/>
          </a:p>
        </p:txBody>
      </p:sp>
      <p:cxnSp>
        <p:nvCxnSpPr>
          <p:cNvPr id="54" name="Google Shape;54;p7"/>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8"/>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8"/>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a:lvl1pPr>
            <a:lvl2pPr indent="0" lvl="1" marL="0" algn="l">
              <a:spcBef>
                <a:spcPts val="0"/>
              </a:spcBef>
              <a:buNone/>
              <a:defRPr b="0"/>
            </a:lvl2pPr>
            <a:lvl3pPr indent="0" lvl="2" marL="0" algn="l">
              <a:spcBef>
                <a:spcPts val="0"/>
              </a:spcBef>
              <a:buNone/>
              <a:defRPr b="0"/>
            </a:lvl3pPr>
            <a:lvl4pPr indent="0" lvl="3" marL="0" algn="l">
              <a:spcBef>
                <a:spcPts val="0"/>
              </a:spcBef>
              <a:buNone/>
              <a:defRPr b="0"/>
            </a:lvl4pPr>
            <a:lvl5pPr indent="0" lvl="4" marL="0" algn="l">
              <a:spcBef>
                <a:spcPts val="0"/>
              </a:spcBef>
              <a:buNone/>
              <a:defRPr b="0"/>
            </a:lvl5pPr>
            <a:lvl6pPr indent="0" lvl="5" marL="0" algn="l">
              <a:spcBef>
                <a:spcPts val="0"/>
              </a:spcBef>
              <a:buNone/>
              <a:defRPr b="0"/>
            </a:lvl6pPr>
            <a:lvl7pPr indent="0" lvl="6" marL="0" algn="l">
              <a:spcBef>
                <a:spcPts val="0"/>
              </a:spcBef>
              <a:buNone/>
              <a:defRPr b="0"/>
            </a:lvl7pPr>
            <a:lvl8pPr indent="0" lvl="7" marL="0" algn="l">
              <a:spcBef>
                <a:spcPts val="0"/>
              </a:spcBef>
              <a:buNone/>
              <a:defRPr b="0"/>
            </a:lvl8pPr>
            <a:lvl9pPr indent="0" lvl="8" marL="0" algn="l">
              <a:spcBef>
                <a:spcPts val="0"/>
              </a:spcBef>
              <a:buNone/>
              <a:defRPr b="0"/>
            </a:lvl9pPr>
          </a:lstStyle>
          <a:p>
            <a:pPr indent="0" lvl="0" marL="0" rtl="0" algn="l">
              <a:spcBef>
                <a:spcPts val="0"/>
              </a:spcBef>
              <a:spcAft>
                <a:spcPts val="0"/>
              </a:spcAft>
              <a:buNone/>
            </a:pPr>
            <a:fld id="{00000000-1234-1234-1234-123412341234}" type="slidenum">
              <a:rPr lang="en-US"/>
              <a:t>‹#›</a:t>
            </a:fld>
            <a:endParaRPr/>
          </a:p>
        </p:txBody>
      </p:sp>
      <p:cxnSp>
        <p:nvCxnSpPr>
          <p:cNvPr id="60" name="Google Shape;60;p8"/>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9"/>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a:lvl1pPr>
            <a:lvl2pPr indent="0" lvl="1" marL="0" algn="l">
              <a:spcBef>
                <a:spcPts val="0"/>
              </a:spcBef>
              <a:buNone/>
              <a:defRPr b="0"/>
            </a:lvl2pPr>
            <a:lvl3pPr indent="0" lvl="2" marL="0" algn="l">
              <a:spcBef>
                <a:spcPts val="0"/>
              </a:spcBef>
              <a:buNone/>
              <a:defRPr b="0"/>
            </a:lvl3pPr>
            <a:lvl4pPr indent="0" lvl="3" marL="0" algn="l">
              <a:spcBef>
                <a:spcPts val="0"/>
              </a:spcBef>
              <a:buNone/>
              <a:defRPr b="0"/>
            </a:lvl4pPr>
            <a:lvl5pPr indent="0" lvl="4" marL="0" algn="l">
              <a:spcBef>
                <a:spcPts val="0"/>
              </a:spcBef>
              <a:buNone/>
              <a:defRPr b="0"/>
            </a:lvl5pPr>
            <a:lvl6pPr indent="0" lvl="5" marL="0" algn="l">
              <a:spcBef>
                <a:spcPts val="0"/>
              </a:spcBef>
              <a:buNone/>
              <a:defRPr b="0"/>
            </a:lvl6pPr>
            <a:lvl7pPr indent="0" lvl="6" marL="0" algn="l">
              <a:spcBef>
                <a:spcPts val="0"/>
              </a:spcBef>
              <a:buNone/>
              <a:defRPr b="0"/>
            </a:lvl7pPr>
            <a:lvl8pPr indent="0" lvl="7" marL="0" algn="l">
              <a:spcBef>
                <a:spcPts val="0"/>
              </a:spcBef>
              <a:buNone/>
              <a:defRPr b="0"/>
            </a:lvl8pPr>
            <a:lvl9pPr indent="0" lvl="8" marL="0" algn="l">
              <a:spcBef>
                <a:spcPts val="0"/>
              </a:spcBef>
              <a:buNone/>
              <a:defRPr b="0"/>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444671" y="798973"/>
            <a:ext cx="3273099" cy="22471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Gill Sans"/>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txBox="1"/>
          <p:nvPr>
            <p:ph idx="1" type="body"/>
          </p:nvPr>
        </p:nvSpPr>
        <p:spPr>
          <a:xfrm>
            <a:off x="5043714" y="798974"/>
            <a:ext cx="6012470" cy="4658826"/>
          </a:xfrm>
          <a:prstGeom prst="rect">
            <a:avLst/>
          </a:prstGeom>
          <a:noFill/>
          <a:ln>
            <a:noFill/>
          </a:ln>
        </p:spPr>
        <p:txBody>
          <a:bodyPr anchorCtr="0" anchor="ctr"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68" name="Google Shape;68;p10"/>
          <p:cNvSpPr txBox="1"/>
          <p:nvPr>
            <p:ph idx="2" type="body"/>
          </p:nvPr>
        </p:nvSpPr>
        <p:spPr>
          <a:xfrm>
            <a:off x="1444671" y="3205491"/>
            <a:ext cx="3275013" cy="2248181"/>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69" name="Google Shape;69;p10"/>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a:lvl1pPr>
            <a:lvl2pPr indent="0" lvl="1" marL="0" algn="l">
              <a:spcBef>
                <a:spcPts val="0"/>
              </a:spcBef>
              <a:buNone/>
              <a:defRPr b="0"/>
            </a:lvl2pPr>
            <a:lvl3pPr indent="0" lvl="2" marL="0" algn="l">
              <a:spcBef>
                <a:spcPts val="0"/>
              </a:spcBef>
              <a:buNone/>
              <a:defRPr b="0"/>
            </a:lvl3pPr>
            <a:lvl4pPr indent="0" lvl="3" marL="0" algn="l">
              <a:spcBef>
                <a:spcPts val="0"/>
              </a:spcBef>
              <a:buNone/>
              <a:defRPr b="0"/>
            </a:lvl4pPr>
            <a:lvl5pPr indent="0" lvl="4" marL="0" algn="l">
              <a:spcBef>
                <a:spcPts val="0"/>
              </a:spcBef>
              <a:buNone/>
              <a:defRPr b="0"/>
            </a:lvl5pPr>
            <a:lvl6pPr indent="0" lvl="5" marL="0" algn="l">
              <a:spcBef>
                <a:spcPts val="0"/>
              </a:spcBef>
              <a:buNone/>
              <a:defRPr b="0"/>
            </a:lvl6pPr>
            <a:lvl7pPr indent="0" lvl="6" marL="0" algn="l">
              <a:spcBef>
                <a:spcPts val="0"/>
              </a:spcBef>
              <a:buNone/>
              <a:defRPr b="0"/>
            </a:lvl7pPr>
            <a:lvl8pPr indent="0" lvl="7" marL="0" algn="l">
              <a:spcBef>
                <a:spcPts val="0"/>
              </a:spcBef>
              <a:buNone/>
              <a:defRPr b="0"/>
            </a:lvl8pPr>
            <a:lvl9pPr indent="0" lvl="8" marL="0" algn="l">
              <a:spcBef>
                <a:spcPts val="0"/>
              </a:spcBef>
              <a:buNone/>
              <a:defRPr b="0"/>
            </a:lvl9pPr>
          </a:lstStyle>
          <a:p>
            <a:pPr indent="0" lvl="0" marL="0" rtl="0" algn="l">
              <a:spcBef>
                <a:spcPts val="0"/>
              </a:spcBef>
              <a:spcAft>
                <a:spcPts val="0"/>
              </a:spcAft>
              <a:buNone/>
            </a:pPr>
            <a:fld id="{00000000-1234-1234-1234-123412341234}" type="slidenum">
              <a:rPr lang="en-US"/>
              <a:t>‹#›</a:t>
            </a:fld>
            <a:endParaRPr/>
          </a:p>
        </p:txBody>
      </p:sp>
      <p:cxnSp>
        <p:nvCxnSpPr>
          <p:cNvPr id="72" name="Google Shape;72;p10"/>
          <p:cNvCxnSpPr/>
          <p:nvPr/>
        </p:nvCxnSpPr>
        <p:spPr>
          <a:xfrm>
            <a:off x="1448280" y="3205491"/>
            <a:ext cx="3269490"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grpSp>
        <p:nvGrpSpPr>
          <p:cNvPr id="74" name="Google Shape;74;p11"/>
          <p:cNvGrpSpPr/>
          <p:nvPr/>
        </p:nvGrpSpPr>
        <p:grpSpPr>
          <a:xfrm>
            <a:off x="7477387" y="482170"/>
            <a:ext cx="4074533" cy="5149101"/>
            <a:chOff x="7477387" y="482170"/>
            <a:chExt cx="4074533" cy="5149101"/>
          </a:xfrm>
        </p:grpSpPr>
        <p:sp>
          <p:nvSpPr>
            <p:cNvPr id="75" name="Google Shape;75;p11"/>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sx="98000" rotWithShape="0" algn="tl" dir="4740000" dist="228600" sy="98000">
                <a:srgbClr val="000000">
                  <a:alpha val="3411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a:off x="7790446" y="812506"/>
              <a:ext cx="3450289" cy="4466452"/>
            </a:xfrm>
            <a:prstGeom prst="rect">
              <a:avLst/>
            </a:prstGeom>
            <a:gradFill>
              <a:gsLst>
                <a:gs pos="0">
                  <a:srgbClr val="DADADA"/>
                </a:gs>
                <a:gs pos="100000">
                  <a:srgbClr val="FFFFFE"/>
                </a:gs>
              </a:gsLst>
              <a:lin ang="16200000" scaled="0"/>
            </a:gradFill>
            <a:ln cap="flat" cmpd="sng" w="50800">
              <a:solidFill>
                <a:srgbClr val="191919"/>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type="title"/>
          </p:nvPr>
        </p:nvSpPr>
        <p:spPr>
          <a:xfrm>
            <a:off x="1451206" y="1129513"/>
            <a:ext cx="5532328" cy="18305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Gill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1"/>
          <p:cNvSpPr/>
          <p:nvPr>
            <p:ph idx="2" type="pic"/>
          </p:nvPr>
        </p:nvSpPr>
        <p:spPr>
          <a:xfrm>
            <a:off x="8124389" y="1122542"/>
            <a:ext cx="2791171" cy="3866327"/>
          </a:xfrm>
          <a:prstGeom prst="rect">
            <a:avLst/>
          </a:prstGeom>
          <a:solidFill>
            <a:srgbClr val="D8D8D8"/>
          </a:solidFill>
          <a:ln>
            <a:noFill/>
          </a:ln>
        </p:spPr>
      </p:sp>
      <p:sp>
        <p:nvSpPr>
          <p:cNvPr id="79" name="Google Shape;79;p11"/>
          <p:cNvSpPr txBox="1"/>
          <p:nvPr>
            <p:ph idx="1" type="body"/>
          </p:nvPr>
        </p:nvSpPr>
        <p:spPr>
          <a:xfrm>
            <a:off x="1450329" y="3145992"/>
            <a:ext cx="5524404" cy="200374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800"/>
              <a:buNone/>
              <a:defRPr sz="18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80" name="Google Shape;80;p11"/>
          <p:cNvSpPr txBox="1"/>
          <p:nvPr>
            <p:ph idx="10" type="dt"/>
          </p:nvPr>
        </p:nvSpPr>
        <p:spPr>
          <a:xfrm>
            <a:off x="1447382" y="5469856"/>
            <a:ext cx="5527351" cy="32012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1"/>
          <p:cNvSpPr txBox="1"/>
          <p:nvPr>
            <p:ph idx="11" type="ftr"/>
          </p:nvPr>
        </p:nvSpPr>
        <p:spPr>
          <a:xfrm>
            <a:off x="1447382" y="318640"/>
            <a:ext cx="5541004" cy="32093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1"/>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a:lvl1pPr>
            <a:lvl2pPr indent="0" lvl="1" marL="0" algn="l">
              <a:spcBef>
                <a:spcPts val="0"/>
              </a:spcBef>
              <a:buNone/>
              <a:defRPr b="0"/>
            </a:lvl2pPr>
            <a:lvl3pPr indent="0" lvl="2" marL="0" algn="l">
              <a:spcBef>
                <a:spcPts val="0"/>
              </a:spcBef>
              <a:buNone/>
              <a:defRPr b="0"/>
            </a:lvl3pPr>
            <a:lvl4pPr indent="0" lvl="3" marL="0" algn="l">
              <a:spcBef>
                <a:spcPts val="0"/>
              </a:spcBef>
              <a:buNone/>
              <a:defRPr b="0"/>
            </a:lvl4pPr>
            <a:lvl5pPr indent="0" lvl="4" marL="0" algn="l">
              <a:spcBef>
                <a:spcPts val="0"/>
              </a:spcBef>
              <a:buNone/>
              <a:defRPr b="0"/>
            </a:lvl5pPr>
            <a:lvl6pPr indent="0" lvl="5" marL="0" algn="l">
              <a:spcBef>
                <a:spcPts val="0"/>
              </a:spcBef>
              <a:buNone/>
              <a:defRPr b="0"/>
            </a:lvl6pPr>
            <a:lvl7pPr indent="0" lvl="6" marL="0" algn="l">
              <a:spcBef>
                <a:spcPts val="0"/>
              </a:spcBef>
              <a:buNone/>
              <a:defRPr b="0"/>
            </a:lvl7pPr>
            <a:lvl8pPr indent="0" lvl="7" marL="0" algn="l">
              <a:spcBef>
                <a:spcPts val="0"/>
              </a:spcBef>
              <a:buNone/>
              <a:defRPr b="0"/>
            </a:lvl8pPr>
            <a:lvl9pPr indent="0" lvl="8" marL="0" algn="l">
              <a:spcBef>
                <a:spcPts val="0"/>
              </a:spcBef>
              <a:buNone/>
              <a:defRPr b="0"/>
            </a:lvl9pPr>
          </a:lstStyle>
          <a:p>
            <a:pPr indent="0" lvl="0" marL="0" rtl="0" algn="l">
              <a:spcBef>
                <a:spcPts val="0"/>
              </a:spcBef>
              <a:spcAft>
                <a:spcPts val="0"/>
              </a:spcAft>
              <a:buNone/>
            </a:pPr>
            <a:fld id="{00000000-1234-1234-1234-123412341234}" type="slidenum">
              <a:rPr lang="en-US"/>
              <a:t>‹#›</a:t>
            </a:fld>
            <a:endParaRPr/>
          </a:p>
        </p:txBody>
      </p:sp>
      <p:cxnSp>
        <p:nvCxnSpPr>
          <p:cNvPr id="83" name="Google Shape;83;p11"/>
          <p:cNvCxnSpPr/>
          <p:nvPr/>
        </p:nvCxnSpPr>
        <p:spPr>
          <a:xfrm>
            <a:off x="1447382" y="3143605"/>
            <a:ext cx="5527351"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4" name="Shape 84"/>
        <p:cNvGrpSpPr/>
        <p:nvPr/>
      </p:nvGrpSpPr>
      <p:grpSpPr>
        <a:xfrm>
          <a:off x="0" y="0"/>
          <a:ext cx="0" cy="0"/>
          <a:chOff x="0" y="0"/>
          <a:chExt cx="0" cy="0"/>
        </a:xfrm>
      </p:grpSpPr>
      <p:sp>
        <p:nvSpPr>
          <p:cNvPr id="85" name="Google Shape;85;p12"/>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12"/>
          <p:cNvSpPr txBox="1"/>
          <p:nvPr>
            <p:ph idx="1" type="body"/>
          </p:nvPr>
        </p:nvSpPr>
        <p:spPr>
          <a:xfrm rot="5400000">
            <a:off x="4527910" y="-1060599"/>
            <a:ext cx="3450613" cy="960327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87" name="Google Shape;87;p12"/>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2"/>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2"/>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a:lvl1pPr>
            <a:lvl2pPr indent="0" lvl="1" marL="0" algn="l">
              <a:spcBef>
                <a:spcPts val="0"/>
              </a:spcBef>
              <a:buNone/>
              <a:defRPr b="0"/>
            </a:lvl2pPr>
            <a:lvl3pPr indent="0" lvl="2" marL="0" algn="l">
              <a:spcBef>
                <a:spcPts val="0"/>
              </a:spcBef>
              <a:buNone/>
              <a:defRPr b="0"/>
            </a:lvl3pPr>
            <a:lvl4pPr indent="0" lvl="3" marL="0" algn="l">
              <a:spcBef>
                <a:spcPts val="0"/>
              </a:spcBef>
              <a:buNone/>
              <a:defRPr b="0"/>
            </a:lvl4pPr>
            <a:lvl5pPr indent="0" lvl="4" marL="0" algn="l">
              <a:spcBef>
                <a:spcPts val="0"/>
              </a:spcBef>
              <a:buNone/>
              <a:defRPr b="0"/>
            </a:lvl5pPr>
            <a:lvl6pPr indent="0" lvl="5" marL="0" algn="l">
              <a:spcBef>
                <a:spcPts val="0"/>
              </a:spcBef>
              <a:buNone/>
              <a:defRPr b="0"/>
            </a:lvl6pPr>
            <a:lvl7pPr indent="0" lvl="6" marL="0" algn="l">
              <a:spcBef>
                <a:spcPts val="0"/>
              </a:spcBef>
              <a:buNone/>
              <a:defRPr b="0"/>
            </a:lvl7pPr>
            <a:lvl8pPr indent="0" lvl="7" marL="0" algn="l">
              <a:spcBef>
                <a:spcPts val="0"/>
              </a:spcBef>
              <a:buNone/>
              <a:defRPr b="0"/>
            </a:lvl8pPr>
            <a:lvl9pPr indent="0" lvl="8" marL="0" algn="l">
              <a:spcBef>
                <a:spcPts val="0"/>
              </a:spcBef>
              <a:buNone/>
              <a:defRPr b="0"/>
            </a:lvl9pPr>
          </a:lstStyle>
          <a:p>
            <a:pPr indent="0" lvl="0" marL="0" rtl="0" algn="l">
              <a:spcBef>
                <a:spcPts val="0"/>
              </a:spcBef>
              <a:spcAft>
                <a:spcPts val="0"/>
              </a:spcAft>
              <a:buNone/>
            </a:pPr>
            <a:fld id="{00000000-1234-1234-1234-123412341234}" type="slidenum">
              <a:rPr lang="en-US"/>
              <a:t>‹#›</a:t>
            </a:fld>
            <a:endParaRPr/>
          </a:p>
        </p:txBody>
      </p:sp>
      <p:cxnSp>
        <p:nvCxnSpPr>
          <p:cNvPr id="90" name="Google Shape;90;p12"/>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1" name="Shape 91"/>
        <p:cNvGrpSpPr/>
        <p:nvPr/>
      </p:nvGrpSpPr>
      <p:grpSpPr>
        <a:xfrm>
          <a:off x="0" y="0"/>
          <a:ext cx="0" cy="0"/>
          <a:chOff x="0" y="0"/>
          <a:chExt cx="0" cy="0"/>
        </a:xfrm>
      </p:grpSpPr>
      <p:sp>
        <p:nvSpPr>
          <p:cNvPr id="92" name="Google Shape;92;p13"/>
          <p:cNvSpPr txBox="1"/>
          <p:nvPr>
            <p:ph type="title"/>
          </p:nvPr>
        </p:nvSpPr>
        <p:spPr>
          <a:xfrm rot="5400000">
            <a:off x="7917038" y="2321047"/>
            <a:ext cx="4659889" cy="1615742"/>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20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13"/>
          <p:cNvSpPr txBox="1"/>
          <p:nvPr>
            <p:ph idx="1" type="body"/>
          </p:nvPr>
        </p:nvSpPr>
        <p:spPr>
          <a:xfrm rot="5400000">
            <a:off x="3029143" y="-785498"/>
            <a:ext cx="4659889" cy="782883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94" name="Google Shape;94;p13"/>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3"/>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3"/>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a:lvl1pPr>
            <a:lvl2pPr indent="0" lvl="1" marL="0" algn="l">
              <a:spcBef>
                <a:spcPts val="0"/>
              </a:spcBef>
              <a:buNone/>
              <a:defRPr b="0"/>
            </a:lvl2pPr>
            <a:lvl3pPr indent="0" lvl="2" marL="0" algn="l">
              <a:spcBef>
                <a:spcPts val="0"/>
              </a:spcBef>
              <a:buNone/>
              <a:defRPr b="0"/>
            </a:lvl3pPr>
            <a:lvl4pPr indent="0" lvl="3" marL="0" algn="l">
              <a:spcBef>
                <a:spcPts val="0"/>
              </a:spcBef>
              <a:buNone/>
              <a:defRPr b="0"/>
            </a:lvl4pPr>
            <a:lvl5pPr indent="0" lvl="4" marL="0" algn="l">
              <a:spcBef>
                <a:spcPts val="0"/>
              </a:spcBef>
              <a:buNone/>
              <a:defRPr b="0"/>
            </a:lvl5pPr>
            <a:lvl6pPr indent="0" lvl="5" marL="0" algn="l">
              <a:spcBef>
                <a:spcPts val="0"/>
              </a:spcBef>
              <a:buNone/>
              <a:defRPr b="0"/>
            </a:lvl6pPr>
            <a:lvl7pPr indent="0" lvl="6" marL="0" algn="l">
              <a:spcBef>
                <a:spcPts val="0"/>
              </a:spcBef>
              <a:buNone/>
              <a:defRPr b="0"/>
            </a:lvl7pPr>
            <a:lvl8pPr indent="0" lvl="7" marL="0" algn="l">
              <a:spcBef>
                <a:spcPts val="0"/>
              </a:spcBef>
              <a:buNone/>
              <a:defRPr b="0"/>
            </a:lvl8pPr>
            <a:lvl9pPr indent="0" lvl="8" marL="0" algn="l">
              <a:spcBef>
                <a:spcPts val="0"/>
              </a:spcBef>
              <a:buNone/>
              <a:defRPr b="0"/>
            </a:lvl9pPr>
          </a:lstStyle>
          <a:p>
            <a:pPr indent="0" lvl="0" marL="0" rtl="0" algn="l">
              <a:spcBef>
                <a:spcPts val="0"/>
              </a:spcBef>
              <a:spcAft>
                <a:spcPts val="0"/>
              </a:spcAft>
              <a:buNone/>
            </a:pPr>
            <a:fld id="{00000000-1234-1234-1234-123412341234}" type="slidenum">
              <a:rPr lang="en-US"/>
              <a:t>‹#›</a:t>
            </a:fld>
            <a:endParaRPr/>
          </a:p>
        </p:txBody>
      </p:sp>
      <p:cxnSp>
        <p:nvCxnSpPr>
          <p:cNvPr id="97" name="Google Shape;97;p13"/>
          <p:cNvCxnSpPr/>
          <p:nvPr/>
        </p:nvCxnSpPr>
        <p:spPr>
          <a:xfrm>
            <a:off x="9439111" y="798973"/>
            <a:ext cx="0" cy="4659889"/>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BE9E6"/>
            </a:gs>
            <a:gs pos="100000">
              <a:srgbClr val="C9C5C0"/>
            </a:gs>
          </a:gsLst>
          <a:path path="circle">
            <a:fillToRect b="50%" l="50%" r="50%" t="50%"/>
          </a:path>
          <a:tileRect/>
        </a:gradFill>
      </p:bgPr>
    </p:bg>
    <p:spTree>
      <p:nvGrpSpPr>
        <p:cNvPr id="5" name="Shape 5"/>
        <p:cNvGrpSpPr/>
        <p:nvPr/>
      </p:nvGrpSpPr>
      <p:grpSpPr>
        <a:xfrm>
          <a:off x="0" y="0"/>
          <a:ext cx="0" cy="0"/>
          <a:chOff x="0" y="0"/>
          <a:chExt cx="0" cy="0"/>
        </a:xfrm>
      </p:grpSpPr>
      <p:sp>
        <p:nvSpPr>
          <p:cNvPr id="6" name="Google Shape;6;p1"/>
          <p:cNvSpPr/>
          <p:nvPr/>
        </p:nvSpPr>
        <p:spPr>
          <a:xfrm>
            <a:off x="0" y="2019476"/>
            <a:ext cx="12192000" cy="4105941"/>
          </a:xfrm>
          <a:prstGeom prst="rect">
            <a:avLst/>
          </a:prstGeom>
          <a:gradFill>
            <a:gsLst>
              <a:gs pos="0">
                <a:srgbClr val="DFDBD5">
                  <a:alpha val="0"/>
                </a:srgbClr>
              </a:gs>
              <a:gs pos="100000">
                <a:schemeClr val="lt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 name="Google Shape;7;p1"/>
          <p:cNvPicPr preferRelativeResize="0"/>
          <p:nvPr/>
        </p:nvPicPr>
        <p:blipFill rotWithShape="1">
          <a:blip r:embed="rId1">
            <a:alphaModFix/>
          </a:blip>
          <a:srcRect b="-1538" l="0" r="0" t="1538"/>
          <a:stretch/>
        </p:blipFill>
        <p:spPr>
          <a:xfrm>
            <a:off x="0" y="6126480"/>
            <a:ext cx="12192000" cy="742950"/>
          </a:xfrm>
          <a:prstGeom prst="rect">
            <a:avLst/>
          </a:prstGeom>
          <a:noFill/>
          <a:ln>
            <a:noFill/>
          </a:ln>
        </p:spPr>
      </p:pic>
      <p:sp>
        <p:nvSpPr>
          <p:cNvPr id="8" name="Google Shape;8;p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1"/>
              </a:buClr>
              <a:buSzPts val="3200"/>
              <a:buFont typeface="Gill Sans"/>
              <a:buNone/>
              <a:defRPr b="0" i="0" sz="3200" u="none" cap="none" strike="noStrike">
                <a:solidFill>
                  <a:schemeClr val="dk1"/>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20000"/>
              </a:lnSpc>
              <a:spcBef>
                <a:spcPts val="1000"/>
              </a:spcBef>
              <a:spcAft>
                <a:spcPts val="0"/>
              </a:spcAft>
              <a:buClr>
                <a:schemeClr val="accent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20000"/>
              </a:lnSpc>
              <a:spcBef>
                <a:spcPts val="500"/>
              </a:spcBef>
              <a:spcAft>
                <a:spcPts val="0"/>
              </a:spcAft>
              <a:buClr>
                <a:schemeClr val="accent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20000"/>
              </a:lnSpc>
              <a:spcBef>
                <a:spcPts val="500"/>
              </a:spcBef>
              <a:spcAft>
                <a:spcPts val="0"/>
              </a:spcAft>
              <a:buClr>
                <a:schemeClr val="accent1"/>
              </a:buClr>
              <a:buSzPts val="1600"/>
              <a:buFont typeface="Arial"/>
              <a:buChar char="•"/>
              <a:defRPr b="0" i="0" sz="1600" u="none" cap="none" strike="noStrike">
                <a:solidFill>
                  <a:schemeClr val="dk1"/>
                </a:solidFill>
                <a:latin typeface="Gill Sans"/>
                <a:ea typeface="Gill Sans"/>
                <a:cs typeface="Gill Sans"/>
                <a:sym typeface="Gill Sans"/>
              </a:defRPr>
            </a:lvl3pPr>
            <a:lvl4pPr indent="-317500" lvl="3" marL="1828800" marR="0" rtl="0" algn="l">
              <a:lnSpc>
                <a:spcPct val="120000"/>
              </a:lnSpc>
              <a:spcBef>
                <a:spcPts val="500"/>
              </a:spcBef>
              <a:spcAft>
                <a:spcPts val="0"/>
              </a:spcAft>
              <a:buClr>
                <a:schemeClr val="accent1"/>
              </a:buClr>
              <a:buSzPts val="1400"/>
              <a:buFont typeface="Arial"/>
              <a:buChar char="•"/>
              <a:defRPr b="0" i="0" sz="1400" u="none" cap="none" strike="noStrike">
                <a:solidFill>
                  <a:schemeClr val="dk1"/>
                </a:solidFill>
                <a:latin typeface="Gill Sans"/>
                <a:ea typeface="Gill Sans"/>
                <a:cs typeface="Gill Sans"/>
                <a:sym typeface="Gill Sans"/>
              </a:defRPr>
            </a:lvl4pPr>
            <a:lvl5pPr indent="-304800" lvl="4" marL="22860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5pPr>
            <a:lvl6pPr indent="-304800" lvl="5" marL="27432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6pPr>
            <a:lvl7pPr indent="-304800" lvl="6" marL="32004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7pPr>
            <a:lvl8pPr indent="-304800" lvl="7" marL="36576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8pPr>
            <a:lvl9pPr indent="-304800" lvl="8" marL="41148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9pPr>
          </a:lstStyle>
          <a:p/>
        </p:txBody>
      </p:sp>
      <p:sp>
        <p:nvSpPr>
          <p:cNvPr id="10" name="Google Shape;10;p1"/>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888888"/>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1" name="Google Shape;11;p1"/>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888888"/>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2" name="Google Shape;12;p1"/>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2800" u="none" cap="none" strike="noStrike">
                <a:solidFill>
                  <a:schemeClr val="accent1"/>
                </a:solidFill>
                <a:latin typeface="Gill Sans"/>
                <a:ea typeface="Gill Sans"/>
                <a:cs typeface="Gill Sans"/>
                <a:sym typeface="Gill Sans"/>
              </a:defRPr>
            </a:lvl1pPr>
            <a:lvl2pPr indent="0" lvl="1" marL="0" marR="0" rtl="0" algn="l">
              <a:spcBef>
                <a:spcPts val="0"/>
              </a:spcBef>
              <a:buNone/>
              <a:defRPr b="0" i="0" sz="2800" u="none" cap="none" strike="noStrike">
                <a:solidFill>
                  <a:schemeClr val="accent1"/>
                </a:solidFill>
                <a:latin typeface="Gill Sans"/>
                <a:ea typeface="Gill Sans"/>
                <a:cs typeface="Gill Sans"/>
                <a:sym typeface="Gill Sans"/>
              </a:defRPr>
            </a:lvl2pPr>
            <a:lvl3pPr indent="0" lvl="2" marL="0" marR="0" rtl="0" algn="l">
              <a:spcBef>
                <a:spcPts val="0"/>
              </a:spcBef>
              <a:buNone/>
              <a:defRPr b="0" i="0" sz="2800" u="none" cap="none" strike="noStrike">
                <a:solidFill>
                  <a:schemeClr val="accent1"/>
                </a:solidFill>
                <a:latin typeface="Gill Sans"/>
                <a:ea typeface="Gill Sans"/>
                <a:cs typeface="Gill Sans"/>
                <a:sym typeface="Gill Sans"/>
              </a:defRPr>
            </a:lvl3pPr>
            <a:lvl4pPr indent="0" lvl="3" marL="0" marR="0" rtl="0" algn="l">
              <a:spcBef>
                <a:spcPts val="0"/>
              </a:spcBef>
              <a:buNone/>
              <a:defRPr b="0" i="0" sz="2800" u="none" cap="none" strike="noStrike">
                <a:solidFill>
                  <a:schemeClr val="accent1"/>
                </a:solidFill>
                <a:latin typeface="Gill Sans"/>
                <a:ea typeface="Gill Sans"/>
                <a:cs typeface="Gill Sans"/>
                <a:sym typeface="Gill Sans"/>
              </a:defRPr>
            </a:lvl4pPr>
            <a:lvl5pPr indent="0" lvl="4" marL="0" marR="0" rtl="0" algn="l">
              <a:spcBef>
                <a:spcPts val="0"/>
              </a:spcBef>
              <a:buNone/>
              <a:defRPr b="0" i="0" sz="2800" u="none" cap="none" strike="noStrike">
                <a:solidFill>
                  <a:schemeClr val="accent1"/>
                </a:solidFill>
                <a:latin typeface="Gill Sans"/>
                <a:ea typeface="Gill Sans"/>
                <a:cs typeface="Gill Sans"/>
                <a:sym typeface="Gill Sans"/>
              </a:defRPr>
            </a:lvl5pPr>
            <a:lvl6pPr indent="0" lvl="5" marL="0" marR="0" rtl="0" algn="l">
              <a:spcBef>
                <a:spcPts val="0"/>
              </a:spcBef>
              <a:buNone/>
              <a:defRPr b="0" i="0" sz="2800" u="none" cap="none" strike="noStrike">
                <a:solidFill>
                  <a:schemeClr val="accent1"/>
                </a:solidFill>
                <a:latin typeface="Gill Sans"/>
                <a:ea typeface="Gill Sans"/>
                <a:cs typeface="Gill Sans"/>
                <a:sym typeface="Gill Sans"/>
              </a:defRPr>
            </a:lvl6pPr>
            <a:lvl7pPr indent="0" lvl="6" marL="0" marR="0" rtl="0" algn="l">
              <a:spcBef>
                <a:spcPts val="0"/>
              </a:spcBef>
              <a:buNone/>
              <a:defRPr b="0" i="0" sz="2800" u="none" cap="none" strike="noStrike">
                <a:solidFill>
                  <a:schemeClr val="accent1"/>
                </a:solidFill>
                <a:latin typeface="Gill Sans"/>
                <a:ea typeface="Gill Sans"/>
                <a:cs typeface="Gill Sans"/>
                <a:sym typeface="Gill Sans"/>
              </a:defRPr>
            </a:lvl7pPr>
            <a:lvl8pPr indent="0" lvl="7" marL="0" marR="0" rtl="0" algn="l">
              <a:spcBef>
                <a:spcPts val="0"/>
              </a:spcBef>
              <a:buNone/>
              <a:defRPr b="0" i="0" sz="2800" u="none" cap="none" strike="noStrike">
                <a:solidFill>
                  <a:schemeClr val="accent1"/>
                </a:solidFill>
                <a:latin typeface="Gill Sans"/>
                <a:ea typeface="Gill Sans"/>
                <a:cs typeface="Gill Sans"/>
                <a:sym typeface="Gill Sans"/>
              </a:defRPr>
            </a:lvl8pPr>
            <a:lvl9pPr indent="0" lvl="8" marL="0" marR="0" rtl="0" algn="l">
              <a:spcBef>
                <a:spcPts val="0"/>
              </a:spcBef>
              <a:buNone/>
              <a:defRPr b="0" i="0" sz="2800" u="none" cap="none" strike="noStrike">
                <a:solidFill>
                  <a:schemeClr val="accent1"/>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13" name="Google Shape;13;p1"/>
          <p:cNvCxnSpPr/>
          <p:nvPr/>
        </p:nvCxnSpPr>
        <p:spPr>
          <a:xfrm>
            <a:off x="0" y="6128413"/>
            <a:ext cx="12192000" cy="0"/>
          </a:xfrm>
          <a:prstGeom prst="straightConnector1">
            <a:avLst/>
          </a:prstGeom>
          <a:noFill/>
          <a:ln cap="flat" cmpd="sng" w="12700">
            <a:solidFill>
              <a:srgbClr val="000001">
                <a:alpha val="20000"/>
              </a:srgbClr>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4"/>
          <p:cNvSpPr txBox="1"/>
          <p:nvPr>
            <p:ph type="title"/>
          </p:nvPr>
        </p:nvSpPr>
        <p:spPr>
          <a:xfrm>
            <a:off x="1454239" y="2102123"/>
            <a:ext cx="8643154" cy="188795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a:latin typeface="Times New Roman"/>
                <a:ea typeface="Times New Roman"/>
                <a:cs typeface="Times New Roman"/>
                <a:sym typeface="Times New Roman"/>
              </a:rPr>
              <a:t>LIFE INSURANCE AI ADVICE BENCHMARK</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p:txBody>
      </p:sp>
      <p:sp>
        <p:nvSpPr>
          <p:cNvPr id="103" name="Google Shape;103;p14"/>
          <p:cNvSpPr txBox="1"/>
          <p:nvPr>
            <p:ph idx="1" type="body"/>
          </p:nvPr>
        </p:nvSpPr>
        <p:spPr>
          <a:xfrm>
            <a:off x="1454239" y="3806195"/>
            <a:ext cx="8630446" cy="1012929"/>
          </a:xfrm>
          <a:prstGeom prst="rect">
            <a:avLst/>
          </a:prstGeom>
          <a:noFill/>
          <a:ln>
            <a:noFill/>
          </a:ln>
        </p:spPr>
        <p:txBody>
          <a:bodyPr anchorCtr="0" anchor="t" bIns="45700" lIns="91425" spcFirstLastPara="1" rIns="91425" wrap="square" tIns="91425">
            <a:normAutofit/>
          </a:bodyPr>
          <a:lstStyle/>
          <a:p>
            <a:pPr indent="0" lvl="0" marL="0" rtl="0" algn="l">
              <a:lnSpc>
                <a:spcPct val="120000"/>
              </a:lnSpc>
              <a:spcBef>
                <a:spcPts val="0"/>
              </a:spcBef>
              <a:spcAft>
                <a:spcPts val="0"/>
              </a:spcAft>
              <a:buSzPts val="1800"/>
              <a:buNone/>
            </a:pPr>
            <a:r>
              <a:rPr lang="en-US"/>
              <a:t>Omar Badran, Chenhui Yang, Wei You</a:t>
            </a:r>
            <a:endParaRPr/>
          </a:p>
          <a:p>
            <a:pPr indent="0" lvl="0" marL="0" rtl="0" algn="l">
              <a:lnSpc>
                <a:spcPct val="120000"/>
              </a:lnSpc>
              <a:spcBef>
                <a:spcPts val="1000"/>
              </a:spcBef>
              <a:spcAft>
                <a:spcPts val="0"/>
              </a:spcAft>
              <a:buSzPts val="1200"/>
              <a:buNone/>
            </a:pPr>
            <a:r>
              <a:rPr lang="en-US" sz="1200"/>
              <a:t>Omar.Badran@my.utsa.edu, Chenhui.Yang@my.utsa.edu, Wei.You@my.utsa.edu</a:t>
            </a:r>
            <a:endParaRPr/>
          </a:p>
        </p:txBody>
      </p:sp>
      <p:pic>
        <p:nvPicPr>
          <p:cNvPr id="104" name="Google Shape;104;p14"/>
          <p:cNvPicPr preferRelativeResize="0"/>
          <p:nvPr/>
        </p:nvPicPr>
        <p:blipFill rotWithShape="1">
          <a:blip r:embed="rId3">
            <a:alphaModFix/>
          </a:blip>
          <a:srcRect b="0" l="0" r="0" t="0"/>
          <a:stretch/>
        </p:blipFill>
        <p:spPr>
          <a:xfrm>
            <a:off x="4391320" y="615068"/>
            <a:ext cx="2765938" cy="17287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5"/>
          <p:cNvSpPr/>
          <p:nvPr/>
        </p:nvSpPr>
        <p:spPr>
          <a:xfrm>
            <a:off x="502920" y="292608"/>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006A"/>
              </a:buClr>
              <a:buSzPts val="2800"/>
              <a:buFont typeface="Play"/>
              <a:buNone/>
            </a:pPr>
            <a:r>
              <a:rPr b="1" i="0" lang="en-US" sz="2800" u="none" cap="none" strike="noStrike">
                <a:solidFill>
                  <a:srgbClr val="07006A"/>
                </a:solidFill>
                <a:latin typeface="Times New Roman"/>
                <a:ea typeface="Times New Roman"/>
                <a:cs typeface="Times New Roman"/>
                <a:sym typeface="Times New Roman"/>
              </a:rPr>
              <a:t>Why benchmark life insurance advice?</a:t>
            </a:r>
            <a:endParaRPr i="0" sz="2800" u="none" cap="none" strike="noStrike">
              <a:solidFill>
                <a:schemeClr val="dk1"/>
              </a:solidFill>
              <a:latin typeface="Times New Roman"/>
              <a:ea typeface="Times New Roman"/>
              <a:cs typeface="Times New Roman"/>
              <a:sym typeface="Times New Roman"/>
            </a:endParaRPr>
          </a:p>
        </p:txBody>
      </p:sp>
      <p:sp>
        <p:nvSpPr>
          <p:cNvPr id="111" name="Google Shape;111;p15"/>
          <p:cNvSpPr/>
          <p:nvPr/>
        </p:nvSpPr>
        <p:spPr>
          <a:xfrm>
            <a:off x="512064" y="832104"/>
            <a:ext cx="1051560" cy="64008"/>
          </a:xfrm>
          <a:prstGeom prst="rect">
            <a:avLst/>
          </a:prstGeom>
          <a:solidFill>
            <a:srgbClr val="F15A24"/>
          </a:solidFill>
          <a:ln cap="flat" cmpd="sng" w="12700">
            <a:solidFill>
              <a:srgbClr val="F15A2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12" name="Google Shape;112;p15"/>
          <p:cNvSpPr/>
          <p:nvPr/>
        </p:nvSpPr>
        <p:spPr>
          <a:xfrm>
            <a:off x="365875" y="1248975"/>
            <a:ext cx="5166300" cy="38265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chemeClr val="dk1"/>
              </a:buClr>
              <a:buSzPts val="1400"/>
              <a:buFont typeface="Gill Sans"/>
              <a:buAutoNum type="arabicPeriod"/>
            </a:pPr>
            <a:r>
              <a:rPr lang="en-US" sz="1400">
                <a:solidFill>
                  <a:schemeClr val="dk1"/>
                </a:solidFill>
                <a:latin typeface="Times New Roman"/>
                <a:ea typeface="Times New Roman"/>
                <a:cs typeface="Times New Roman"/>
                <a:sym typeface="Times New Roman"/>
              </a:rPr>
              <a:t>Studies have shown that LLM-based chatbots are increasingly used to provide financial advice. [1]</a:t>
            </a:r>
            <a:br>
              <a:rPr lang="en-US" sz="1800">
                <a:solidFill>
                  <a:schemeClr val="dk1"/>
                </a:solidFill>
                <a:latin typeface="Times New Roman"/>
                <a:ea typeface="Times New Roman"/>
                <a:cs typeface="Times New Roman"/>
                <a:sym typeface="Times New Roman"/>
              </a:rPr>
            </a:br>
            <a:endParaRPr sz="14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1400"/>
              <a:buFont typeface="Gill Sans"/>
              <a:buAutoNum type="arabicPeriod"/>
            </a:pPr>
            <a:r>
              <a:rPr lang="en-US" sz="1400">
                <a:solidFill>
                  <a:schemeClr val="dk1"/>
                </a:solidFill>
                <a:latin typeface="Times New Roman"/>
                <a:ea typeface="Times New Roman"/>
                <a:cs typeface="Times New Roman"/>
                <a:sym typeface="Times New Roman"/>
              </a:rPr>
              <a:t>Previous studies found that LLMs can give useful information but the responses might still be inconsistent or unreliable. [1][2]</a:t>
            </a:r>
            <a:br>
              <a:rPr lang="en-US" sz="1800">
                <a:solidFill>
                  <a:schemeClr val="dk1"/>
                </a:solidFill>
                <a:latin typeface="Times New Roman"/>
                <a:ea typeface="Times New Roman"/>
                <a:cs typeface="Times New Roman"/>
                <a:sym typeface="Times New Roman"/>
              </a:rPr>
            </a:br>
            <a:endParaRPr sz="14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1400"/>
              <a:buFont typeface="Gill Sans"/>
              <a:buAutoNum type="arabicPeriod"/>
            </a:pPr>
            <a:r>
              <a:rPr lang="en-US" sz="1400">
                <a:solidFill>
                  <a:schemeClr val="dk1"/>
                </a:solidFill>
                <a:latin typeface="Times New Roman"/>
                <a:ea typeface="Times New Roman"/>
                <a:cs typeface="Times New Roman"/>
                <a:sym typeface="Times New Roman"/>
              </a:rPr>
              <a:t>Recent study has shown that strong LLMs  can also be used to evaluate AI-generated responses. [3]</a:t>
            </a:r>
            <a:endParaRPr/>
          </a:p>
          <a:p>
            <a:pPr indent="-254000" lvl="0" marL="342900" marR="0" rtl="0" algn="l">
              <a:spcBef>
                <a:spcPts val="0"/>
              </a:spcBef>
              <a:spcAft>
                <a:spcPts val="0"/>
              </a:spcAft>
              <a:buClr>
                <a:schemeClr val="dk1"/>
              </a:buClr>
              <a:buSzPts val="1400"/>
              <a:buFont typeface="Gill Sans"/>
              <a:buNone/>
            </a:pPr>
            <a:r>
              <a:t/>
            </a:r>
            <a:endParaRPr sz="14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1400"/>
              <a:buFont typeface="Gill Sans"/>
              <a:buAutoNum type="arabicPeriod"/>
            </a:pPr>
            <a:r>
              <a:rPr lang="en-US" sz="1400">
                <a:solidFill>
                  <a:schemeClr val="dk1"/>
                </a:solidFill>
                <a:latin typeface="Times New Roman"/>
                <a:ea typeface="Times New Roman"/>
                <a:cs typeface="Times New Roman"/>
                <a:sym typeface="Times New Roman"/>
              </a:rPr>
              <a:t>Although LLM-as-a-judge can reduce costs, human evaluation is still important to validate the generated judgements. [4]</a:t>
            </a:r>
            <a:br>
              <a:rPr lang="en-US" sz="1800">
                <a:solidFill>
                  <a:schemeClr val="dk1"/>
                </a:solidFill>
                <a:latin typeface="Times New Roman"/>
                <a:ea typeface="Times New Roman"/>
                <a:cs typeface="Times New Roman"/>
                <a:sym typeface="Times New Roman"/>
              </a:rPr>
            </a:br>
            <a:endParaRPr sz="14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1400"/>
              <a:buFont typeface="Gill Sans"/>
              <a:buAutoNum type="arabicPeriod"/>
            </a:pPr>
            <a:r>
              <a:rPr lang="en-US" sz="1400">
                <a:solidFill>
                  <a:schemeClr val="dk1"/>
                </a:solidFill>
                <a:latin typeface="Times New Roman"/>
                <a:ea typeface="Times New Roman"/>
                <a:cs typeface="Times New Roman"/>
                <a:sym typeface="Times New Roman"/>
              </a:rPr>
              <a:t>Therefore, this study focuses on evaluating the life insurance advice from both AI and human.</a:t>
            </a:r>
            <a:endParaRPr/>
          </a:p>
          <a:p>
            <a:pPr indent="0" lvl="0" marL="0" marR="0" rtl="0" algn="l">
              <a:spcBef>
                <a:spcPts val="0"/>
              </a:spcBef>
              <a:spcAft>
                <a:spcPts val="0"/>
              </a:spcAft>
              <a:buClr>
                <a:schemeClr val="dk1"/>
              </a:buClr>
              <a:buSzPts val="2200"/>
              <a:buFont typeface="Gill Sans"/>
              <a:buNone/>
            </a:pPr>
            <a:r>
              <a:t/>
            </a:r>
            <a:endParaRPr sz="2200">
              <a:solidFill>
                <a:schemeClr val="dk1"/>
              </a:solidFill>
              <a:latin typeface="Gill Sans"/>
              <a:ea typeface="Gill Sans"/>
              <a:cs typeface="Gill Sans"/>
              <a:sym typeface="Gill Sans"/>
            </a:endParaRPr>
          </a:p>
        </p:txBody>
      </p:sp>
      <p:sp>
        <p:nvSpPr>
          <p:cNvPr id="113" name="Google Shape;113;p15"/>
          <p:cNvSpPr/>
          <p:nvPr/>
        </p:nvSpPr>
        <p:spPr>
          <a:xfrm>
            <a:off x="6446520" y="1856232"/>
            <a:ext cx="201168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7006A"/>
              </a:buClr>
              <a:buSzPts val="3400"/>
              <a:buFont typeface="Gill Sans"/>
              <a:buNone/>
            </a:pPr>
            <a:r>
              <a:rPr b="1" lang="en-US" sz="3400">
                <a:solidFill>
                  <a:srgbClr val="07006A"/>
                </a:solidFill>
                <a:latin typeface="Gill Sans"/>
                <a:ea typeface="Gill Sans"/>
                <a:cs typeface="Gill Sans"/>
                <a:sym typeface="Gill Sans"/>
              </a:rPr>
              <a:t>2</a:t>
            </a:r>
            <a:endParaRPr sz="3400">
              <a:solidFill>
                <a:schemeClr val="dk1"/>
              </a:solidFill>
              <a:latin typeface="Gill Sans"/>
              <a:ea typeface="Gill Sans"/>
              <a:cs typeface="Gill Sans"/>
              <a:sym typeface="Gill Sans"/>
            </a:endParaRPr>
          </a:p>
        </p:txBody>
      </p:sp>
      <p:sp>
        <p:nvSpPr>
          <p:cNvPr id="114" name="Google Shape;114;p15"/>
          <p:cNvSpPr/>
          <p:nvPr/>
        </p:nvSpPr>
        <p:spPr>
          <a:xfrm>
            <a:off x="6446520" y="2423160"/>
            <a:ext cx="2011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50"/>
              <a:buFont typeface="Times New Roman"/>
              <a:buNone/>
            </a:pPr>
            <a:r>
              <a:rPr lang="en-US" sz="1250">
                <a:solidFill>
                  <a:schemeClr val="dk1"/>
                </a:solidFill>
                <a:latin typeface="Times New Roman"/>
                <a:ea typeface="Times New Roman"/>
                <a:cs typeface="Times New Roman"/>
                <a:sym typeface="Times New Roman"/>
              </a:rPr>
              <a:t>Question Dataset</a:t>
            </a:r>
            <a:endParaRPr/>
          </a:p>
        </p:txBody>
      </p:sp>
      <p:sp>
        <p:nvSpPr>
          <p:cNvPr id="115" name="Google Shape;115;p15"/>
          <p:cNvSpPr/>
          <p:nvPr/>
        </p:nvSpPr>
        <p:spPr>
          <a:xfrm>
            <a:off x="8961120" y="1856232"/>
            <a:ext cx="201168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5A24"/>
              </a:buClr>
              <a:buSzPts val="3400"/>
              <a:buFont typeface="Gill Sans"/>
              <a:buNone/>
            </a:pPr>
            <a:r>
              <a:rPr b="1" lang="en-US" sz="3400">
                <a:solidFill>
                  <a:srgbClr val="F15A24"/>
                </a:solidFill>
                <a:latin typeface="Gill Sans"/>
                <a:ea typeface="Gill Sans"/>
                <a:cs typeface="Gill Sans"/>
                <a:sym typeface="Gill Sans"/>
              </a:rPr>
              <a:t>4</a:t>
            </a:r>
            <a:endParaRPr sz="3400">
              <a:solidFill>
                <a:schemeClr val="dk1"/>
              </a:solidFill>
              <a:latin typeface="Gill Sans"/>
              <a:ea typeface="Gill Sans"/>
              <a:cs typeface="Gill Sans"/>
              <a:sym typeface="Gill Sans"/>
            </a:endParaRPr>
          </a:p>
        </p:txBody>
      </p:sp>
      <p:sp>
        <p:nvSpPr>
          <p:cNvPr id="116" name="Google Shape;116;p15"/>
          <p:cNvSpPr/>
          <p:nvPr/>
        </p:nvSpPr>
        <p:spPr>
          <a:xfrm>
            <a:off x="8961120" y="2423160"/>
            <a:ext cx="2011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50"/>
              <a:buFont typeface="Times New Roman"/>
              <a:buNone/>
            </a:pPr>
            <a:r>
              <a:rPr lang="en-US" sz="1250">
                <a:solidFill>
                  <a:schemeClr val="dk1"/>
                </a:solidFill>
                <a:latin typeface="Times New Roman"/>
                <a:ea typeface="Times New Roman"/>
                <a:cs typeface="Times New Roman"/>
                <a:sym typeface="Times New Roman"/>
              </a:rPr>
              <a:t>Advice-generation Models</a:t>
            </a:r>
            <a:endParaRPr/>
          </a:p>
        </p:txBody>
      </p:sp>
      <p:sp>
        <p:nvSpPr>
          <p:cNvPr id="117" name="Google Shape;117;p15"/>
          <p:cNvSpPr/>
          <p:nvPr/>
        </p:nvSpPr>
        <p:spPr>
          <a:xfrm>
            <a:off x="6446520" y="4315968"/>
            <a:ext cx="201168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3A8C"/>
              </a:buClr>
              <a:buSzPts val="3400"/>
              <a:buFont typeface="Gill Sans"/>
              <a:buNone/>
            </a:pPr>
            <a:r>
              <a:rPr b="1" lang="en-US" sz="3400">
                <a:solidFill>
                  <a:srgbClr val="2D3A8C"/>
                </a:solidFill>
                <a:latin typeface="Gill Sans"/>
                <a:ea typeface="Gill Sans"/>
                <a:cs typeface="Gill Sans"/>
                <a:sym typeface="Gill Sans"/>
              </a:rPr>
              <a:t>5</a:t>
            </a:r>
            <a:endParaRPr sz="3400">
              <a:solidFill>
                <a:schemeClr val="dk1"/>
              </a:solidFill>
              <a:latin typeface="Gill Sans"/>
              <a:ea typeface="Gill Sans"/>
              <a:cs typeface="Gill Sans"/>
              <a:sym typeface="Gill Sans"/>
            </a:endParaRPr>
          </a:p>
        </p:txBody>
      </p:sp>
      <p:sp>
        <p:nvSpPr>
          <p:cNvPr id="118" name="Google Shape;118;p15"/>
          <p:cNvSpPr/>
          <p:nvPr/>
        </p:nvSpPr>
        <p:spPr>
          <a:xfrm>
            <a:off x="6446520" y="4882896"/>
            <a:ext cx="2011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50"/>
              <a:buFont typeface="Times New Roman"/>
              <a:buNone/>
            </a:pPr>
            <a:r>
              <a:rPr lang="en-US" sz="1250">
                <a:solidFill>
                  <a:schemeClr val="dk1"/>
                </a:solidFill>
                <a:latin typeface="Times New Roman"/>
                <a:ea typeface="Times New Roman"/>
                <a:cs typeface="Times New Roman"/>
                <a:sym typeface="Times New Roman"/>
              </a:rPr>
              <a:t>Evaluation Criteria</a:t>
            </a:r>
            <a:endParaRPr/>
          </a:p>
        </p:txBody>
      </p:sp>
      <p:sp>
        <p:nvSpPr>
          <p:cNvPr id="119" name="Google Shape;119;p15"/>
          <p:cNvSpPr/>
          <p:nvPr/>
        </p:nvSpPr>
        <p:spPr>
          <a:xfrm>
            <a:off x="8961120" y="4315968"/>
            <a:ext cx="201168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46C1"/>
              </a:buClr>
              <a:buSzPts val="3400"/>
              <a:buFont typeface="Gill Sans"/>
              <a:buNone/>
            </a:pPr>
            <a:r>
              <a:rPr b="1" lang="en-US" sz="3400">
                <a:solidFill>
                  <a:srgbClr val="6B46C1"/>
                </a:solidFill>
                <a:latin typeface="Gill Sans"/>
                <a:ea typeface="Gill Sans"/>
                <a:cs typeface="Gill Sans"/>
                <a:sym typeface="Gill Sans"/>
              </a:rPr>
              <a:t>1</a:t>
            </a:r>
            <a:endParaRPr sz="3400">
              <a:solidFill>
                <a:schemeClr val="dk1"/>
              </a:solidFill>
              <a:latin typeface="Gill Sans"/>
              <a:ea typeface="Gill Sans"/>
              <a:cs typeface="Gill Sans"/>
              <a:sym typeface="Gill Sans"/>
            </a:endParaRPr>
          </a:p>
        </p:txBody>
      </p:sp>
      <p:sp>
        <p:nvSpPr>
          <p:cNvPr id="120" name="Google Shape;120;p15"/>
          <p:cNvSpPr/>
          <p:nvPr/>
        </p:nvSpPr>
        <p:spPr>
          <a:xfrm>
            <a:off x="8961120" y="4882896"/>
            <a:ext cx="2011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50"/>
              <a:buFont typeface="Times New Roman"/>
              <a:buNone/>
            </a:pPr>
            <a:r>
              <a:rPr lang="en-US" sz="1250">
                <a:solidFill>
                  <a:schemeClr val="dk1"/>
                </a:solidFill>
                <a:latin typeface="Times New Roman"/>
                <a:ea typeface="Times New Roman"/>
                <a:cs typeface="Times New Roman"/>
                <a:sym typeface="Times New Roman"/>
              </a:rPr>
              <a:t>LLM-as-a-judge</a:t>
            </a:r>
            <a:endParaRPr/>
          </a:p>
        </p:txBody>
      </p:sp>
      <p:sp>
        <p:nvSpPr>
          <p:cNvPr id="121" name="Google Shape;121;p15"/>
          <p:cNvSpPr/>
          <p:nvPr/>
        </p:nvSpPr>
        <p:spPr>
          <a:xfrm>
            <a:off x="7406640" y="3200400"/>
            <a:ext cx="24688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2200"/>
              <a:buFont typeface="Gill Sans"/>
              <a:buNone/>
            </a:pPr>
            <a:r>
              <a:rPr b="1" lang="en-US" sz="2200">
                <a:solidFill>
                  <a:srgbClr val="1F2937"/>
                </a:solidFill>
                <a:latin typeface="Gill Sans"/>
                <a:ea typeface="Gill Sans"/>
                <a:cs typeface="Gill Sans"/>
                <a:sym typeface="Gill Sans"/>
              </a:rPr>
              <a:t>Research need</a:t>
            </a:r>
            <a:endParaRPr sz="2200">
              <a:solidFill>
                <a:schemeClr val="dk1"/>
              </a:solidFill>
              <a:latin typeface="Gill Sans"/>
              <a:ea typeface="Gill Sans"/>
              <a:cs typeface="Gill Sans"/>
              <a:sym typeface="Gill Sans"/>
            </a:endParaRPr>
          </a:p>
        </p:txBody>
      </p:sp>
      <p:sp>
        <p:nvSpPr>
          <p:cNvPr id="122" name="Google Shape;122;p15"/>
          <p:cNvSpPr/>
          <p:nvPr/>
        </p:nvSpPr>
        <p:spPr>
          <a:xfrm>
            <a:off x="6949440" y="3611880"/>
            <a:ext cx="3383280" cy="41148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400"/>
              <a:buFont typeface="Gill Sans"/>
              <a:buNone/>
            </a:pPr>
            <a:r>
              <a:rPr lang="en-US" sz="1400">
                <a:solidFill>
                  <a:schemeClr val="dk1"/>
                </a:solidFill>
                <a:latin typeface="Gill Sans"/>
                <a:ea typeface="Gill Sans"/>
                <a:cs typeface="Gill Sans"/>
                <a:sym typeface="Gill Sans"/>
              </a:rPr>
              <a:t>Can AI advice be scored reliably enough for financial guidance?</a:t>
            </a:r>
            <a:endParaRPr/>
          </a:p>
        </p:txBody>
      </p:sp>
      <p:sp>
        <p:nvSpPr>
          <p:cNvPr id="123" name="Google Shape;123;p15"/>
          <p:cNvSpPr/>
          <p:nvPr/>
        </p:nvSpPr>
        <p:spPr>
          <a:xfrm>
            <a:off x="502920" y="6592824"/>
            <a:ext cx="50292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8291"/>
              </a:buClr>
              <a:buSzPts val="750"/>
              <a:buFont typeface="Gill Sans"/>
              <a:buNone/>
            </a:pPr>
            <a:r>
              <a:rPr lang="en-US" sz="750">
                <a:solidFill>
                  <a:srgbClr val="7A8291"/>
                </a:solidFill>
                <a:latin typeface="Gill Sans"/>
                <a:ea typeface="Gill Sans"/>
                <a:cs typeface="Gill Sans"/>
                <a:sym typeface="Gill Sans"/>
              </a:rPr>
              <a:t>Life Insurance AI Advice Benchmark</a:t>
            </a:r>
            <a:endParaRPr sz="750">
              <a:solidFill>
                <a:schemeClr val="dk1"/>
              </a:solidFill>
              <a:latin typeface="Gill Sans"/>
              <a:ea typeface="Gill Sans"/>
              <a:cs typeface="Gill Sans"/>
              <a:sym typeface="Gill Sans"/>
            </a:endParaRPr>
          </a:p>
        </p:txBody>
      </p:sp>
      <p:sp>
        <p:nvSpPr>
          <p:cNvPr id="124" name="Google Shape;124;p15"/>
          <p:cNvSpPr txBox="1"/>
          <p:nvPr>
            <p:ph idx="4294967295" type="sldNum"/>
          </p:nvPr>
        </p:nvSpPr>
        <p:spPr>
          <a:xfrm>
            <a:off x="11612880" y="6601968"/>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6B7280"/>
                </a:solidFill>
                <a:latin typeface="Arial"/>
                <a:ea typeface="Arial"/>
                <a:cs typeface="Arial"/>
                <a:sym typeface="Arial"/>
              </a:rPr>
              <a:t>‹#›</a:t>
            </a:fld>
            <a:endParaRPr b="0" i="0" sz="800" u="none" cap="none" strike="noStrike">
              <a:solidFill>
                <a:srgbClr val="6B728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6"/>
          <p:cNvSpPr/>
          <p:nvPr/>
        </p:nvSpPr>
        <p:spPr>
          <a:xfrm>
            <a:off x="502920" y="292608"/>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006A"/>
              </a:buClr>
              <a:buSzPts val="2800"/>
              <a:buFont typeface="Times New Roman"/>
              <a:buNone/>
            </a:pPr>
            <a:r>
              <a:rPr b="1" lang="en-US" sz="2800">
                <a:solidFill>
                  <a:srgbClr val="07006A"/>
                </a:solidFill>
                <a:latin typeface="Times New Roman"/>
                <a:ea typeface="Times New Roman"/>
                <a:cs typeface="Times New Roman"/>
                <a:sym typeface="Times New Roman"/>
              </a:rPr>
              <a:t>Study design</a:t>
            </a:r>
            <a:endParaRPr sz="2800">
              <a:solidFill>
                <a:schemeClr val="dk1"/>
              </a:solidFill>
              <a:latin typeface="Times New Roman"/>
              <a:ea typeface="Times New Roman"/>
              <a:cs typeface="Times New Roman"/>
              <a:sym typeface="Times New Roman"/>
            </a:endParaRPr>
          </a:p>
        </p:txBody>
      </p:sp>
      <p:sp>
        <p:nvSpPr>
          <p:cNvPr id="131" name="Google Shape;131;p16"/>
          <p:cNvSpPr/>
          <p:nvPr/>
        </p:nvSpPr>
        <p:spPr>
          <a:xfrm>
            <a:off x="512064" y="832104"/>
            <a:ext cx="1051560" cy="64008"/>
          </a:xfrm>
          <a:prstGeom prst="rect">
            <a:avLst/>
          </a:prstGeom>
          <a:solidFill>
            <a:srgbClr val="F15A24"/>
          </a:solidFill>
          <a:ln cap="flat" cmpd="sng" w="12700">
            <a:solidFill>
              <a:srgbClr val="F15A2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32" name="Google Shape;132;p16"/>
          <p:cNvSpPr/>
          <p:nvPr/>
        </p:nvSpPr>
        <p:spPr>
          <a:xfrm>
            <a:off x="502920" y="941832"/>
            <a:ext cx="987552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50"/>
              <a:buFont typeface="Gill Sans"/>
              <a:buNone/>
            </a:pPr>
            <a:r>
              <a:t/>
            </a:r>
            <a:endParaRPr sz="1350">
              <a:solidFill>
                <a:schemeClr val="dk1"/>
              </a:solidFill>
              <a:latin typeface="Gill Sans"/>
              <a:ea typeface="Gill Sans"/>
              <a:cs typeface="Gill Sans"/>
              <a:sym typeface="Gill Sans"/>
            </a:endParaRPr>
          </a:p>
        </p:txBody>
      </p:sp>
      <p:sp>
        <p:nvSpPr>
          <p:cNvPr id="133" name="Google Shape;133;p16"/>
          <p:cNvSpPr/>
          <p:nvPr/>
        </p:nvSpPr>
        <p:spPr>
          <a:xfrm>
            <a:off x="685800" y="1417320"/>
            <a:ext cx="23774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5A24"/>
              </a:buClr>
              <a:buSzPts val="1400"/>
              <a:buFont typeface="Times New Roman"/>
              <a:buNone/>
            </a:pPr>
            <a:r>
              <a:rPr b="1" lang="en-US" sz="1400">
                <a:solidFill>
                  <a:srgbClr val="F15A24"/>
                </a:solidFill>
                <a:latin typeface="Times New Roman"/>
                <a:ea typeface="Times New Roman"/>
                <a:cs typeface="Times New Roman"/>
                <a:sym typeface="Times New Roman"/>
              </a:rPr>
              <a:t>RESEARCH OBJECTIVE</a:t>
            </a:r>
            <a:endParaRPr b="1" sz="1400">
              <a:solidFill>
                <a:schemeClr val="dk1"/>
              </a:solidFill>
              <a:latin typeface="Times New Roman"/>
              <a:ea typeface="Times New Roman"/>
              <a:cs typeface="Times New Roman"/>
              <a:sym typeface="Times New Roman"/>
            </a:endParaRPr>
          </a:p>
        </p:txBody>
      </p:sp>
      <p:sp>
        <p:nvSpPr>
          <p:cNvPr id="134" name="Google Shape;134;p16"/>
          <p:cNvSpPr/>
          <p:nvPr/>
        </p:nvSpPr>
        <p:spPr>
          <a:xfrm>
            <a:off x="685800" y="1737360"/>
            <a:ext cx="51206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00"/>
              <a:buFont typeface="Times New Roman"/>
              <a:buNone/>
            </a:pPr>
            <a:r>
              <a:rPr b="1" lang="en-US" sz="1400">
                <a:solidFill>
                  <a:srgbClr val="1F2937"/>
                </a:solidFill>
                <a:latin typeface="Times New Roman"/>
                <a:ea typeface="Times New Roman"/>
                <a:cs typeface="Times New Roman"/>
                <a:sym typeface="Times New Roman"/>
              </a:rPr>
              <a:t>Evaluate the quality of life insurance advice generated by multiple LLMs using AI and Human judgement</a:t>
            </a:r>
            <a:endParaRPr sz="1400">
              <a:solidFill>
                <a:schemeClr val="dk1"/>
              </a:solidFill>
              <a:latin typeface="Times New Roman"/>
              <a:ea typeface="Times New Roman"/>
              <a:cs typeface="Times New Roman"/>
              <a:sym typeface="Times New Roman"/>
            </a:endParaRPr>
          </a:p>
        </p:txBody>
      </p:sp>
      <p:sp>
        <p:nvSpPr>
          <p:cNvPr id="135" name="Google Shape;135;p16"/>
          <p:cNvSpPr/>
          <p:nvPr/>
        </p:nvSpPr>
        <p:spPr>
          <a:xfrm>
            <a:off x="685800" y="2601052"/>
            <a:ext cx="23774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5A24"/>
              </a:buClr>
              <a:buSzPts val="1400"/>
              <a:buFont typeface="Times New Roman"/>
              <a:buNone/>
            </a:pPr>
            <a:r>
              <a:rPr b="1" lang="en-US" sz="1400">
                <a:solidFill>
                  <a:srgbClr val="F15A24"/>
                </a:solidFill>
                <a:latin typeface="Times New Roman"/>
                <a:ea typeface="Times New Roman"/>
                <a:cs typeface="Times New Roman"/>
                <a:sym typeface="Times New Roman"/>
              </a:rPr>
              <a:t>BENCHMARK INPUTS</a:t>
            </a:r>
            <a:endParaRPr sz="1400">
              <a:solidFill>
                <a:schemeClr val="dk1"/>
              </a:solidFill>
              <a:latin typeface="Times New Roman"/>
              <a:ea typeface="Times New Roman"/>
              <a:cs typeface="Times New Roman"/>
              <a:sym typeface="Times New Roman"/>
            </a:endParaRPr>
          </a:p>
        </p:txBody>
      </p:sp>
      <p:sp>
        <p:nvSpPr>
          <p:cNvPr id="136" name="Google Shape;136;p16"/>
          <p:cNvSpPr/>
          <p:nvPr/>
        </p:nvSpPr>
        <p:spPr>
          <a:xfrm>
            <a:off x="685800" y="2899895"/>
            <a:ext cx="5303520" cy="1874520"/>
          </a:xfrm>
          <a:prstGeom prst="rect">
            <a:avLst/>
          </a:prstGeom>
          <a:noFill/>
          <a:ln>
            <a:noFill/>
          </a:ln>
        </p:spPr>
        <p:txBody>
          <a:bodyPr anchorCtr="0" anchor="ctr" bIns="500" lIns="500" spcFirstLastPara="1" rIns="500" wrap="square" tIns="500">
            <a:noAutofit/>
          </a:bodyPr>
          <a:lstStyle/>
          <a:p>
            <a:pPr indent="-285750" lvl="0" marL="285750" marR="0" rtl="0" algn="l">
              <a:spcBef>
                <a:spcPts val="0"/>
              </a:spcBef>
              <a:spcAft>
                <a:spcPts val="0"/>
              </a:spcAft>
              <a:buClr>
                <a:srgbClr val="1F2937"/>
              </a:buClr>
              <a:buSzPts val="1400"/>
              <a:buFont typeface="Arial"/>
              <a:buChar char="•"/>
            </a:pPr>
            <a:r>
              <a:rPr lang="en-US" sz="1400">
                <a:solidFill>
                  <a:srgbClr val="1F2937"/>
                </a:solidFill>
                <a:latin typeface="Times New Roman"/>
                <a:ea typeface="Times New Roman"/>
                <a:cs typeface="Times New Roman"/>
                <a:sym typeface="Times New Roman"/>
              </a:rPr>
              <a:t>GeneralQuestions: common and high-risk life insurance topics.</a:t>
            </a:r>
            <a:endParaRPr/>
          </a:p>
          <a:p>
            <a:pPr indent="-196850" lvl="0" marL="285750" marR="0" rtl="0" algn="l">
              <a:spcBef>
                <a:spcPts val="0"/>
              </a:spcBef>
              <a:spcAft>
                <a:spcPts val="0"/>
              </a:spcAft>
              <a:buClr>
                <a:schemeClr val="dk1"/>
              </a:buClr>
              <a:buSzPts val="1400"/>
              <a:buFont typeface="Arial"/>
              <a:buNone/>
            </a:pPr>
            <a:r>
              <a:t/>
            </a:r>
            <a:endParaRPr sz="14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rgbClr val="1F2937"/>
              </a:buClr>
              <a:buSzPts val="1400"/>
              <a:buFont typeface="Arial"/>
              <a:buChar char="•"/>
            </a:pPr>
            <a:r>
              <a:rPr lang="en-US" sz="1400">
                <a:solidFill>
                  <a:srgbClr val="1F2937"/>
                </a:solidFill>
                <a:latin typeface="Times New Roman"/>
                <a:ea typeface="Times New Roman"/>
                <a:cs typeface="Times New Roman"/>
                <a:sym typeface="Times New Roman"/>
              </a:rPr>
              <a:t>SpecificQuestions: major insurer,, insurer comparisons and decision questions.</a:t>
            </a:r>
            <a:endParaRPr/>
          </a:p>
          <a:p>
            <a:pPr indent="-196850" lvl="0" marL="285750" marR="0" rtl="0" algn="l">
              <a:spcBef>
                <a:spcPts val="0"/>
              </a:spcBef>
              <a:spcAft>
                <a:spcPts val="0"/>
              </a:spcAft>
              <a:buClr>
                <a:schemeClr val="dk1"/>
              </a:buClr>
              <a:buSzPts val="1400"/>
              <a:buFont typeface="Arial"/>
              <a:buNone/>
            </a:pPr>
            <a:r>
              <a:t/>
            </a:r>
            <a:endParaRPr sz="14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rgbClr val="1F2937"/>
              </a:buClr>
              <a:buSzPts val="1400"/>
              <a:buFont typeface="Arial"/>
              <a:buChar char="•"/>
            </a:pPr>
            <a:r>
              <a:rPr lang="en-US" sz="1400">
                <a:solidFill>
                  <a:srgbClr val="1F2937"/>
                </a:solidFill>
                <a:latin typeface="Times New Roman"/>
                <a:ea typeface="Times New Roman"/>
                <a:cs typeface="Times New Roman"/>
                <a:sym typeface="Times New Roman"/>
              </a:rPr>
              <a:t>Human annotations: ten responses randomly selected per category in both datasets.</a:t>
            </a:r>
            <a:endParaRPr sz="1400">
              <a:solidFill>
                <a:schemeClr val="dk1"/>
              </a:solidFill>
              <a:latin typeface="Times New Roman"/>
              <a:ea typeface="Times New Roman"/>
              <a:cs typeface="Times New Roman"/>
              <a:sym typeface="Times New Roman"/>
            </a:endParaRPr>
          </a:p>
        </p:txBody>
      </p:sp>
      <p:sp>
        <p:nvSpPr>
          <p:cNvPr id="137" name="Google Shape;137;p16"/>
          <p:cNvSpPr/>
          <p:nvPr/>
        </p:nvSpPr>
        <p:spPr>
          <a:xfrm>
            <a:off x="6400800" y="1417320"/>
            <a:ext cx="23774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5A24"/>
              </a:buClr>
              <a:buSzPts val="1100"/>
              <a:buFont typeface="Times New Roman"/>
              <a:buNone/>
            </a:pPr>
            <a:r>
              <a:rPr b="1" lang="en-US" sz="1100">
                <a:solidFill>
                  <a:srgbClr val="F15A24"/>
                </a:solidFill>
                <a:latin typeface="Times New Roman"/>
                <a:ea typeface="Times New Roman"/>
                <a:cs typeface="Times New Roman"/>
                <a:sym typeface="Times New Roman"/>
              </a:rPr>
              <a:t>MODELS + RATERS</a:t>
            </a:r>
            <a:endParaRPr sz="1100">
              <a:solidFill>
                <a:schemeClr val="dk1"/>
              </a:solidFill>
              <a:latin typeface="Times New Roman"/>
              <a:ea typeface="Times New Roman"/>
              <a:cs typeface="Times New Roman"/>
              <a:sym typeface="Times New Roman"/>
            </a:endParaRPr>
          </a:p>
        </p:txBody>
      </p:sp>
      <p:sp>
        <p:nvSpPr>
          <p:cNvPr id="138" name="Google Shape;138;p16"/>
          <p:cNvSpPr/>
          <p:nvPr/>
        </p:nvSpPr>
        <p:spPr>
          <a:xfrm>
            <a:off x="6400800" y="1783080"/>
            <a:ext cx="1417320" cy="438912"/>
          </a:xfrm>
          <a:prstGeom prst="rect">
            <a:avLst/>
          </a:prstGeom>
          <a:solidFill>
            <a:srgbClr val="07006A"/>
          </a:solidFill>
          <a:ln cap="flat" cmpd="sng" w="9525">
            <a:solidFill>
              <a:srgbClr val="07006A">
                <a:alpha val="0"/>
              </a:srgbClr>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050"/>
              <a:buFont typeface="Times New Roman"/>
              <a:buNone/>
            </a:pPr>
            <a:r>
              <a:rPr b="1" lang="en-US" sz="1050">
                <a:solidFill>
                  <a:srgbClr val="FFFFFF"/>
                </a:solidFill>
                <a:latin typeface="Times New Roman"/>
                <a:ea typeface="Times New Roman"/>
                <a:cs typeface="Times New Roman"/>
                <a:sym typeface="Times New Roman"/>
              </a:rPr>
              <a:t>Generator models</a:t>
            </a:r>
            <a:endParaRPr sz="1050">
              <a:solidFill>
                <a:schemeClr val="dk1"/>
              </a:solidFill>
              <a:latin typeface="Times New Roman"/>
              <a:ea typeface="Times New Roman"/>
              <a:cs typeface="Times New Roman"/>
              <a:sym typeface="Times New Roman"/>
            </a:endParaRPr>
          </a:p>
        </p:txBody>
      </p:sp>
      <p:sp>
        <p:nvSpPr>
          <p:cNvPr id="139" name="Google Shape;139;p16"/>
          <p:cNvSpPr/>
          <p:nvPr/>
        </p:nvSpPr>
        <p:spPr>
          <a:xfrm>
            <a:off x="7936992" y="1783080"/>
            <a:ext cx="3630168" cy="438912"/>
          </a:xfrm>
          <a:prstGeom prst="rect">
            <a:avLst/>
          </a:prstGeom>
          <a:solidFill>
            <a:srgbClr val="FFFFFF"/>
          </a:solidFill>
          <a:ln cap="flat" cmpd="sng" w="10150">
            <a:solidFill>
              <a:srgbClr val="D7DBE8"/>
            </a:solidFill>
            <a:prstDash val="solid"/>
            <a:round/>
            <a:headEnd len="sm" w="sm" type="none"/>
            <a:tailEnd len="sm" w="sm" type="none"/>
          </a:ln>
        </p:spPr>
        <p:txBody>
          <a:bodyPr anchorCtr="0" anchor="ctr" bIns="875" lIns="875" spcFirstLastPara="1" rIns="875" wrap="square" tIns="875">
            <a:noAutofit/>
          </a:bodyPr>
          <a:lstStyle/>
          <a:p>
            <a:pPr indent="0" lvl="0" marL="0" marR="0" rtl="0" algn="l">
              <a:spcBef>
                <a:spcPts val="0"/>
              </a:spcBef>
              <a:spcAft>
                <a:spcPts val="0"/>
              </a:spcAft>
              <a:buClr>
                <a:srgbClr val="1F2937"/>
              </a:buClr>
              <a:buSzPts val="1230"/>
              <a:buFont typeface="Times New Roman"/>
              <a:buNone/>
            </a:pPr>
            <a:r>
              <a:rPr lang="en-US" sz="1230">
                <a:solidFill>
                  <a:srgbClr val="1F2937"/>
                </a:solidFill>
                <a:latin typeface="Times New Roman"/>
                <a:ea typeface="Times New Roman"/>
                <a:cs typeface="Times New Roman"/>
                <a:sym typeface="Times New Roman"/>
              </a:rPr>
              <a:t>GPT-5.4-mini · Llama3.1:8b · Mistral:7b · Qwen3-vl-32b-instruct</a:t>
            </a:r>
            <a:endParaRPr sz="1230">
              <a:solidFill>
                <a:schemeClr val="dk1"/>
              </a:solidFill>
              <a:latin typeface="Times New Roman"/>
              <a:ea typeface="Times New Roman"/>
              <a:cs typeface="Times New Roman"/>
              <a:sym typeface="Times New Roman"/>
            </a:endParaRPr>
          </a:p>
        </p:txBody>
      </p:sp>
      <p:sp>
        <p:nvSpPr>
          <p:cNvPr id="140" name="Google Shape;140;p16"/>
          <p:cNvSpPr/>
          <p:nvPr/>
        </p:nvSpPr>
        <p:spPr>
          <a:xfrm>
            <a:off x="6400800" y="2340864"/>
            <a:ext cx="1417320" cy="438912"/>
          </a:xfrm>
          <a:prstGeom prst="rect">
            <a:avLst/>
          </a:prstGeom>
          <a:solidFill>
            <a:srgbClr val="F15A24"/>
          </a:solidFill>
          <a:ln cap="flat" cmpd="sng" w="9525">
            <a:solidFill>
              <a:srgbClr val="F15A24">
                <a:alpha val="0"/>
              </a:srgbClr>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050"/>
              <a:buFont typeface="Times New Roman"/>
              <a:buNone/>
            </a:pPr>
            <a:r>
              <a:rPr b="1" lang="en-US" sz="1050">
                <a:solidFill>
                  <a:srgbClr val="FFFFFF"/>
                </a:solidFill>
                <a:latin typeface="Times New Roman"/>
                <a:ea typeface="Times New Roman"/>
                <a:cs typeface="Times New Roman"/>
                <a:sym typeface="Times New Roman"/>
              </a:rPr>
              <a:t>Judge model</a:t>
            </a:r>
            <a:endParaRPr sz="1050">
              <a:solidFill>
                <a:schemeClr val="dk1"/>
              </a:solidFill>
              <a:latin typeface="Times New Roman"/>
              <a:ea typeface="Times New Roman"/>
              <a:cs typeface="Times New Roman"/>
              <a:sym typeface="Times New Roman"/>
            </a:endParaRPr>
          </a:p>
        </p:txBody>
      </p:sp>
      <p:sp>
        <p:nvSpPr>
          <p:cNvPr id="141" name="Google Shape;141;p16"/>
          <p:cNvSpPr/>
          <p:nvPr/>
        </p:nvSpPr>
        <p:spPr>
          <a:xfrm>
            <a:off x="7936992" y="2340864"/>
            <a:ext cx="3630168" cy="438912"/>
          </a:xfrm>
          <a:prstGeom prst="rect">
            <a:avLst/>
          </a:prstGeom>
          <a:solidFill>
            <a:srgbClr val="FFFFFF"/>
          </a:solidFill>
          <a:ln cap="flat" cmpd="sng" w="10150">
            <a:solidFill>
              <a:srgbClr val="D7DBE8"/>
            </a:solidFill>
            <a:prstDash val="solid"/>
            <a:round/>
            <a:headEnd len="sm" w="sm" type="none"/>
            <a:tailEnd len="sm" w="sm" type="none"/>
          </a:ln>
        </p:spPr>
        <p:txBody>
          <a:bodyPr anchorCtr="0" anchor="ctr" bIns="875" lIns="875" spcFirstLastPara="1" rIns="875" wrap="square" tIns="875">
            <a:noAutofit/>
          </a:bodyPr>
          <a:lstStyle/>
          <a:p>
            <a:pPr indent="0" lvl="0" marL="0" marR="0" rtl="0" algn="l">
              <a:spcBef>
                <a:spcPts val="0"/>
              </a:spcBef>
              <a:spcAft>
                <a:spcPts val="0"/>
              </a:spcAft>
              <a:buClr>
                <a:srgbClr val="1F2937"/>
              </a:buClr>
              <a:buSzPts val="1230"/>
              <a:buFont typeface="Times New Roman"/>
              <a:buNone/>
            </a:pPr>
            <a:r>
              <a:rPr lang="en-US" sz="1230">
                <a:solidFill>
                  <a:srgbClr val="1F2937"/>
                </a:solidFill>
                <a:latin typeface="Times New Roman"/>
                <a:ea typeface="Times New Roman"/>
                <a:cs typeface="Times New Roman"/>
                <a:sym typeface="Times New Roman"/>
              </a:rPr>
              <a:t>GPT-5.4-nano scores each response on a 1–5 scale</a:t>
            </a:r>
            <a:endParaRPr sz="1230">
              <a:solidFill>
                <a:schemeClr val="dk1"/>
              </a:solidFill>
              <a:latin typeface="Times New Roman"/>
              <a:ea typeface="Times New Roman"/>
              <a:cs typeface="Times New Roman"/>
              <a:sym typeface="Times New Roman"/>
            </a:endParaRPr>
          </a:p>
        </p:txBody>
      </p:sp>
      <p:sp>
        <p:nvSpPr>
          <p:cNvPr id="142" name="Google Shape;142;p16"/>
          <p:cNvSpPr/>
          <p:nvPr/>
        </p:nvSpPr>
        <p:spPr>
          <a:xfrm>
            <a:off x="6400800" y="2898648"/>
            <a:ext cx="1417320" cy="438912"/>
          </a:xfrm>
          <a:prstGeom prst="rect">
            <a:avLst/>
          </a:prstGeom>
          <a:solidFill>
            <a:srgbClr val="F15A24"/>
          </a:solidFill>
          <a:ln cap="flat" cmpd="sng" w="9525">
            <a:solidFill>
              <a:srgbClr val="F15A24">
                <a:alpha val="0"/>
              </a:srgbClr>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050"/>
              <a:buFont typeface="Times New Roman"/>
              <a:buNone/>
            </a:pPr>
            <a:r>
              <a:rPr b="1" lang="en-US" sz="1050">
                <a:solidFill>
                  <a:srgbClr val="FFFFFF"/>
                </a:solidFill>
                <a:latin typeface="Times New Roman"/>
                <a:ea typeface="Times New Roman"/>
                <a:cs typeface="Times New Roman"/>
                <a:sym typeface="Times New Roman"/>
              </a:rPr>
              <a:t>Human sample</a:t>
            </a:r>
            <a:endParaRPr sz="1050">
              <a:solidFill>
                <a:schemeClr val="dk1"/>
              </a:solidFill>
              <a:latin typeface="Times New Roman"/>
              <a:ea typeface="Times New Roman"/>
              <a:cs typeface="Times New Roman"/>
              <a:sym typeface="Times New Roman"/>
            </a:endParaRPr>
          </a:p>
        </p:txBody>
      </p:sp>
      <p:sp>
        <p:nvSpPr>
          <p:cNvPr id="143" name="Google Shape;143;p16"/>
          <p:cNvSpPr/>
          <p:nvPr/>
        </p:nvSpPr>
        <p:spPr>
          <a:xfrm>
            <a:off x="7936992" y="2898648"/>
            <a:ext cx="3630168" cy="438912"/>
          </a:xfrm>
          <a:prstGeom prst="rect">
            <a:avLst/>
          </a:prstGeom>
          <a:solidFill>
            <a:srgbClr val="FFFFFF"/>
          </a:solidFill>
          <a:ln cap="flat" cmpd="sng" w="10150">
            <a:solidFill>
              <a:srgbClr val="D7DBE8"/>
            </a:solidFill>
            <a:prstDash val="solid"/>
            <a:round/>
            <a:headEnd len="sm" w="sm" type="none"/>
            <a:tailEnd len="sm" w="sm" type="none"/>
          </a:ln>
        </p:spPr>
        <p:txBody>
          <a:bodyPr anchorCtr="0" anchor="ctr" bIns="875" lIns="875" spcFirstLastPara="1" rIns="875" wrap="square" tIns="875">
            <a:noAutofit/>
          </a:bodyPr>
          <a:lstStyle/>
          <a:p>
            <a:pPr indent="0" lvl="0" marL="0" marR="0" rtl="0" algn="l">
              <a:spcBef>
                <a:spcPts val="0"/>
              </a:spcBef>
              <a:spcAft>
                <a:spcPts val="0"/>
              </a:spcAft>
              <a:buClr>
                <a:srgbClr val="1F2937"/>
              </a:buClr>
              <a:buSzPts val="1230"/>
              <a:buFont typeface="Times New Roman"/>
              <a:buNone/>
            </a:pPr>
            <a:r>
              <a:rPr lang="en-US" sz="1230">
                <a:solidFill>
                  <a:srgbClr val="1F2937"/>
                </a:solidFill>
                <a:latin typeface="Times New Roman"/>
                <a:ea typeface="Times New Roman"/>
                <a:cs typeface="Times New Roman"/>
                <a:sym typeface="Times New Roman"/>
              </a:rPr>
              <a:t>10 responses randomly selected per category in both datasets</a:t>
            </a:r>
            <a:endParaRPr sz="1230">
              <a:solidFill>
                <a:schemeClr val="dk1"/>
              </a:solidFill>
              <a:latin typeface="Times New Roman"/>
              <a:ea typeface="Times New Roman"/>
              <a:cs typeface="Times New Roman"/>
              <a:sym typeface="Times New Roman"/>
            </a:endParaRPr>
          </a:p>
        </p:txBody>
      </p:sp>
      <p:sp>
        <p:nvSpPr>
          <p:cNvPr id="144" name="Google Shape;144;p16"/>
          <p:cNvSpPr/>
          <p:nvPr/>
        </p:nvSpPr>
        <p:spPr>
          <a:xfrm>
            <a:off x="6400800" y="3657600"/>
            <a:ext cx="23774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5A24"/>
              </a:buClr>
              <a:buSzPts val="1100"/>
              <a:buFont typeface="Times New Roman"/>
              <a:buNone/>
            </a:pPr>
            <a:r>
              <a:rPr b="1" lang="en-US" sz="1100">
                <a:solidFill>
                  <a:srgbClr val="F15A24"/>
                </a:solidFill>
                <a:latin typeface="Times New Roman"/>
                <a:ea typeface="Times New Roman"/>
                <a:cs typeface="Times New Roman"/>
                <a:sym typeface="Times New Roman"/>
              </a:rPr>
              <a:t>SCORING DIMENSIONS</a:t>
            </a:r>
            <a:endParaRPr sz="1100">
              <a:solidFill>
                <a:schemeClr val="dk1"/>
              </a:solidFill>
              <a:latin typeface="Times New Roman"/>
              <a:ea typeface="Times New Roman"/>
              <a:cs typeface="Times New Roman"/>
              <a:sym typeface="Times New Roman"/>
            </a:endParaRPr>
          </a:p>
        </p:txBody>
      </p:sp>
      <p:sp>
        <p:nvSpPr>
          <p:cNvPr id="145" name="Google Shape;145;p16"/>
          <p:cNvSpPr/>
          <p:nvPr/>
        </p:nvSpPr>
        <p:spPr>
          <a:xfrm>
            <a:off x="6473952" y="4005072"/>
            <a:ext cx="329184" cy="292608"/>
          </a:xfrm>
          <a:prstGeom prst="hexagon">
            <a:avLst>
              <a:gd fmla="val 25000" name="adj"/>
              <a:gd fmla="val 115470" name="vf"/>
            </a:avLst>
          </a:prstGeom>
          <a:solidFill>
            <a:srgbClr val="07006A"/>
          </a:solidFill>
          <a:ln cap="flat" cmpd="sng" w="12700">
            <a:solidFill>
              <a:srgbClr val="07006A">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46" name="Google Shape;146;p16"/>
          <p:cNvSpPr/>
          <p:nvPr/>
        </p:nvSpPr>
        <p:spPr>
          <a:xfrm>
            <a:off x="6885432" y="4018788"/>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50"/>
              <a:buFont typeface="Gill Sans"/>
              <a:buNone/>
            </a:pPr>
            <a:r>
              <a:rPr b="1" lang="en-US" sz="1450">
                <a:solidFill>
                  <a:srgbClr val="1F2937"/>
                </a:solidFill>
                <a:latin typeface="Gill Sans"/>
                <a:ea typeface="Gill Sans"/>
                <a:cs typeface="Gill Sans"/>
                <a:sym typeface="Gill Sans"/>
              </a:rPr>
              <a:t>Accuracy</a:t>
            </a:r>
            <a:endParaRPr sz="1450">
              <a:solidFill>
                <a:schemeClr val="dk1"/>
              </a:solidFill>
              <a:latin typeface="Gill Sans"/>
              <a:ea typeface="Gill Sans"/>
              <a:cs typeface="Gill Sans"/>
              <a:sym typeface="Gill Sans"/>
            </a:endParaRPr>
          </a:p>
        </p:txBody>
      </p:sp>
      <p:sp>
        <p:nvSpPr>
          <p:cNvPr id="147" name="Google Shape;147;p16"/>
          <p:cNvSpPr/>
          <p:nvPr/>
        </p:nvSpPr>
        <p:spPr>
          <a:xfrm>
            <a:off x="9006840" y="4005072"/>
            <a:ext cx="329184" cy="292608"/>
          </a:xfrm>
          <a:prstGeom prst="hexagon">
            <a:avLst>
              <a:gd fmla="val 25000" name="adj"/>
              <a:gd fmla="val 115470" name="vf"/>
            </a:avLst>
          </a:prstGeom>
          <a:solidFill>
            <a:srgbClr val="F15A24"/>
          </a:solidFill>
          <a:ln cap="flat" cmpd="sng" w="12700">
            <a:solidFill>
              <a:srgbClr val="F15A2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48" name="Google Shape;148;p16"/>
          <p:cNvSpPr/>
          <p:nvPr/>
        </p:nvSpPr>
        <p:spPr>
          <a:xfrm>
            <a:off x="9418320" y="4018788"/>
            <a:ext cx="1234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50"/>
              <a:buFont typeface="Gill Sans"/>
              <a:buNone/>
            </a:pPr>
            <a:r>
              <a:rPr b="1" lang="en-US" sz="1450">
                <a:solidFill>
                  <a:srgbClr val="1F2937"/>
                </a:solidFill>
                <a:latin typeface="Gill Sans"/>
                <a:ea typeface="Gill Sans"/>
                <a:cs typeface="Gill Sans"/>
                <a:sym typeface="Gill Sans"/>
              </a:rPr>
              <a:t>Safety</a:t>
            </a:r>
            <a:endParaRPr sz="1450">
              <a:solidFill>
                <a:schemeClr val="dk1"/>
              </a:solidFill>
              <a:latin typeface="Gill Sans"/>
              <a:ea typeface="Gill Sans"/>
              <a:cs typeface="Gill Sans"/>
              <a:sym typeface="Gill Sans"/>
            </a:endParaRPr>
          </a:p>
        </p:txBody>
      </p:sp>
      <p:sp>
        <p:nvSpPr>
          <p:cNvPr id="149" name="Google Shape;149;p16"/>
          <p:cNvSpPr/>
          <p:nvPr/>
        </p:nvSpPr>
        <p:spPr>
          <a:xfrm>
            <a:off x="6473952" y="4645152"/>
            <a:ext cx="329184" cy="292608"/>
          </a:xfrm>
          <a:prstGeom prst="hexagon">
            <a:avLst>
              <a:gd fmla="val 25000" name="adj"/>
              <a:gd fmla="val 115470" name="vf"/>
            </a:avLst>
          </a:prstGeom>
          <a:solidFill>
            <a:srgbClr val="2D3A8C"/>
          </a:solidFill>
          <a:ln cap="flat" cmpd="sng" w="12700">
            <a:solidFill>
              <a:srgbClr val="2D3A8C">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50" name="Google Shape;150;p16"/>
          <p:cNvSpPr/>
          <p:nvPr/>
        </p:nvSpPr>
        <p:spPr>
          <a:xfrm>
            <a:off x="6885432" y="4658868"/>
            <a:ext cx="1645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50"/>
              <a:buFont typeface="Gill Sans"/>
              <a:buNone/>
            </a:pPr>
            <a:r>
              <a:rPr b="1" lang="en-US" sz="1450">
                <a:solidFill>
                  <a:srgbClr val="1F2937"/>
                </a:solidFill>
                <a:latin typeface="Gill Sans"/>
                <a:ea typeface="Gill Sans"/>
                <a:cs typeface="Gill Sans"/>
                <a:sym typeface="Gill Sans"/>
              </a:rPr>
              <a:t>Completeness</a:t>
            </a:r>
            <a:endParaRPr sz="1450">
              <a:solidFill>
                <a:schemeClr val="dk1"/>
              </a:solidFill>
              <a:latin typeface="Gill Sans"/>
              <a:ea typeface="Gill Sans"/>
              <a:cs typeface="Gill Sans"/>
              <a:sym typeface="Gill Sans"/>
            </a:endParaRPr>
          </a:p>
        </p:txBody>
      </p:sp>
      <p:sp>
        <p:nvSpPr>
          <p:cNvPr id="151" name="Google Shape;151;p16"/>
          <p:cNvSpPr/>
          <p:nvPr/>
        </p:nvSpPr>
        <p:spPr>
          <a:xfrm>
            <a:off x="9006840" y="4645152"/>
            <a:ext cx="329184" cy="292608"/>
          </a:xfrm>
          <a:prstGeom prst="hexagon">
            <a:avLst>
              <a:gd fmla="val 25000" name="adj"/>
              <a:gd fmla="val 115470" name="vf"/>
            </a:avLst>
          </a:prstGeom>
          <a:solidFill>
            <a:srgbClr val="2F855A"/>
          </a:solidFill>
          <a:ln cap="flat" cmpd="sng" w="12700">
            <a:solidFill>
              <a:srgbClr val="2F855A">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52" name="Google Shape;152;p16"/>
          <p:cNvSpPr/>
          <p:nvPr/>
        </p:nvSpPr>
        <p:spPr>
          <a:xfrm>
            <a:off x="9418320" y="4658868"/>
            <a:ext cx="2057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40"/>
              <a:buFont typeface="Gill Sans"/>
              <a:buNone/>
            </a:pPr>
            <a:r>
              <a:rPr b="1" lang="en-US" sz="1340">
                <a:solidFill>
                  <a:srgbClr val="1F2937"/>
                </a:solidFill>
                <a:latin typeface="Gill Sans"/>
                <a:ea typeface="Gill Sans"/>
                <a:cs typeface="Gill Sans"/>
                <a:sym typeface="Gill Sans"/>
              </a:rPr>
              <a:t>Professional referral</a:t>
            </a:r>
            <a:endParaRPr sz="1340">
              <a:solidFill>
                <a:schemeClr val="dk1"/>
              </a:solidFill>
              <a:latin typeface="Gill Sans"/>
              <a:ea typeface="Gill Sans"/>
              <a:cs typeface="Gill Sans"/>
              <a:sym typeface="Gill Sans"/>
            </a:endParaRPr>
          </a:p>
        </p:txBody>
      </p:sp>
      <p:sp>
        <p:nvSpPr>
          <p:cNvPr id="153" name="Google Shape;153;p16"/>
          <p:cNvSpPr/>
          <p:nvPr/>
        </p:nvSpPr>
        <p:spPr>
          <a:xfrm>
            <a:off x="7452360" y="5285232"/>
            <a:ext cx="329184" cy="292608"/>
          </a:xfrm>
          <a:prstGeom prst="hexagon">
            <a:avLst>
              <a:gd fmla="val 25000" name="adj"/>
              <a:gd fmla="val 115470" name="vf"/>
            </a:avLst>
          </a:prstGeom>
          <a:solidFill>
            <a:srgbClr val="6B46C1"/>
          </a:solidFill>
          <a:ln cap="flat" cmpd="sng" w="12700">
            <a:solidFill>
              <a:srgbClr val="6B46C1">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54" name="Google Shape;154;p16"/>
          <p:cNvSpPr/>
          <p:nvPr/>
        </p:nvSpPr>
        <p:spPr>
          <a:xfrm>
            <a:off x="7863840" y="5298948"/>
            <a:ext cx="1600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50"/>
              <a:buFont typeface="Gill Sans"/>
              <a:buNone/>
            </a:pPr>
            <a:r>
              <a:rPr b="1" lang="en-US" sz="1450">
                <a:solidFill>
                  <a:srgbClr val="1F2937"/>
                </a:solidFill>
                <a:latin typeface="Gill Sans"/>
                <a:ea typeface="Gill Sans"/>
                <a:cs typeface="Gill Sans"/>
                <a:sym typeface="Gill Sans"/>
              </a:rPr>
              <a:t>Overall quality</a:t>
            </a:r>
            <a:endParaRPr sz="1450">
              <a:solidFill>
                <a:schemeClr val="dk1"/>
              </a:solidFill>
              <a:latin typeface="Gill Sans"/>
              <a:ea typeface="Gill Sans"/>
              <a:cs typeface="Gill Sans"/>
              <a:sym typeface="Gill Sans"/>
            </a:endParaRPr>
          </a:p>
        </p:txBody>
      </p:sp>
      <p:sp>
        <p:nvSpPr>
          <p:cNvPr id="155" name="Google Shape;155;p16"/>
          <p:cNvSpPr/>
          <p:nvPr/>
        </p:nvSpPr>
        <p:spPr>
          <a:xfrm>
            <a:off x="502920" y="6592824"/>
            <a:ext cx="50292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8291"/>
              </a:buClr>
              <a:buSzPts val="750"/>
              <a:buFont typeface="Gill Sans"/>
              <a:buNone/>
            </a:pPr>
            <a:r>
              <a:rPr lang="en-US" sz="750">
                <a:solidFill>
                  <a:srgbClr val="7A8291"/>
                </a:solidFill>
                <a:latin typeface="Gill Sans"/>
                <a:ea typeface="Gill Sans"/>
                <a:cs typeface="Gill Sans"/>
                <a:sym typeface="Gill Sans"/>
              </a:rPr>
              <a:t>Life Insurance AI Advice Benchmark</a:t>
            </a:r>
            <a:endParaRPr sz="750">
              <a:solidFill>
                <a:schemeClr val="dk1"/>
              </a:solidFill>
              <a:latin typeface="Gill Sans"/>
              <a:ea typeface="Gill Sans"/>
              <a:cs typeface="Gill Sans"/>
              <a:sym typeface="Gill Sans"/>
            </a:endParaRPr>
          </a:p>
        </p:txBody>
      </p:sp>
      <p:sp>
        <p:nvSpPr>
          <p:cNvPr id="156" name="Google Shape;156;p16"/>
          <p:cNvSpPr txBox="1"/>
          <p:nvPr>
            <p:ph idx="4294967295" type="sldNum"/>
          </p:nvPr>
        </p:nvSpPr>
        <p:spPr>
          <a:xfrm>
            <a:off x="11612880" y="6601968"/>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6B7280"/>
                </a:solidFill>
                <a:latin typeface="Arial"/>
                <a:ea typeface="Arial"/>
                <a:cs typeface="Arial"/>
                <a:sym typeface="Arial"/>
              </a:rPr>
              <a:t>‹#›</a:t>
            </a:fld>
            <a:endParaRPr sz="800">
              <a:solidFill>
                <a:srgbClr val="6B728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7"/>
          <p:cNvSpPr/>
          <p:nvPr/>
        </p:nvSpPr>
        <p:spPr>
          <a:xfrm>
            <a:off x="502920" y="292608"/>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006A"/>
              </a:buClr>
              <a:buSzPts val="2800"/>
              <a:buFont typeface="Play"/>
              <a:buNone/>
            </a:pPr>
            <a:r>
              <a:rPr b="1" lang="en-US" sz="2800">
                <a:solidFill>
                  <a:srgbClr val="07006A"/>
                </a:solidFill>
                <a:latin typeface="Times New Roman"/>
                <a:ea typeface="Times New Roman"/>
                <a:cs typeface="Times New Roman"/>
                <a:sym typeface="Times New Roman"/>
              </a:rPr>
              <a:t>Two datasets capture different advice contexts</a:t>
            </a:r>
            <a:endParaRPr sz="2800">
              <a:solidFill>
                <a:schemeClr val="dk1"/>
              </a:solidFill>
              <a:latin typeface="Times New Roman"/>
              <a:ea typeface="Times New Roman"/>
              <a:cs typeface="Times New Roman"/>
              <a:sym typeface="Times New Roman"/>
            </a:endParaRPr>
          </a:p>
        </p:txBody>
      </p:sp>
      <p:sp>
        <p:nvSpPr>
          <p:cNvPr id="163" name="Google Shape;163;p17"/>
          <p:cNvSpPr/>
          <p:nvPr/>
        </p:nvSpPr>
        <p:spPr>
          <a:xfrm>
            <a:off x="512064" y="832104"/>
            <a:ext cx="1051560" cy="64008"/>
          </a:xfrm>
          <a:prstGeom prst="rect">
            <a:avLst/>
          </a:prstGeom>
          <a:solidFill>
            <a:srgbClr val="F15A24"/>
          </a:solidFill>
          <a:ln cap="flat" cmpd="sng" w="12700">
            <a:solidFill>
              <a:srgbClr val="F15A2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64" name="Google Shape;164;p17"/>
          <p:cNvSpPr/>
          <p:nvPr/>
        </p:nvSpPr>
        <p:spPr>
          <a:xfrm>
            <a:off x="777240" y="1271848"/>
            <a:ext cx="4892040" cy="4434840"/>
          </a:xfrm>
          <a:prstGeom prst="rect">
            <a:avLst/>
          </a:prstGeom>
          <a:solidFill>
            <a:srgbClr val="FFFFFF"/>
          </a:solidFill>
          <a:ln cap="flat" cmpd="sng" w="13950">
            <a:solidFill>
              <a:srgbClr val="D7DB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65" name="Google Shape;165;p17"/>
          <p:cNvSpPr/>
          <p:nvPr/>
        </p:nvSpPr>
        <p:spPr>
          <a:xfrm>
            <a:off x="1051560" y="1675011"/>
            <a:ext cx="4297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006A"/>
              </a:buClr>
              <a:buSzPts val="2800"/>
              <a:buFont typeface="Gill Sans"/>
              <a:buNone/>
            </a:pPr>
            <a:r>
              <a:rPr b="1" lang="en-US" sz="2800">
                <a:solidFill>
                  <a:srgbClr val="07006A"/>
                </a:solidFill>
                <a:latin typeface="Times New Roman"/>
                <a:ea typeface="Times New Roman"/>
                <a:cs typeface="Times New Roman"/>
                <a:sym typeface="Times New Roman"/>
              </a:rPr>
              <a:t>GeneralQuestions</a:t>
            </a:r>
            <a:endParaRPr sz="2800">
              <a:solidFill>
                <a:schemeClr val="dk1"/>
              </a:solidFill>
              <a:latin typeface="Times New Roman"/>
              <a:ea typeface="Times New Roman"/>
              <a:cs typeface="Times New Roman"/>
              <a:sym typeface="Times New Roman"/>
            </a:endParaRPr>
          </a:p>
        </p:txBody>
      </p:sp>
      <p:sp>
        <p:nvSpPr>
          <p:cNvPr id="166" name="Google Shape;166;p17"/>
          <p:cNvSpPr/>
          <p:nvPr/>
        </p:nvSpPr>
        <p:spPr>
          <a:xfrm>
            <a:off x="1051560" y="2150499"/>
            <a:ext cx="42976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5"/>
              </a:buClr>
              <a:buSzPts val="1400"/>
              <a:buFont typeface="Gill Sans"/>
              <a:buNone/>
            </a:pPr>
            <a:r>
              <a:rPr lang="en-US" sz="1400">
                <a:solidFill>
                  <a:srgbClr val="5B6575"/>
                </a:solidFill>
                <a:latin typeface="Gill Sans"/>
                <a:ea typeface="Gill Sans"/>
                <a:cs typeface="Gill Sans"/>
                <a:sym typeface="Gill Sans"/>
              </a:rPr>
              <a:t>Common + high-risk topics</a:t>
            </a:r>
            <a:endParaRPr sz="1400">
              <a:solidFill>
                <a:schemeClr val="dk1"/>
              </a:solidFill>
              <a:latin typeface="Gill Sans"/>
              <a:ea typeface="Gill Sans"/>
              <a:cs typeface="Gill Sans"/>
              <a:sym typeface="Gill Sans"/>
            </a:endParaRPr>
          </a:p>
        </p:txBody>
      </p:sp>
      <p:sp>
        <p:nvSpPr>
          <p:cNvPr id="167" name="Google Shape;167;p17"/>
          <p:cNvSpPr/>
          <p:nvPr/>
        </p:nvSpPr>
        <p:spPr>
          <a:xfrm>
            <a:off x="1133856" y="2653419"/>
            <a:ext cx="4160520" cy="2148840"/>
          </a:xfrm>
          <a:prstGeom prst="rect">
            <a:avLst/>
          </a:prstGeom>
          <a:noFill/>
          <a:ln>
            <a:noFill/>
          </a:ln>
        </p:spPr>
        <p:txBody>
          <a:bodyPr anchorCtr="0" anchor="ctr" bIns="500" lIns="500" spcFirstLastPara="1" rIns="500" wrap="square" tIns="500">
            <a:noAutofit/>
          </a:bodyPr>
          <a:lstStyle/>
          <a:p>
            <a:pPr indent="-285750" lvl="0" marL="285750" marR="0" rtl="0" algn="l">
              <a:spcBef>
                <a:spcPts val="0"/>
              </a:spcBef>
              <a:spcAft>
                <a:spcPts val="0"/>
              </a:spcAft>
              <a:buClr>
                <a:srgbClr val="1F2937"/>
              </a:buClr>
              <a:buSzPts val="1700"/>
              <a:buFont typeface="Arial"/>
              <a:buChar char="•"/>
            </a:pPr>
            <a:r>
              <a:rPr lang="en-US" sz="1700">
                <a:solidFill>
                  <a:srgbClr val="1F2937"/>
                </a:solidFill>
                <a:latin typeface="Gill Sans"/>
                <a:ea typeface="Gill Sans"/>
                <a:cs typeface="Gill Sans"/>
                <a:sym typeface="Gill Sans"/>
              </a:rPr>
              <a:t>Policy Basic</a:t>
            </a:r>
            <a:endParaRPr/>
          </a:p>
          <a:p>
            <a:pPr indent="-285750" lvl="0" marL="285750" marR="0" rtl="0" algn="l">
              <a:spcBef>
                <a:spcPts val="0"/>
              </a:spcBef>
              <a:spcAft>
                <a:spcPts val="0"/>
              </a:spcAft>
              <a:buClr>
                <a:srgbClr val="1F2937"/>
              </a:buClr>
              <a:buSzPts val="1700"/>
              <a:buFont typeface="Arial"/>
              <a:buChar char="•"/>
            </a:pPr>
            <a:r>
              <a:rPr lang="en-US" sz="1700">
                <a:solidFill>
                  <a:srgbClr val="1F2937"/>
                </a:solidFill>
                <a:latin typeface="Gill Sans"/>
                <a:ea typeface="Gill Sans"/>
                <a:cs typeface="Gill Sans"/>
                <a:sym typeface="Gill Sans"/>
              </a:rPr>
              <a:t>Beneficiary Guidance</a:t>
            </a:r>
            <a:endParaRPr/>
          </a:p>
          <a:p>
            <a:pPr indent="-285750" lvl="0" marL="285750" marR="0" rtl="0" algn="l">
              <a:spcBef>
                <a:spcPts val="0"/>
              </a:spcBef>
              <a:spcAft>
                <a:spcPts val="0"/>
              </a:spcAft>
              <a:buClr>
                <a:srgbClr val="1F2937"/>
              </a:buClr>
              <a:buSzPts val="1700"/>
              <a:buFont typeface="Arial"/>
              <a:buChar char="•"/>
            </a:pPr>
            <a:r>
              <a:rPr lang="en-US" sz="1700">
                <a:solidFill>
                  <a:srgbClr val="1F2937"/>
                </a:solidFill>
                <a:latin typeface="Gill Sans"/>
                <a:ea typeface="Gill Sans"/>
                <a:cs typeface="Gill Sans"/>
                <a:sym typeface="Gill Sans"/>
              </a:rPr>
              <a:t>Coverage Amount</a:t>
            </a:r>
            <a:endParaRPr/>
          </a:p>
          <a:p>
            <a:pPr indent="-285750" lvl="0" marL="285750" marR="0" rtl="0" algn="l">
              <a:spcBef>
                <a:spcPts val="0"/>
              </a:spcBef>
              <a:spcAft>
                <a:spcPts val="0"/>
              </a:spcAft>
              <a:buClr>
                <a:srgbClr val="1F2937"/>
              </a:buClr>
              <a:buSzPts val="1700"/>
              <a:buFont typeface="Arial"/>
              <a:buChar char="•"/>
            </a:pPr>
            <a:r>
              <a:rPr lang="en-US" sz="1700">
                <a:solidFill>
                  <a:srgbClr val="1F2937"/>
                </a:solidFill>
                <a:latin typeface="Gill Sans"/>
                <a:ea typeface="Gill Sans"/>
                <a:cs typeface="Gill Sans"/>
                <a:sym typeface="Gill Sans"/>
              </a:rPr>
              <a:t>Term-vs-Permanent</a:t>
            </a:r>
            <a:endParaRPr/>
          </a:p>
          <a:p>
            <a:pPr indent="-285750" lvl="0" marL="285750" marR="0" rtl="0" algn="l">
              <a:spcBef>
                <a:spcPts val="0"/>
              </a:spcBef>
              <a:spcAft>
                <a:spcPts val="0"/>
              </a:spcAft>
              <a:buClr>
                <a:srgbClr val="1F2937"/>
              </a:buClr>
              <a:buSzPts val="1700"/>
              <a:buFont typeface="Arial"/>
              <a:buChar char="•"/>
            </a:pPr>
            <a:r>
              <a:rPr lang="en-US" sz="1700">
                <a:solidFill>
                  <a:srgbClr val="1F2937"/>
                </a:solidFill>
                <a:latin typeface="Gill Sans"/>
                <a:ea typeface="Gill Sans"/>
                <a:cs typeface="Gill Sans"/>
                <a:sym typeface="Gill Sans"/>
              </a:rPr>
              <a:t>Military insurance </a:t>
            </a:r>
            <a:endParaRPr/>
          </a:p>
          <a:p>
            <a:pPr indent="-285750" lvl="0" marL="285750" marR="0" rtl="0" algn="l">
              <a:spcBef>
                <a:spcPts val="0"/>
              </a:spcBef>
              <a:spcAft>
                <a:spcPts val="0"/>
              </a:spcAft>
              <a:buClr>
                <a:srgbClr val="1F2937"/>
              </a:buClr>
              <a:buSzPts val="1700"/>
              <a:buFont typeface="Arial"/>
              <a:buChar char="•"/>
            </a:pPr>
            <a:r>
              <a:rPr lang="en-US" sz="1700">
                <a:solidFill>
                  <a:srgbClr val="1F2937"/>
                </a:solidFill>
                <a:latin typeface="Gill Sans"/>
                <a:ea typeface="Gill Sans"/>
                <a:cs typeface="Gill Sans"/>
                <a:sym typeface="Gill Sans"/>
              </a:rPr>
              <a:t>Professional Referral </a:t>
            </a:r>
            <a:endParaRPr/>
          </a:p>
          <a:p>
            <a:pPr indent="-285750" lvl="0" marL="285750" marR="0" rtl="0" algn="l">
              <a:spcBef>
                <a:spcPts val="0"/>
              </a:spcBef>
              <a:spcAft>
                <a:spcPts val="0"/>
              </a:spcAft>
              <a:buClr>
                <a:srgbClr val="1F2937"/>
              </a:buClr>
              <a:buSzPts val="1700"/>
              <a:buFont typeface="Arial"/>
              <a:buChar char="•"/>
            </a:pPr>
            <a:r>
              <a:rPr lang="en-US" sz="1700">
                <a:solidFill>
                  <a:srgbClr val="1F2937"/>
                </a:solidFill>
                <a:latin typeface="Gill Sans"/>
                <a:ea typeface="Gill Sans"/>
                <a:cs typeface="Gill Sans"/>
                <a:sym typeface="Gill Sans"/>
              </a:rPr>
              <a:t>Across</a:t>
            </a:r>
            <a:r>
              <a:rPr lang="en-US" sz="1700">
                <a:solidFill>
                  <a:schemeClr val="dk1"/>
                </a:solidFill>
                <a:latin typeface="Gill Sans"/>
                <a:ea typeface="Gill Sans"/>
                <a:cs typeface="Gill Sans"/>
                <a:sym typeface="Gill Sans"/>
              </a:rPr>
              <a:t> </a:t>
            </a:r>
            <a:r>
              <a:rPr lang="en-US" sz="1700">
                <a:solidFill>
                  <a:srgbClr val="1F2937"/>
                </a:solidFill>
                <a:latin typeface="Gill Sans"/>
                <a:ea typeface="Gill Sans"/>
                <a:cs typeface="Gill Sans"/>
                <a:sym typeface="Gill Sans"/>
              </a:rPr>
              <a:t>Simple, ambiguous, and edge-case scenarios</a:t>
            </a:r>
            <a:endParaRPr sz="1700">
              <a:solidFill>
                <a:schemeClr val="dk1"/>
              </a:solidFill>
              <a:latin typeface="Gill Sans"/>
              <a:ea typeface="Gill Sans"/>
              <a:cs typeface="Gill Sans"/>
              <a:sym typeface="Gill Sans"/>
            </a:endParaRPr>
          </a:p>
        </p:txBody>
      </p:sp>
      <p:sp>
        <p:nvSpPr>
          <p:cNvPr id="168" name="Google Shape;168;p17"/>
          <p:cNvSpPr/>
          <p:nvPr/>
        </p:nvSpPr>
        <p:spPr>
          <a:xfrm>
            <a:off x="6522722" y="1271848"/>
            <a:ext cx="4892100" cy="4434900"/>
          </a:xfrm>
          <a:prstGeom prst="rect">
            <a:avLst/>
          </a:prstGeom>
          <a:solidFill>
            <a:srgbClr val="FFFFFF"/>
          </a:solidFill>
          <a:ln cap="flat" cmpd="sng" w="13950">
            <a:solidFill>
              <a:srgbClr val="D7DB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69" name="Google Shape;169;p17"/>
          <p:cNvSpPr/>
          <p:nvPr/>
        </p:nvSpPr>
        <p:spPr>
          <a:xfrm>
            <a:off x="6793992" y="1682496"/>
            <a:ext cx="4297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5A24"/>
              </a:buClr>
              <a:buSzPts val="2800"/>
              <a:buFont typeface="Gill Sans"/>
              <a:buNone/>
            </a:pPr>
            <a:r>
              <a:rPr b="1" lang="en-US" sz="2800">
                <a:solidFill>
                  <a:srgbClr val="F15A24"/>
                </a:solidFill>
                <a:latin typeface="Times New Roman"/>
                <a:ea typeface="Times New Roman"/>
                <a:cs typeface="Times New Roman"/>
                <a:sym typeface="Times New Roman"/>
              </a:rPr>
              <a:t>SpecificQuestions</a:t>
            </a:r>
            <a:endParaRPr sz="2800">
              <a:solidFill>
                <a:schemeClr val="dk1"/>
              </a:solidFill>
              <a:latin typeface="Times New Roman"/>
              <a:ea typeface="Times New Roman"/>
              <a:cs typeface="Times New Roman"/>
              <a:sym typeface="Times New Roman"/>
            </a:endParaRPr>
          </a:p>
        </p:txBody>
      </p:sp>
      <p:sp>
        <p:nvSpPr>
          <p:cNvPr id="170" name="Google Shape;170;p17"/>
          <p:cNvSpPr/>
          <p:nvPr/>
        </p:nvSpPr>
        <p:spPr>
          <a:xfrm>
            <a:off x="6819902" y="2150499"/>
            <a:ext cx="42976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5"/>
              </a:buClr>
              <a:buSzPts val="1400"/>
              <a:buFont typeface="Gill Sans"/>
              <a:buNone/>
            </a:pPr>
            <a:r>
              <a:rPr lang="en-US" sz="1400">
                <a:solidFill>
                  <a:srgbClr val="5B6575"/>
                </a:solidFill>
                <a:latin typeface="Gill Sans"/>
                <a:ea typeface="Gill Sans"/>
                <a:cs typeface="Gill Sans"/>
                <a:sym typeface="Gill Sans"/>
              </a:rPr>
              <a:t>Provider comparison + consumer choice</a:t>
            </a:r>
            <a:endParaRPr sz="1400">
              <a:solidFill>
                <a:schemeClr val="dk1"/>
              </a:solidFill>
              <a:latin typeface="Gill Sans"/>
              <a:ea typeface="Gill Sans"/>
              <a:cs typeface="Gill Sans"/>
              <a:sym typeface="Gill Sans"/>
            </a:endParaRPr>
          </a:p>
        </p:txBody>
      </p:sp>
      <p:sp>
        <p:nvSpPr>
          <p:cNvPr id="171" name="Google Shape;171;p17"/>
          <p:cNvSpPr/>
          <p:nvPr/>
        </p:nvSpPr>
        <p:spPr>
          <a:xfrm>
            <a:off x="6876288" y="2653419"/>
            <a:ext cx="4160520" cy="2148840"/>
          </a:xfrm>
          <a:prstGeom prst="rect">
            <a:avLst/>
          </a:prstGeom>
          <a:noFill/>
          <a:ln>
            <a:noFill/>
          </a:ln>
        </p:spPr>
        <p:txBody>
          <a:bodyPr anchorCtr="0" anchor="ctr" bIns="500" lIns="500" spcFirstLastPara="1" rIns="500" wrap="square" tIns="500">
            <a:noAutofit/>
          </a:bodyPr>
          <a:lstStyle/>
          <a:p>
            <a:pPr indent="-285750" lvl="0" marL="285750" marR="0" rtl="0" algn="l">
              <a:spcBef>
                <a:spcPts val="0"/>
              </a:spcBef>
              <a:spcAft>
                <a:spcPts val="0"/>
              </a:spcAft>
              <a:buClr>
                <a:srgbClr val="1F2937"/>
              </a:buClr>
              <a:buSzPts val="1700"/>
              <a:buFont typeface="Arial"/>
              <a:buChar char="•"/>
            </a:pPr>
            <a:r>
              <a:rPr lang="en-US" sz="1700">
                <a:solidFill>
                  <a:srgbClr val="1F2937"/>
                </a:solidFill>
                <a:latin typeface="Gill Sans"/>
                <a:ea typeface="Gill Sans"/>
                <a:cs typeface="Gill Sans"/>
                <a:sym typeface="Gill Sans"/>
              </a:rPr>
              <a:t>USAA</a:t>
            </a:r>
            <a:endParaRPr sz="1700">
              <a:solidFill>
                <a:schemeClr val="dk1"/>
              </a:solidFill>
              <a:latin typeface="Gill Sans"/>
              <a:ea typeface="Gill Sans"/>
              <a:cs typeface="Gill Sans"/>
              <a:sym typeface="Gill Sans"/>
            </a:endParaRPr>
          </a:p>
          <a:p>
            <a:pPr indent="-285750" lvl="0" marL="285750" marR="0" rtl="0" algn="l">
              <a:spcBef>
                <a:spcPts val="0"/>
              </a:spcBef>
              <a:spcAft>
                <a:spcPts val="0"/>
              </a:spcAft>
              <a:buClr>
                <a:srgbClr val="1F2937"/>
              </a:buClr>
              <a:buSzPts val="1700"/>
              <a:buFont typeface="Arial"/>
              <a:buChar char="•"/>
            </a:pPr>
            <a:r>
              <a:rPr lang="en-US" sz="1700">
                <a:solidFill>
                  <a:srgbClr val="1F2937"/>
                </a:solidFill>
                <a:latin typeface="Gill Sans"/>
                <a:ea typeface="Gill Sans"/>
                <a:cs typeface="Gill Sans"/>
                <a:sym typeface="Gill Sans"/>
              </a:rPr>
              <a:t>State Farm</a:t>
            </a:r>
            <a:endParaRPr sz="1700">
              <a:solidFill>
                <a:schemeClr val="dk1"/>
              </a:solidFill>
              <a:latin typeface="Gill Sans"/>
              <a:ea typeface="Gill Sans"/>
              <a:cs typeface="Gill Sans"/>
              <a:sym typeface="Gill Sans"/>
            </a:endParaRPr>
          </a:p>
          <a:p>
            <a:pPr indent="-285750" lvl="0" marL="285750" marR="0" rtl="0" algn="l">
              <a:spcBef>
                <a:spcPts val="0"/>
              </a:spcBef>
              <a:spcAft>
                <a:spcPts val="0"/>
              </a:spcAft>
              <a:buClr>
                <a:srgbClr val="1F2937"/>
              </a:buClr>
              <a:buSzPts val="1700"/>
              <a:buFont typeface="Arial"/>
              <a:buChar char="•"/>
            </a:pPr>
            <a:r>
              <a:rPr lang="en-US" sz="1700">
                <a:solidFill>
                  <a:srgbClr val="1F2937"/>
                </a:solidFill>
                <a:latin typeface="Gill Sans"/>
                <a:ea typeface="Gill Sans"/>
                <a:cs typeface="Gill Sans"/>
                <a:sym typeface="Gill Sans"/>
              </a:rPr>
              <a:t>Northwestern Mutual</a:t>
            </a:r>
            <a:endParaRPr sz="1700">
              <a:solidFill>
                <a:schemeClr val="dk1"/>
              </a:solidFill>
              <a:latin typeface="Gill Sans"/>
              <a:ea typeface="Gill Sans"/>
              <a:cs typeface="Gill Sans"/>
              <a:sym typeface="Gill Sans"/>
            </a:endParaRPr>
          </a:p>
          <a:p>
            <a:pPr indent="-285750" lvl="0" marL="285750" marR="0" rtl="0" algn="l">
              <a:spcBef>
                <a:spcPts val="0"/>
              </a:spcBef>
              <a:spcAft>
                <a:spcPts val="0"/>
              </a:spcAft>
              <a:buClr>
                <a:srgbClr val="1F2937"/>
              </a:buClr>
              <a:buSzPts val="1700"/>
              <a:buFont typeface="Arial"/>
              <a:buChar char="•"/>
            </a:pPr>
            <a:r>
              <a:rPr lang="en-US" sz="1700">
                <a:solidFill>
                  <a:srgbClr val="1F2937"/>
                </a:solidFill>
                <a:latin typeface="Gill Sans"/>
                <a:ea typeface="Gill Sans"/>
                <a:cs typeface="Gill Sans"/>
                <a:sym typeface="Gill Sans"/>
              </a:rPr>
              <a:t>Prudential</a:t>
            </a:r>
            <a:endParaRPr sz="1700">
              <a:solidFill>
                <a:schemeClr val="dk1"/>
              </a:solidFill>
              <a:latin typeface="Gill Sans"/>
              <a:ea typeface="Gill Sans"/>
              <a:cs typeface="Gill Sans"/>
              <a:sym typeface="Gill Sans"/>
            </a:endParaRPr>
          </a:p>
          <a:p>
            <a:pPr indent="-285750" lvl="0" marL="285750" marR="0" rtl="0" algn="l">
              <a:spcBef>
                <a:spcPts val="0"/>
              </a:spcBef>
              <a:spcAft>
                <a:spcPts val="0"/>
              </a:spcAft>
              <a:buClr>
                <a:srgbClr val="1F2937"/>
              </a:buClr>
              <a:buSzPts val="1700"/>
              <a:buFont typeface="Arial"/>
              <a:buChar char="•"/>
            </a:pPr>
            <a:r>
              <a:rPr lang="en-US" sz="1700">
                <a:solidFill>
                  <a:srgbClr val="1F2937"/>
                </a:solidFill>
                <a:latin typeface="Gill Sans"/>
                <a:ea typeface="Gill Sans"/>
                <a:cs typeface="Gill Sans"/>
                <a:sym typeface="Gill Sans"/>
              </a:rPr>
              <a:t>Company comparisons</a:t>
            </a:r>
            <a:endParaRPr/>
          </a:p>
          <a:p>
            <a:pPr indent="-285750" lvl="0" marL="285750" marR="0" rtl="0" algn="l">
              <a:spcBef>
                <a:spcPts val="0"/>
              </a:spcBef>
              <a:spcAft>
                <a:spcPts val="0"/>
              </a:spcAft>
              <a:buClr>
                <a:srgbClr val="1F2937"/>
              </a:buClr>
              <a:buSzPts val="1700"/>
              <a:buFont typeface="Arial"/>
              <a:buChar char="•"/>
            </a:pPr>
            <a:r>
              <a:rPr lang="en-US" sz="1700">
                <a:solidFill>
                  <a:srgbClr val="1F2937"/>
                </a:solidFill>
                <a:latin typeface="Gill Sans"/>
                <a:ea typeface="Gill Sans"/>
                <a:cs typeface="Gill Sans"/>
                <a:sym typeface="Gill Sans"/>
              </a:rPr>
              <a:t>Military Insurance</a:t>
            </a:r>
            <a:endParaRPr sz="1700">
              <a:solidFill>
                <a:srgbClr val="1F2937"/>
              </a:solidFill>
              <a:latin typeface="Gill Sans"/>
              <a:ea typeface="Gill Sans"/>
              <a:cs typeface="Gill Sans"/>
              <a:sym typeface="Gill Sans"/>
            </a:endParaRPr>
          </a:p>
          <a:p>
            <a:pPr indent="-285750" lvl="0" marL="285750" marR="0" rtl="0" algn="l">
              <a:spcBef>
                <a:spcPts val="0"/>
              </a:spcBef>
              <a:spcAft>
                <a:spcPts val="0"/>
              </a:spcAft>
              <a:buClr>
                <a:srgbClr val="1F2937"/>
              </a:buClr>
              <a:buSzPts val="1700"/>
              <a:buFont typeface="Gill Sans"/>
              <a:buChar char="•"/>
            </a:pPr>
            <a:r>
              <a:rPr lang="en-US" sz="1700">
                <a:solidFill>
                  <a:srgbClr val="1F2937"/>
                </a:solidFill>
                <a:latin typeface="Gill Sans"/>
                <a:ea typeface="Gill Sans"/>
                <a:cs typeface="Gill Sans"/>
                <a:sym typeface="Gill Sans"/>
              </a:rPr>
              <a:t>Insurance Provider comparison</a:t>
            </a:r>
            <a:endParaRPr sz="1700">
              <a:solidFill>
                <a:srgbClr val="1F2937"/>
              </a:solidFill>
              <a:latin typeface="Gill Sans"/>
              <a:ea typeface="Gill Sans"/>
              <a:cs typeface="Gill Sans"/>
              <a:sym typeface="Gill Sans"/>
            </a:endParaRPr>
          </a:p>
        </p:txBody>
      </p:sp>
      <p:sp>
        <p:nvSpPr>
          <p:cNvPr id="172" name="Google Shape;172;p17"/>
          <p:cNvSpPr/>
          <p:nvPr/>
        </p:nvSpPr>
        <p:spPr>
          <a:xfrm>
            <a:off x="2331720" y="6144768"/>
            <a:ext cx="74980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500"/>
              <a:buFont typeface="Gill Sans"/>
              <a:buNone/>
            </a:pPr>
            <a:r>
              <a:t/>
            </a:r>
            <a:endParaRPr sz="1500">
              <a:solidFill>
                <a:schemeClr val="dk1"/>
              </a:solidFill>
              <a:latin typeface="Gill Sans"/>
              <a:ea typeface="Gill Sans"/>
              <a:cs typeface="Gill Sans"/>
              <a:sym typeface="Gill Sans"/>
            </a:endParaRPr>
          </a:p>
        </p:txBody>
      </p:sp>
      <p:sp>
        <p:nvSpPr>
          <p:cNvPr id="173" name="Google Shape;173;p17"/>
          <p:cNvSpPr/>
          <p:nvPr/>
        </p:nvSpPr>
        <p:spPr>
          <a:xfrm>
            <a:off x="502920" y="6592824"/>
            <a:ext cx="50292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8291"/>
              </a:buClr>
              <a:buSzPts val="750"/>
              <a:buFont typeface="Gill Sans"/>
              <a:buNone/>
            </a:pPr>
            <a:r>
              <a:rPr lang="en-US" sz="750">
                <a:solidFill>
                  <a:srgbClr val="7A8291"/>
                </a:solidFill>
                <a:latin typeface="Gill Sans"/>
                <a:ea typeface="Gill Sans"/>
                <a:cs typeface="Gill Sans"/>
                <a:sym typeface="Gill Sans"/>
              </a:rPr>
              <a:t>Life Insurance AI Advice Benchmark</a:t>
            </a:r>
            <a:endParaRPr sz="750">
              <a:solidFill>
                <a:schemeClr val="dk1"/>
              </a:solidFill>
              <a:latin typeface="Gill Sans"/>
              <a:ea typeface="Gill Sans"/>
              <a:cs typeface="Gill Sans"/>
              <a:sym typeface="Gill Sans"/>
            </a:endParaRPr>
          </a:p>
        </p:txBody>
      </p:sp>
      <p:sp>
        <p:nvSpPr>
          <p:cNvPr id="174" name="Google Shape;174;p17"/>
          <p:cNvSpPr txBox="1"/>
          <p:nvPr>
            <p:ph idx="4294967295" type="sldNum"/>
          </p:nvPr>
        </p:nvSpPr>
        <p:spPr>
          <a:xfrm>
            <a:off x="11612880" y="6601968"/>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6B7280"/>
                </a:solidFill>
                <a:latin typeface="Arial"/>
                <a:ea typeface="Arial"/>
                <a:cs typeface="Arial"/>
                <a:sym typeface="Arial"/>
              </a:rPr>
              <a:t>‹#›</a:t>
            </a:fld>
            <a:endParaRPr sz="800">
              <a:solidFill>
                <a:srgbClr val="6B728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8"/>
          <p:cNvSpPr/>
          <p:nvPr/>
        </p:nvSpPr>
        <p:spPr>
          <a:xfrm>
            <a:off x="502920" y="292608"/>
            <a:ext cx="110643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006A"/>
              </a:buClr>
              <a:buSzPts val="2800"/>
              <a:buFont typeface="Play"/>
              <a:buNone/>
            </a:pPr>
            <a:r>
              <a:rPr b="1" lang="en-US" sz="2800">
                <a:solidFill>
                  <a:srgbClr val="07006A"/>
                </a:solidFill>
                <a:latin typeface="Play"/>
                <a:ea typeface="Play"/>
                <a:cs typeface="Play"/>
                <a:sym typeface="Play"/>
              </a:rPr>
              <a:t>The Models</a:t>
            </a:r>
            <a:endParaRPr sz="2800">
              <a:solidFill>
                <a:schemeClr val="dk1"/>
              </a:solidFill>
              <a:latin typeface="Gill Sans"/>
              <a:ea typeface="Gill Sans"/>
              <a:cs typeface="Gill Sans"/>
              <a:sym typeface="Gill Sans"/>
            </a:endParaRPr>
          </a:p>
        </p:txBody>
      </p:sp>
      <p:sp>
        <p:nvSpPr>
          <p:cNvPr id="181" name="Google Shape;181;p18"/>
          <p:cNvSpPr/>
          <p:nvPr/>
        </p:nvSpPr>
        <p:spPr>
          <a:xfrm>
            <a:off x="512064" y="832104"/>
            <a:ext cx="1051500" cy="63900"/>
          </a:xfrm>
          <a:prstGeom prst="rect">
            <a:avLst/>
          </a:prstGeom>
          <a:solidFill>
            <a:srgbClr val="F15A24"/>
          </a:solidFill>
          <a:ln cap="flat" cmpd="sng" w="12700">
            <a:solidFill>
              <a:srgbClr val="F15A2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82" name="Google Shape;182;p18"/>
          <p:cNvSpPr/>
          <p:nvPr/>
        </p:nvSpPr>
        <p:spPr>
          <a:xfrm>
            <a:off x="502920" y="6592824"/>
            <a:ext cx="5029200" cy="13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8291"/>
              </a:buClr>
              <a:buSzPts val="750"/>
              <a:buFont typeface="Gill Sans"/>
              <a:buNone/>
            </a:pPr>
            <a:r>
              <a:rPr lang="en-US" sz="750">
                <a:solidFill>
                  <a:srgbClr val="7A8291"/>
                </a:solidFill>
                <a:latin typeface="Gill Sans"/>
                <a:ea typeface="Gill Sans"/>
                <a:cs typeface="Gill Sans"/>
                <a:sym typeface="Gill Sans"/>
              </a:rPr>
              <a:t>Life Insurance AI Advice Benchmark</a:t>
            </a:r>
            <a:endParaRPr sz="750">
              <a:solidFill>
                <a:schemeClr val="dk1"/>
              </a:solidFill>
              <a:latin typeface="Gill Sans"/>
              <a:ea typeface="Gill Sans"/>
              <a:cs typeface="Gill Sans"/>
              <a:sym typeface="Gill Sans"/>
            </a:endParaRPr>
          </a:p>
        </p:txBody>
      </p:sp>
      <p:sp>
        <p:nvSpPr>
          <p:cNvPr id="183" name="Google Shape;183;p18"/>
          <p:cNvSpPr txBox="1"/>
          <p:nvPr>
            <p:ph idx="4294967295" type="sldNum"/>
          </p:nvPr>
        </p:nvSpPr>
        <p:spPr>
          <a:xfrm>
            <a:off x="11612880" y="6601968"/>
            <a:ext cx="8001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6B7280"/>
                </a:solidFill>
                <a:latin typeface="Arial"/>
                <a:ea typeface="Arial"/>
                <a:cs typeface="Arial"/>
                <a:sym typeface="Arial"/>
              </a:rPr>
              <a:t>‹#›</a:t>
            </a:fld>
            <a:endParaRPr sz="800">
              <a:solidFill>
                <a:srgbClr val="6B7280"/>
              </a:solidFill>
              <a:latin typeface="Arial"/>
              <a:ea typeface="Arial"/>
              <a:cs typeface="Arial"/>
              <a:sym typeface="Arial"/>
            </a:endParaRPr>
          </a:p>
        </p:txBody>
      </p:sp>
      <p:graphicFrame>
        <p:nvGraphicFramePr>
          <p:cNvPr id="184" name="Google Shape;184;p18"/>
          <p:cNvGraphicFramePr/>
          <p:nvPr/>
        </p:nvGraphicFramePr>
        <p:xfrm>
          <a:off x="952500" y="1905000"/>
          <a:ext cx="3000000" cy="3000000"/>
        </p:xfrm>
        <a:graphic>
          <a:graphicData uri="http://schemas.openxmlformats.org/drawingml/2006/table">
            <a:tbl>
              <a:tblPr>
                <a:noFill/>
                <a:tableStyleId>{C55447FE-BC30-4ACA-B035-155DD77227F6}</a:tableStyleId>
              </a:tblPr>
              <a:tblGrid>
                <a:gridCol w="1724775"/>
                <a:gridCol w="1985925"/>
                <a:gridCol w="1463625"/>
                <a:gridCol w="1724775"/>
                <a:gridCol w="1724775"/>
                <a:gridCol w="1724775"/>
              </a:tblGrid>
              <a:tr h="381000">
                <a:tc>
                  <a:txBody>
                    <a:bodyPr/>
                    <a:lstStyle/>
                    <a:p>
                      <a:pPr indent="0" lvl="0" marL="0" rtl="0" algn="l">
                        <a:spcBef>
                          <a:spcPts val="0"/>
                        </a:spcBef>
                        <a:spcAft>
                          <a:spcPts val="0"/>
                        </a:spcAft>
                        <a:buNone/>
                      </a:pPr>
                      <a:r>
                        <a:t/>
                      </a:r>
                      <a:endParaRPr>
                        <a:solidFill>
                          <a:schemeClr val="dk1"/>
                        </a:solidFill>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US">
                          <a:solidFill>
                            <a:schemeClr val="dk1"/>
                          </a:solidFill>
                          <a:latin typeface="Gill Sans"/>
                          <a:ea typeface="Gill Sans"/>
                          <a:cs typeface="Gill Sans"/>
                          <a:sym typeface="Gill Sans"/>
                        </a:rPr>
                        <a:t>qwen3-vl-32b-instruct </a:t>
                      </a:r>
                      <a:endParaRPr b="1">
                        <a:solidFill>
                          <a:schemeClr val="dk1"/>
                        </a:solidFill>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35714"/>
                        </a:lnSpc>
                        <a:spcBef>
                          <a:spcPts val="0"/>
                        </a:spcBef>
                        <a:spcAft>
                          <a:spcPts val="0"/>
                        </a:spcAft>
                        <a:buClr>
                          <a:schemeClr val="dk1"/>
                        </a:buClr>
                        <a:buSzPts val="1100"/>
                        <a:buFont typeface="Arial"/>
                        <a:buNone/>
                      </a:pPr>
                      <a:r>
                        <a:rPr b="1" lang="en-US">
                          <a:solidFill>
                            <a:schemeClr val="dk1"/>
                          </a:solidFill>
                          <a:latin typeface="Gill Sans"/>
                          <a:ea typeface="Gill Sans"/>
                          <a:cs typeface="Gill Sans"/>
                          <a:sym typeface="Gill Sans"/>
                        </a:rPr>
                        <a:t>Mistral-7b</a:t>
                      </a:r>
                      <a:endParaRPr b="1">
                        <a:solidFill>
                          <a:schemeClr val="dk1"/>
                        </a:solidFill>
                        <a:latin typeface="Gill Sans"/>
                        <a:ea typeface="Gill Sans"/>
                        <a:cs typeface="Gill Sans"/>
                        <a:sym typeface="Gill Sans"/>
                      </a:endParaRPr>
                    </a:p>
                    <a:p>
                      <a:pPr indent="0" lvl="0" marL="0" rtl="0" algn="ctr">
                        <a:spcBef>
                          <a:spcPts val="0"/>
                        </a:spcBef>
                        <a:spcAft>
                          <a:spcPts val="0"/>
                        </a:spcAft>
                        <a:buNone/>
                      </a:pPr>
                      <a:r>
                        <a:t/>
                      </a:r>
                      <a:endParaRPr b="1">
                        <a:solidFill>
                          <a:schemeClr val="dk1"/>
                        </a:solidFill>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35714"/>
                        </a:lnSpc>
                        <a:spcBef>
                          <a:spcPts val="0"/>
                        </a:spcBef>
                        <a:spcAft>
                          <a:spcPts val="0"/>
                        </a:spcAft>
                        <a:buClr>
                          <a:schemeClr val="dk1"/>
                        </a:buClr>
                        <a:buSzPts val="1100"/>
                        <a:buFont typeface="Arial"/>
                        <a:buNone/>
                      </a:pPr>
                      <a:r>
                        <a:rPr b="1" lang="en-US">
                          <a:solidFill>
                            <a:schemeClr val="dk1"/>
                          </a:solidFill>
                          <a:latin typeface="Gill Sans"/>
                          <a:ea typeface="Gill Sans"/>
                          <a:cs typeface="Gill Sans"/>
                          <a:sym typeface="Gill Sans"/>
                        </a:rPr>
                        <a:t>Llama3.1:8b</a:t>
                      </a:r>
                      <a:endParaRPr b="1">
                        <a:solidFill>
                          <a:schemeClr val="dk1"/>
                        </a:solidFill>
                        <a:latin typeface="Gill Sans"/>
                        <a:ea typeface="Gill Sans"/>
                        <a:cs typeface="Gill Sans"/>
                        <a:sym typeface="Gill Sans"/>
                      </a:endParaRPr>
                    </a:p>
                    <a:p>
                      <a:pPr indent="0" lvl="0" marL="0" rtl="0" algn="ctr">
                        <a:spcBef>
                          <a:spcPts val="0"/>
                        </a:spcBef>
                        <a:spcAft>
                          <a:spcPts val="0"/>
                        </a:spcAft>
                        <a:buNone/>
                      </a:pPr>
                      <a:r>
                        <a:t/>
                      </a:r>
                      <a:endParaRPr b="1">
                        <a:solidFill>
                          <a:schemeClr val="dk1"/>
                        </a:solidFill>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US">
                          <a:solidFill>
                            <a:schemeClr val="dk1"/>
                          </a:solidFill>
                          <a:latin typeface="Gill Sans"/>
                          <a:ea typeface="Gill Sans"/>
                          <a:cs typeface="Gill Sans"/>
                          <a:sym typeface="Gill Sans"/>
                        </a:rPr>
                        <a:t>gpt-5.4-mini </a:t>
                      </a:r>
                      <a:endParaRPr b="1">
                        <a:solidFill>
                          <a:schemeClr val="dk1"/>
                        </a:solidFill>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US">
                          <a:solidFill>
                            <a:schemeClr val="dk1"/>
                          </a:solidFill>
                          <a:latin typeface="Gill Sans"/>
                          <a:ea typeface="Gill Sans"/>
                          <a:cs typeface="Gill Sans"/>
                          <a:sym typeface="Gill Sans"/>
                        </a:rPr>
                        <a:t>gpt-5.4-nano</a:t>
                      </a:r>
                      <a:endParaRPr b="1">
                        <a:solidFill>
                          <a:schemeClr val="dk1"/>
                        </a:solidFill>
                        <a:latin typeface="Gill Sans"/>
                        <a:ea typeface="Gill Sans"/>
                        <a:cs typeface="Gill Sans"/>
                        <a:sym typeface="Gill Sans"/>
                      </a:endParaRPr>
                    </a:p>
                    <a:p>
                      <a:pPr indent="0" lvl="0" marL="0" rtl="0" algn="ctr">
                        <a:spcBef>
                          <a:spcPts val="0"/>
                        </a:spcBef>
                        <a:spcAft>
                          <a:spcPts val="0"/>
                        </a:spcAft>
                        <a:buNone/>
                      </a:pPr>
                      <a:r>
                        <a:rPr b="1" lang="en-US">
                          <a:solidFill>
                            <a:schemeClr val="dk1"/>
                          </a:solidFill>
                          <a:latin typeface="Gill Sans"/>
                          <a:ea typeface="Gill Sans"/>
                          <a:cs typeface="Gill Sans"/>
                          <a:sym typeface="Gill Sans"/>
                        </a:rPr>
                        <a:t>(Judge)</a:t>
                      </a:r>
                      <a:endParaRPr b="1">
                        <a:solidFill>
                          <a:schemeClr val="dk1"/>
                        </a:solidFill>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81000">
                <a:tc>
                  <a:txBody>
                    <a:bodyPr/>
                    <a:lstStyle/>
                    <a:p>
                      <a:pPr indent="0" lvl="0" marL="0" rtl="0" algn="l">
                        <a:spcBef>
                          <a:spcPts val="0"/>
                        </a:spcBef>
                        <a:spcAft>
                          <a:spcPts val="0"/>
                        </a:spcAft>
                        <a:buNone/>
                      </a:pPr>
                      <a:r>
                        <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81000">
                <a:tc>
                  <a:txBody>
                    <a:bodyPr/>
                    <a:lstStyle/>
                    <a:p>
                      <a:pPr indent="0" lvl="0" marL="0" rtl="0" algn="l">
                        <a:spcBef>
                          <a:spcPts val="0"/>
                        </a:spcBef>
                        <a:spcAft>
                          <a:spcPts val="0"/>
                        </a:spcAft>
                        <a:buNone/>
                      </a:pPr>
                      <a:r>
                        <a:rPr lang="en-US">
                          <a:latin typeface="Gill Sans"/>
                          <a:ea typeface="Gill Sans"/>
                          <a:cs typeface="Gill Sans"/>
                          <a:sym typeface="Gill Sans"/>
                        </a:rPr>
                        <a:t># Tokens</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a:latin typeface="Gill Sans"/>
                          <a:ea typeface="Gill Sans"/>
                          <a:cs typeface="Gill Sans"/>
                          <a:sym typeface="Gill Sans"/>
                        </a:rPr>
                        <a:t>512</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a:latin typeface="Gill Sans"/>
                          <a:ea typeface="Gill Sans"/>
                          <a:cs typeface="Gill Sans"/>
                          <a:sym typeface="Gill Sans"/>
                        </a:rPr>
                        <a:t>512</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a:latin typeface="Gill Sans"/>
                          <a:ea typeface="Gill Sans"/>
                          <a:cs typeface="Gill Sans"/>
                          <a:sym typeface="Gill Sans"/>
                        </a:rPr>
                        <a:t>512</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b="1" lang="en-US">
                          <a:solidFill>
                            <a:srgbClr val="FF0000"/>
                          </a:solidFill>
                          <a:highlight>
                            <a:schemeClr val="dk2"/>
                          </a:highlight>
                          <a:latin typeface="Gill Sans"/>
                          <a:ea typeface="Gill Sans"/>
                          <a:cs typeface="Gill Sans"/>
                          <a:sym typeface="Gill Sans"/>
                        </a:rPr>
                        <a:t>2048</a:t>
                      </a:r>
                      <a:endParaRPr b="1">
                        <a:solidFill>
                          <a:srgbClr val="FF0000"/>
                        </a:solidFill>
                        <a:highlight>
                          <a:schemeClr val="dk2"/>
                        </a:highlight>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a:latin typeface="Gill Sans"/>
                          <a:ea typeface="Gill Sans"/>
                          <a:cs typeface="Gill Sans"/>
                          <a:sym typeface="Gill Sans"/>
                        </a:rPr>
                        <a:t>512</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81000">
                <a:tc>
                  <a:txBody>
                    <a:bodyPr/>
                    <a:lstStyle/>
                    <a:p>
                      <a:pPr indent="0" lvl="0" marL="0" rtl="0" algn="l">
                        <a:spcBef>
                          <a:spcPts val="0"/>
                        </a:spcBef>
                        <a:spcAft>
                          <a:spcPts val="0"/>
                        </a:spcAft>
                        <a:buNone/>
                      </a:pPr>
                      <a:r>
                        <a:rPr lang="en-US">
                          <a:latin typeface="Gill Sans"/>
                          <a:ea typeface="Gill Sans"/>
                          <a:cs typeface="Gill Sans"/>
                          <a:sym typeface="Gill Sans"/>
                        </a:rPr>
                        <a:t>Temperature</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a:latin typeface="Gill Sans"/>
                          <a:ea typeface="Gill Sans"/>
                          <a:cs typeface="Gill Sans"/>
                          <a:sym typeface="Gill Sans"/>
                        </a:rPr>
                        <a:t>0.3</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a:latin typeface="Gill Sans"/>
                          <a:ea typeface="Gill Sans"/>
                          <a:cs typeface="Gill Sans"/>
                          <a:sym typeface="Gill Sans"/>
                        </a:rPr>
                        <a:t>0.3</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a:latin typeface="Gill Sans"/>
                          <a:ea typeface="Gill Sans"/>
                          <a:cs typeface="Gill Sans"/>
                          <a:sym typeface="Gill Sans"/>
                        </a:rPr>
                        <a:t>0.3</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a:latin typeface="Gill Sans"/>
                          <a:ea typeface="Gill Sans"/>
                          <a:cs typeface="Gill Sans"/>
                          <a:sym typeface="Gill Sans"/>
                        </a:rPr>
                        <a:t>0.3</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a:latin typeface="Gill Sans"/>
                          <a:ea typeface="Gill Sans"/>
                          <a:cs typeface="Gill Sans"/>
                          <a:sym typeface="Gill Sans"/>
                        </a:rPr>
                        <a:t>0.3</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81000">
                <a:tc>
                  <a:txBody>
                    <a:bodyPr/>
                    <a:lstStyle/>
                    <a:p>
                      <a:pPr indent="0" lvl="0" marL="0" rtl="0" algn="l">
                        <a:spcBef>
                          <a:spcPts val="0"/>
                        </a:spcBef>
                        <a:spcAft>
                          <a:spcPts val="0"/>
                        </a:spcAft>
                        <a:buNone/>
                      </a:pPr>
                      <a:r>
                        <a:rPr lang="en-US">
                          <a:latin typeface="Gill Sans"/>
                          <a:ea typeface="Gill Sans"/>
                          <a:cs typeface="Gill Sans"/>
                          <a:sym typeface="Gill Sans"/>
                        </a:rPr>
                        <a:t># Params</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a:latin typeface="Gill Sans"/>
                          <a:ea typeface="Gill Sans"/>
                          <a:cs typeface="Gill Sans"/>
                          <a:sym typeface="Gill Sans"/>
                        </a:rPr>
                        <a:t>33B</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a:latin typeface="Gill Sans"/>
                          <a:ea typeface="Gill Sans"/>
                          <a:cs typeface="Gill Sans"/>
                          <a:sym typeface="Gill Sans"/>
                        </a:rPr>
                        <a:t>7B</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a:latin typeface="Gill Sans"/>
                          <a:ea typeface="Gill Sans"/>
                          <a:cs typeface="Gill Sans"/>
                          <a:sym typeface="Gill Sans"/>
                        </a:rPr>
                        <a:t>8B</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a:latin typeface="Gill Sans"/>
                          <a:ea typeface="Gill Sans"/>
                          <a:cs typeface="Gill Sans"/>
                          <a:sym typeface="Gill Sans"/>
                        </a:rPr>
                        <a:t>N/A</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a:latin typeface="Gill Sans"/>
                          <a:ea typeface="Gill Sans"/>
                          <a:cs typeface="Gill Sans"/>
                          <a:sym typeface="Gill Sans"/>
                        </a:rPr>
                        <a:t>N/A</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81000">
                <a:tc>
                  <a:txBody>
                    <a:bodyPr/>
                    <a:lstStyle/>
                    <a:p>
                      <a:pPr indent="0" lvl="0" marL="0" rtl="0" algn="l">
                        <a:spcBef>
                          <a:spcPts val="0"/>
                        </a:spcBef>
                        <a:spcAft>
                          <a:spcPts val="0"/>
                        </a:spcAft>
                        <a:buNone/>
                      </a:pPr>
                      <a:r>
                        <a:rPr lang="en-US">
                          <a:latin typeface="Gill Sans"/>
                          <a:ea typeface="Gill Sans"/>
                          <a:cs typeface="Gill Sans"/>
                          <a:sym typeface="Gill Sans"/>
                        </a:rPr>
                        <a:t>Knowledge Cutoff</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a:latin typeface="Gill Sans"/>
                          <a:ea typeface="Gill Sans"/>
                          <a:cs typeface="Gill Sans"/>
                          <a:sym typeface="Gill Sans"/>
                        </a:rPr>
                        <a:t>Early 2025</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a:latin typeface="Gill Sans"/>
                          <a:ea typeface="Gill Sans"/>
                          <a:cs typeface="Gill Sans"/>
                          <a:sym typeface="Gill Sans"/>
                        </a:rPr>
                        <a:t>09/2023</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a:latin typeface="Gill Sans"/>
                          <a:ea typeface="Gill Sans"/>
                          <a:cs typeface="Gill Sans"/>
                          <a:sym typeface="Gill Sans"/>
                        </a:rPr>
                        <a:t>12/2023</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a:latin typeface="Gill Sans"/>
                          <a:ea typeface="Gill Sans"/>
                          <a:cs typeface="Gill Sans"/>
                          <a:sym typeface="Gill Sans"/>
                        </a:rPr>
                        <a:t>08/2025</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a:latin typeface="Gill Sans"/>
                          <a:ea typeface="Gill Sans"/>
                          <a:cs typeface="Gill Sans"/>
                          <a:sym typeface="Gill Sans"/>
                        </a:rPr>
                        <a:t>08/2025</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788850">
                <a:tc>
                  <a:txBody>
                    <a:bodyPr/>
                    <a:lstStyle/>
                    <a:p>
                      <a:pPr indent="0" lvl="0" marL="0" rtl="0" algn="l">
                        <a:spcBef>
                          <a:spcPts val="0"/>
                        </a:spcBef>
                        <a:spcAft>
                          <a:spcPts val="0"/>
                        </a:spcAft>
                        <a:buNone/>
                      </a:pPr>
                      <a:r>
                        <a:rPr lang="en-US">
                          <a:latin typeface="Gill Sans"/>
                          <a:ea typeface="Gill Sans"/>
                          <a:cs typeface="Gill Sans"/>
                          <a:sym typeface="Gill Sans"/>
                        </a:rPr>
                        <a:t>Notes</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a:latin typeface="Gill Sans"/>
                          <a:ea typeface="Gill Sans"/>
                          <a:cs typeface="Gill Sans"/>
                          <a:sym typeface="Gill Sans"/>
                        </a:rPr>
                        <a:t>Uses reasoning Tokens; can do online research.</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a:latin typeface="Gill Sans"/>
                          <a:ea typeface="Gill Sans"/>
                          <a:cs typeface="Gill Sans"/>
                          <a:sym typeface="Gill Sans"/>
                        </a:rPr>
                        <a:t>Good for handling simple tasks in bulk.</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81000">
                <a:tc>
                  <a:txBody>
                    <a:bodyPr/>
                    <a:lstStyle/>
                    <a:p>
                      <a:pPr indent="0" lvl="0" marL="0" rtl="0" algn="l">
                        <a:spcBef>
                          <a:spcPts val="0"/>
                        </a:spcBef>
                        <a:spcAft>
                          <a:spcPts val="0"/>
                        </a:spcAft>
                        <a:buNone/>
                      </a:pPr>
                      <a:r>
                        <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latin typeface="Gill Sans"/>
                        <a:ea typeface="Gill Sans"/>
                        <a:cs typeface="Gill Sans"/>
                        <a:sym typeface="Gill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9"/>
          <p:cNvSpPr/>
          <p:nvPr/>
        </p:nvSpPr>
        <p:spPr>
          <a:xfrm>
            <a:off x="502920" y="292608"/>
            <a:ext cx="110643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006A"/>
              </a:buClr>
              <a:buSzPts val="2800"/>
              <a:buFont typeface="Play"/>
              <a:buNone/>
            </a:pPr>
            <a:r>
              <a:rPr b="1" lang="en-US" sz="2800">
                <a:solidFill>
                  <a:srgbClr val="07006A"/>
                </a:solidFill>
                <a:latin typeface="Play"/>
                <a:ea typeface="Play"/>
                <a:cs typeface="Play"/>
                <a:sym typeface="Play"/>
              </a:rPr>
              <a:t>System prompts</a:t>
            </a:r>
            <a:endParaRPr sz="2800">
              <a:solidFill>
                <a:schemeClr val="dk1"/>
              </a:solidFill>
              <a:latin typeface="Gill Sans"/>
              <a:ea typeface="Gill Sans"/>
              <a:cs typeface="Gill Sans"/>
              <a:sym typeface="Gill Sans"/>
            </a:endParaRPr>
          </a:p>
        </p:txBody>
      </p:sp>
      <p:sp>
        <p:nvSpPr>
          <p:cNvPr id="191" name="Google Shape;191;p19"/>
          <p:cNvSpPr/>
          <p:nvPr/>
        </p:nvSpPr>
        <p:spPr>
          <a:xfrm>
            <a:off x="512064" y="832104"/>
            <a:ext cx="1051500" cy="63900"/>
          </a:xfrm>
          <a:prstGeom prst="rect">
            <a:avLst/>
          </a:prstGeom>
          <a:solidFill>
            <a:srgbClr val="F15A24"/>
          </a:solidFill>
          <a:ln cap="flat" cmpd="sng" w="12700">
            <a:solidFill>
              <a:srgbClr val="F15A2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92" name="Google Shape;192;p19"/>
          <p:cNvSpPr/>
          <p:nvPr/>
        </p:nvSpPr>
        <p:spPr>
          <a:xfrm>
            <a:off x="502920" y="6592824"/>
            <a:ext cx="5029200" cy="13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8291"/>
              </a:buClr>
              <a:buSzPts val="750"/>
              <a:buFont typeface="Gill Sans"/>
              <a:buNone/>
            </a:pPr>
            <a:r>
              <a:rPr lang="en-US" sz="750">
                <a:solidFill>
                  <a:srgbClr val="7A8291"/>
                </a:solidFill>
                <a:latin typeface="Gill Sans"/>
                <a:ea typeface="Gill Sans"/>
                <a:cs typeface="Gill Sans"/>
                <a:sym typeface="Gill Sans"/>
              </a:rPr>
              <a:t>Life Insurance AI Advice Benchmark</a:t>
            </a:r>
            <a:endParaRPr sz="750">
              <a:solidFill>
                <a:schemeClr val="dk1"/>
              </a:solidFill>
              <a:latin typeface="Gill Sans"/>
              <a:ea typeface="Gill Sans"/>
              <a:cs typeface="Gill Sans"/>
              <a:sym typeface="Gill Sans"/>
            </a:endParaRPr>
          </a:p>
        </p:txBody>
      </p:sp>
      <p:sp>
        <p:nvSpPr>
          <p:cNvPr id="193" name="Google Shape;193;p19"/>
          <p:cNvSpPr txBox="1"/>
          <p:nvPr>
            <p:ph idx="4294967295" type="sldNum"/>
          </p:nvPr>
        </p:nvSpPr>
        <p:spPr>
          <a:xfrm>
            <a:off x="11612880" y="6601968"/>
            <a:ext cx="8001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6B7280"/>
                </a:solidFill>
                <a:latin typeface="Arial"/>
                <a:ea typeface="Arial"/>
                <a:cs typeface="Arial"/>
                <a:sym typeface="Arial"/>
              </a:rPr>
              <a:t>‹#›</a:t>
            </a:fld>
            <a:endParaRPr sz="800">
              <a:solidFill>
                <a:srgbClr val="6B7280"/>
              </a:solidFill>
              <a:latin typeface="Arial"/>
              <a:ea typeface="Arial"/>
              <a:cs typeface="Arial"/>
              <a:sym typeface="Arial"/>
            </a:endParaRPr>
          </a:p>
        </p:txBody>
      </p:sp>
      <p:pic>
        <p:nvPicPr>
          <p:cNvPr id="194" name="Google Shape;194;p19"/>
          <p:cNvPicPr preferRelativeResize="0"/>
          <p:nvPr/>
        </p:nvPicPr>
        <p:blipFill>
          <a:blip r:embed="rId3">
            <a:alphaModFix/>
          </a:blip>
          <a:stretch>
            <a:fillRect/>
          </a:stretch>
        </p:blipFill>
        <p:spPr>
          <a:xfrm>
            <a:off x="502925" y="1023900"/>
            <a:ext cx="11169300" cy="47978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0"/>
          <p:cNvSpPr/>
          <p:nvPr/>
        </p:nvSpPr>
        <p:spPr>
          <a:xfrm>
            <a:off x="502920" y="292608"/>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006A"/>
              </a:buClr>
              <a:buSzPts val="2800"/>
              <a:buFont typeface="Play"/>
              <a:buNone/>
            </a:pPr>
            <a:r>
              <a:rPr b="1" lang="en-US" sz="2800">
                <a:solidFill>
                  <a:srgbClr val="07006A"/>
                </a:solidFill>
                <a:latin typeface="Play"/>
                <a:ea typeface="Play"/>
                <a:cs typeface="Play"/>
                <a:sym typeface="Play"/>
              </a:rPr>
              <a:t>Evaluation pipeline</a:t>
            </a:r>
            <a:endParaRPr sz="2800">
              <a:solidFill>
                <a:schemeClr val="dk1"/>
              </a:solidFill>
              <a:latin typeface="Gill Sans"/>
              <a:ea typeface="Gill Sans"/>
              <a:cs typeface="Gill Sans"/>
              <a:sym typeface="Gill Sans"/>
            </a:endParaRPr>
          </a:p>
        </p:txBody>
      </p:sp>
      <p:sp>
        <p:nvSpPr>
          <p:cNvPr id="201" name="Google Shape;201;p20"/>
          <p:cNvSpPr/>
          <p:nvPr/>
        </p:nvSpPr>
        <p:spPr>
          <a:xfrm>
            <a:off x="512064" y="832104"/>
            <a:ext cx="1051560" cy="64008"/>
          </a:xfrm>
          <a:prstGeom prst="rect">
            <a:avLst/>
          </a:prstGeom>
          <a:solidFill>
            <a:srgbClr val="F15A24"/>
          </a:solidFill>
          <a:ln cap="flat" cmpd="sng" w="12700">
            <a:solidFill>
              <a:srgbClr val="F15A2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02" name="Google Shape;202;p20"/>
          <p:cNvSpPr/>
          <p:nvPr/>
        </p:nvSpPr>
        <p:spPr>
          <a:xfrm>
            <a:off x="502920" y="941832"/>
            <a:ext cx="987552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5"/>
              </a:buClr>
              <a:buSzPts val="1350"/>
              <a:buFont typeface="Gill Sans"/>
              <a:buNone/>
            </a:pPr>
            <a:r>
              <a:rPr lang="en-US" sz="1350">
                <a:solidFill>
                  <a:srgbClr val="5B6575"/>
                </a:solidFill>
                <a:latin typeface="Gill Sans"/>
                <a:ea typeface="Gill Sans"/>
                <a:cs typeface="Gill Sans"/>
                <a:sym typeface="Gill Sans"/>
              </a:rPr>
              <a:t>Model outputs were scored by an LLM judge and then checked against human annotation.</a:t>
            </a:r>
            <a:endParaRPr sz="1350">
              <a:solidFill>
                <a:schemeClr val="dk1"/>
              </a:solidFill>
              <a:latin typeface="Gill Sans"/>
              <a:ea typeface="Gill Sans"/>
              <a:cs typeface="Gill Sans"/>
              <a:sym typeface="Gill Sans"/>
            </a:endParaRPr>
          </a:p>
        </p:txBody>
      </p:sp>
      <p:cxnSp>
        <p:nvCxnSpPr>
          <p:cNvPr id="203" name="Google Shape;203;p20"/>
          <p:cNvCxnSpPr/>
          <p:nvPr/>
        </p:nvCxnSpPr>
        <p:spPr>
          <a:xfrm>
            <a:off x="2779776" y="2080260"/>
            <a:ext cx="82296" cy="0"/>
          </a:xfrm>
          <a:prstGeom prst="straightConnector1">
            <a:avLst/>
          </a:prstGeom>
          <a:noFill/>
          <a:ln cap="flat" cmpd="sng" w="17775">
            <a:solidFill>
              <a:srgbClr val="9AA3B7"/>
            </a:solidFill>
            <a:prstDash val="solid"/>
            <a:round/>
            <a:headEnd len="sm" w="sm" type="none"/>
            <a:tailEnd len="med" w="med" type="triangle"/>
          </a:ln>
        </p:spPr>
      </p:cxnSp>
      <p:cxnSp>
        <p:nvCxnSpPr>
          <p:cNvPr id="204" name="Google Shape;204;p20"/>
          <p:cNvCxnSpPr/>
          <p:nvPr/>
        </p:nvCxnSpPr>
        <p:spPr>
          <a:xfrm>
            <a:off x="4965192" y="2080260"/>
            <a:ext cx="82296" cy="0"/>
          </a:xfrm>
          <a:prstGeom prst="straightConnector1">
            <a:avLst/>
          </a:prstGeom>
          <a:noFill/>
          <a:ln cap="flat" cmpd="sng" w="17775">
            <a:solidFill>
              <a:srgbClr val="9AA3B7"/>
            </a:solidFill>
            <a:prstDash val="solid"/>
            <a:round/>
            <a:headEnd len="sm" w="sm" type="none"/>
            <a:tailEnd len="med" w="med" type="triangle"/>
          </a:ln>
        </p:spPr>
      </p:cxnSp>
      <p:cxnSp>
        <p:nvCxnSpPr>
          <p:cNvPr id="205" name="Google Shape;205;p20"/>
          <p:cNvCxnSpPr/>
          <p:nvPr/>
        </p:nvCxnSpPr>
        <p:spPr>
          <a:xfrm>
            <a:off x="7150608" y="2080260"/>
            <a:ext cx="82296" cy="0"/>
          </a:xfrm>
          <a:prstGeom prst="straightConnector1">
            <a:avLst/>
          </a:prstGeom>
          <a:noFill/>
          <a:ln cap="flat" cmpd="sng" w="17775">
            <a:solidFill>
              <a:srgbClr val="9AA3B7"/>
            </a:solidFill>
            <a:prstDash val="solid"/>
            <a:round/>
            <a:headEnd len="sm" w="sm" type="none"/>
            <a:tailEnd len="med" w="med" type="triangle"/>
          </a:ln>
        </p:spPr>
      </p:cxnSp>
      <p:cxnSp>
        <p:nvCxnSpPr>
          <p:cNvPr id="206" name="Google Shape;206;p20"/>
          <p:cNvCxnSpPr/>
          <p:nvPr/>
        </p:nvCxnSpPr>
        <p:spPr>
          <a:xfrm>
            <a:off x="9336024" y="2080260"/>
            <a:ext cx="82296" cy="0"/>
          </a:xfrm>
          <a:prstGeom prst="straightConnector1">
            <a:avLst/>
          </a:prstGeom>
          <a:noFill/>
          <a:ln cap="flat" cmpd="sng" w="17775">
            <a:solidFill>
              <a:srgbClr val="9AA3B7"/>
            </a:solidFill>
            <a:prstDash val="solid"/>
            <a:round/>
            <a:headEnd len="sm" w="sm" type="none"/>
            <a:tailEnd len="med" w="med" type="triangle"/>
          </a:ln>
        </p:spPr>
      </p:cxnSp>
      <p:sp>
        <p:nvSpPr>
          <p:cNvPr id="207" name="Google Shape;207;p20"/>
          <p:cNvSpPr/>
          <p:nvPr/>
        </p:nvSpPr>
        <p:spPr>
          <a:xfrm>
            <a:off x="713232" y="1508760"/>
            <a:ext cx="2029968" cy="1143000"/>
          </a:xfrm>
          <a:prstGeom prst="roundRect">
            <a:avLst>
              <a:gd fmla="val 10400" name="adj"/>
            </a:avLst>
          </a:prstGeom>
          <a:solidFill>
            <a:srgbClr val="FFFFFF"/>
          </a:solidFill>
          <a:ln cap="flat" cmpd="sng" w="13950">
            <a:solidFill>
              <a:srgbClr val="CCD2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08" name="Google Shape;208;p20"/>
          <p:cNvSpPr/>
          <p:nvPr/>
        </p:nvSpPr>
        <p:spPr>
          <a:xfrm>
            <a:off x="822960" y="1618488"/>
            <a:ext cx="32918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5A24"/>
              </a:buClr>
              <a:buSzPts val="1300"/>
              <a:buFont typeface="Gill Sans"/>
              <a:buNone/>
            </a:pPr>
            <a:r>
              <a:rPr b="1" lang="en-US" sz="1300">
                <a:solidFill>
                  <a:srgbClr val="F15A24"/>
                </a:solidFill>
                <a:latin typeface="Gill Sans"/>
                <a:ea typeface="Gill Sans"/>
                <a:cs typeface="Gill Sans"/>
                <a:sym typeface="Gill Sans"/>
              </a:rPr>
              <a:t>1</a:t>
            </a:r>
            <a:endParaRPr sz="1300">
              <a:solidFill>
                <a:schemeClr val="dk1"/>
              </a:solidFill>
              <a:latin typeface="Gill Sans"/>
              <a:ea typeface="Gill Sans"/>
              <a:cs typeface="Gill Sans"/>
              <a:sym typeface="Gill Sans"/>
            </a:endParaRPr>
          </a:p>
        </p:txBody>
      </p:sp>
      <p:sp>
        <p:nvSpPr>
          <p:cNvPr id="209" name="Google Shape;209;p20"/>
          <p:cNvSpPr/>
          <p:nvPr/>
        </p:nvSpPr>
        <p:spPr>
          <a:xfrm>
            <a:off x="850392" y="1965960"/>
            <a:ext cx="1755648" cy="50292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1F2937"/>
              </a:buClr>
              <a:buSzPts val="1250"/>
              <a:buFont typeface="Gill Sans"/>
              <a:buNone/>
            </a:pPr>
            <a:r>
              <a:rPr b="1" lang="en-US" sz="1250">
                <a:solidFill>
                  <a:srgbClr val="1F2937"/>
                </a:solidFill>
                <a:latin typeface="Gill Sans"/>
                <a:ea typeface="Gill Sans"/>
                <a:cs typeface="Gill Sans"/>
                <a:sym typeface="Gill Sans"/>
              </a:rPr>
              <a:t>Life insurance</a:t>
            </a:r>
            <a:endParaRPr sz="1250">
              <a:solidFill>
                <a:schemeClr val="dk1"/>
              </a:solidFill>
              <a:latin typeface="Gill Sans"/>
              <a:ea typeface="Gill Sans"/>
              <a:cs typeface="Gill Sans"/>
              <a:sym typeface="Gill Sans"/>
            </a:endParaRPr>
          </a:p>
          <a:p>
            <a:pPr indent="0" lvl="0" marL="0" marR="0" rtl="0" algn="ctr">
              <a:spcBef>
                <a:spcPts val="0"/>
              </a:spcBef>
              <a:spcAft>
                <a:spcPts val="0"/>
              </a:spcAft>
              <a:buClr>
                <a:srgbClr val="1F2937"/>
              </a:buClr>
              <a:buSzPts val="1250"/>
              <a:buFont typeface="Gill Sans"/>
              <a:buNone/>
            </a:pPr>
            <a:r>
              <a:rPr b="1" lang="en-US" sz="1250">
                <a:solidFill>
                  <a:srgbClr val="1F2937"/>
                </a:solidFill>
                <a:latin typeface="Gill Sans"/>
                <a:ea typeface="Gill Sans"/>
                <a:cs typeface="Gill Sans"/>
                <a:sym typeface="Gill Sans"/>
              </a:rPr>
              <a:t>question prompts</a:t>
            </a:r>
            <a:endParaRPr sz="1250">
              <a:solidFill>
                <a:schemeClr val="dk1"/>
              </a:solidFill>
              <a:latin typeface="Gill Sans"/>
              <a:ea typeface="Gill Sans"/>
              <a:cs typeface="Gill Sans"/>
              <a:sym typeface="Gill Sans"/>
            </a:endParaRPr>
          </a:p>
        </p:txBody>
      </p:sp>
      <p:sp>
        <p:nvSpPr>
          <p:cNvPr id="210" name="Google Shape;210;p20"/>
          <p:cNvSpPr/>
          <p:nvPr/>
        </p:nvSpPr>
        <p:spPr>
          <a:xfrm>
            <a:off x="2898648" y="1508760"/>
            <a:ext cx="2029968" cy="1143000"/>
          </a:xfrm>
          <a:prstGeom prst="roundRect">
            <a:avLst>
              <a:gd fmla="val 10400" name="adj"/>
            </a:avLst>
          </a:prstGeom>
          <a:solidFill>
            <a:srgbClr val="FFFFFF"/>
          </a:solidFill>
          <a:ln cap="flat" cmpd="sng" w="13950">
            <a:solidFill>
              <a:srgbClr val="CCD2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11" name="Google Shape;211;p20"/>
          <p:cNvSpPr/>
          <p:nvPr/>
        </p:nvSpPr>
        <p:spPr>
          <a:xfrm>
            <a:off x="3008376" y="1618488"/>
            <a:ext cx="32918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5A24"/>
              </a:buClr>
              <a:buSzPts val="1300"/>
              <a:buFont typeface="Gill Sans"/>
              <a:buNone/>
            </a:pPr>
            <a:r>
              <a:rPr b="1" lang="en-US" sz="1300">
                <a:solidFill>
                  <a:srgbClr val="F15A24"/>
                </a:solidFill>
                <a:latin typeface="Gill Sans"/>
                <a:ea typeface="Gill Sans"/>
                <a:cs typeface="Gill Sans"/>
                <a:sym typeface="Gill Sans"/>
              </a:rPr>
              <a:t>2</a:t>
            </a:r>
            <a:endParaRPr sz="1300">
              <a:solidFill>
                <a:schemeClr val="dk1"/>
              </a:solidFill>
              <a:latin typeface="Gill Sans"/>
              <a:ea typeface="Gill Sans"/>
              <a:cs typeface="Gill Sans"/>
              <a:sym typeface="Gill Sans"/>
            </a:endParaRPr>
          </a:p>
        </p:txBody>
      </p:sp>
      <p:sp>
        <p:nvSpPr>
          <p:cNvPr id="212" name="Google Shape;212;p20"/>
          <p:cNvSpPr/>
          <p:nvPr/>
        </p:nvSpPr>
        <p:spPr>
          <a:xfrm>
            <a:off x="3035808" y="1965960"/>
            <a:ext cx="1755648" cy="50292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1F2937"/>
              </a:buClr>
              <a:buSzPts val="1250"/>
              <a:buFont typeface="Gill Sans"/>
              <a:buNone/>
            </a:pPr>
            <a:r>
              <a:rPr b="1" lang="en-US" sz="1250">
                <a:solidFill>
                  <a:srgbClr val="1F2937"/>
                </a:solidFill>
                <a:latin typeface="Gill Sans"/>
                <a:ea typeface="Gill Sans"/>
                <a:cs typeface="Gill Sans"/>
                <a:sym typeface="Gill Sans"/>
              </a:rPr>
              <a:t>Four LLMs</a:t>
            </a:r>
            <a:endParaRPr sz="1250">
              <a:solidFill>
                <a:schemeClr val="dk1"/>
              </a:solidFill>
              <a:latin typeface="Gill Sans"/>
              <a:ea typeface="Gill Sans"/>
              <a:cs typeface="Gill Sans"/>
              <a:sym typeface="Gill Sans"/>
            </a:endParaRPr>
          </a:p>
          <a:p>
            <a:pPr indent="0" lvl="0" marL="0" marR="0" rtl="0" algn="ctr">
              <a:spcBef>
                <a:spcPts val="0"/>
              </a:spcBef>
              <a:spcAft>
                <a:spcPts val="0"/>
              </a:spcAft>
              <a:buClr>
                <a:srgbClr val="1F2937"/>
              </a:buClr>
              <a:buSzPts val="1250"/>
              <a:buFont typeface="Gill Sans"/>
              <a:buNone/>
            </a:pPr>
            <a:r>
              <a:rPr b="1" lang="en-US" sz="1250">
                <a:solidFill>
                  <a:srgbClr val="1F2937"/>
                </a:solidFill>
                <a:latin typeface="Gill Sans"/>
                <a:ea typeface="Gill Sans"/>
                <a:cs typeface="Gill Sans"/>
                <a:sym typeface="Gill Sans"/>
              </a:rPr>
              <a:t>generate advice</a:t>
            </a:r>
            <a:endParaRPr sz="1250">
              <a:solidFill>
                <a:schemeClr val="dk1"/>
              </a:solidFill>
              <a:latin typeface="Gill Sans"/>
              <a:ea typeface="Gill Sans"/>
              <a:cs typeface="Gill Sans"/>
              <a:sym typeface="Gill Sans"/>
            </a:endParaRPr>
          </a:p>
        </p:txBody>
      </p:sp>
      <p:sp>
        <p:nvSpPr>
          <p:cNvPr id="213" name="Google Shape;213;p20"/>
          <p:cNvSpPr/>
          <p:nvPr/>
        </p:nvSpPr>
        <p:spPr>
          <a:xfrm>
            <a:off x="5084064" y="1508760"/>
            <a:ext cx="2029968" cy="1143000"/>
          </a:xfrm>
          <a:prstGeom prst="roundRect">
            <a:avLst>
              <a:gd fmla="val 10400" name="adj"/>
            </a:avLst>
          </a:prstGeom>
          <a:solidFill>
            <a:srgbClr val="07006A"/>
          </a:solidFill>
          <a:ln cap="flat" cmpd="sng" w="13950">
            <a:solidFill>
              <a:srgbClr val="0700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14" name="Google Shape;214;p20"/>
          <p:cNvSpPr/>
          <p:nvPr/>
        </p:nvSpPr>
        <p:spPr>
          <a:xfrm>
            <a:off x="5193792" y="1618488"/>
            <a:ext cx="32918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Gill Sans"/>
              <a:buNone/>
            </a:pPr>
            <a:r>
              <a:rPr b="1" lang="en-US" sz="1300">
                <a:solidFill>
                  <a:srgbClr val="FFFFFF"/>
                </a:solidFill>
                <a:latin typeface="Gill Sans"/>
                <a:ea typeface="Gill Sans"/>
                <a:cs typeface="Gill Sans"/>
                <a:sym typeface="Gill Sans"/>
              </a:rPr>
              <a:t>3</a:t>
            </a:r>
            <a:endParaRPr sz="1300">
              <a:solidFill>
                <a:schemeClr val="dk1"/>
              </a:solidFill>
              <a:latin typeface="Gill Sans"/>
              <a:ea typeface="Gill Sans"/>
              <a:cs typeface="Gill Sans"/>
              <a:sym typeface="Gill Sans"/>
            </a:endParaRPr>
          </a:p>
        </p:txBody>
      </p:sp>
      <p:sp>
        <p:nvSpPr>
          <p:cNvPr id="215" name="Google Shape;215;p20"/>
          <p:cNvSpPr/>
          <p:nvPr/>
        </p:nvSpPr>
        <p:spPr>
          <a:xfrm>
            <a:off x="5221224" y="1965960"/>
            <a:ext cx="1755648" cy="50292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FFFFF"/>
              </a:buClr>
              <a:buSzPts val="1250"/>
              <a:buFont typeface="Gill Sans"/>
              <a:buNone/>
            </a:pPr>
            <a:r>
              <a:rPr b="1" lang="en-US" sz="1250">
                <a:solidFill>
                  <a:srgbClr val="FFFFFF"/>
                </a:solidFill>
                <a:latin typeface="Gill Sans"/>
                <a:ea typeface="Gill Sans"/>
                <a:cs typeface="Gill Sans"/>
                <a:sym typeface="Gill Sans"/>
              </a:rPr>
              <a:t>GPT-5.4-nano</a:t>
            </a:r>
            <a:endParaRPr sz="1250">
              <a:solidFill>
                <a:schemeClr val="dk1"/>
              </a:solidFill>
              <a:latin typeface="Gill Sans"/>
              <a:ea typeface="Gill Sans"/>
              <a:cs typeface="Gill Sans"/>
              <a:sym typeface="Gill Sans"/>
            </a:endParaRPr>
          </a:p>
          <a:p>
            <a:pPr indent="0" lvl="0" marL="0" marR="0" rtl="0" algn="ctr">
              <a:spcBef>
                <a:spcPts val="0"/>
              </a:spcBef>
              <a:spcAft>
                <a:spcPts val="0"/>
              </a:spcAft>
              <a:buClr>
                <a:srgbClr val="FFFFFF"/>
              </a:buClr>
              <a:buSzPts val="1250"/>
              <a:buFont typeface="Gill Sans"/>
              <a:buNone/>
            </a:pPr>
            <a:r>
              <a:rPr b="1" lang="en-US" sz="1250">
                <a:solidFill>
                  <a:srgbClr val="FFFFFF"/>
                </a:solidFill>
                <a:latin typeface="Gill Sans"/>
                <a:ea typeface="Gill Sans"/>
                <a:cs typeface="Gill Sans"/>
                <a:sym typeface="Gill Sans"/>
              </a:rPr>
              <a:t>scores responses</a:t>
            </a:r>
            <a:endParaRPr sz="1250">
              <a:solidFill>
                <a:schemeClr val="dk1"/>
              </a:solidFill>
              <a:latin typeface="Gill Sans"/>
              <a:ea typeface="Gill Sans"/>
              <a:cs typeface="Gill Sans"/>
              <a:sym typeface="Gill Sans"/>
            </a:endParaRPr>
          </a:p>
        </p:txBody>
      </p:sp>
      <p:sp>
        <p:nvSpPr>
          <p:cNvPr id="216" name="Google Shape;216;p20"/>
          <p:cNvSpPr/>
          <p:nvPr/>
        </p:nvSpPr>
        <p:spPr>
          <a:xfrm>
            <a:off x="7269480" y="1508760"/>
            <a:ext cx="2029968" cy="1143000"/>
          </a:xfrm>
          <a:prstGeom prst="roundRect">
            <a:avLst>
              <a:gd fmla="val 10400" name="adj"/>
            </a:avLst>
          </a:prstGeom>
          <a:solidFill>
            <a:srgbClr val="FFFFFF"/>
          </a:solidFill>
          <a:ln cap="flat" cmpd="sng" w="13950">
            <a:solidFill>
              <a:srgbClr val="CCD2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17" name="Google Shape;217;p20"/>
          <p:cNvSpPr/>
          <p:nvPr/>
        </p:nvSpPr>
        <p:spPr>
          <a:xfrm>
            <a:off x="7379208" y="1618488"/>
            <a:ext cx="32918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5A24"/>
              </a:buClr>
              <a:buSzPts val="1300"/>
              <a:buFont typeface="Gill Sans"/>
              <a:buNone/>
            </a:pPr>
            <a:r>
              <a:rPr b="1" lang="en-US" sz="1300">
                <a:solidFill>
                  <a:srgbClr val="F15A24"/>
                </a:solidFill>
                <a:latin typeface="Gill Sans"/>
                <a:ea typeface="Gill Sans"/>
                <a:cs typeface="Gill Sans"/>
                <a:sym typeface="Gill Sans"/>
              </a:rPr>
              <a:t>4</a:t>
            </a:r>
            <a:endParaRPr sz="1300">
              <a:solidFill>
                <a:schemeClr val="dk1"/>
              </a:solidFill>
              <a:latin typeface="Gill Sans"/>
              <a:ea typeface="Gill Sans"/>
              <a:cs typeface="Gill Sans"/>
              <a:sym typeface="Gill Sans"/>
            </a:endParaRPr>
          </a:p>
        </p:txBody>
      </p:sp>
      <p:sp>
        <p:nvSpPr>
          <p:cNvPr id="218" name="Google Shape;218;p20"/>
          <p:cNvSpPr/>
          <p:nvPr/>
        </p:nvSpPr>
        <p:spPr>
          <a:xfrm>
            <a:off x="7406640" y="1965960"/>
            <a:ext cx="1755648" cy="50292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1F2937"/>
              </a:buClr>
              <a:buSzPts val="1250"/>
              <a:buFont typeface="Gill Sans"/>
              <a:buNone/>
            </a:pPr>
            <a:r>
              <a:rPr b="1" lang="en-US" sz="1250">
                <a:solidFill>
                  <a:srgbClr val="1F2937"/>
                </a:solidFill>
                <a:latin typeface="Gill Sans"/>
                <a:ea typeface="Gill Sans"/>
                <a:cs typeface="Gill Sans"/>
                <a:sym typeface="Gill Sans"/>
              </a:rPr>
              <a:t>Human annotation</a:t>
            </a:r>
            <a:endParaRPr sz="1250">
              <a:solidFill>
                <a:schemeClr val="dk1"/>
              </a:solidFill>
              <a:latin typeface="Gill Sans"/>
              <a:ea typeface="Gill Sans"/>
              <a:cs typeface="Gill Sans"/>
              <a:sym typeface="Gill Sans"/>
            </a:endParaRPr>
          </a:p>
          <a:p>
            <a:pPr indent="0" lvl="0" marL="0" marR="0" rtl="0" algn="ctr">
              <a:spcBef>
                <a:spcPts val="0"/>
              </a:spcBef>
              <a:spcAft>
                <a:spcPts val="0"/>
              </a:spcAft>
              <a:buClr>
                <a:srgbClr val="1F2937"/>
              </a:buClr>
              <a:buSzPts val="1250"/>
              <a:buFont typeface="Gill Sans"/>
              <a:buNone/>
            </a:pPr>
            <a:r>
              <a:rPr b="1" lang="en-US" sz="1250">
                <a:solidFill>
                  <a:srgbClr val="1F2937"/>
                </a:solidFill>
                <a:latin typeface="Gill Sans"/>
                <a:ea typeface="Gill Sans"/>
                <a:cs typeface="Gill Sans"/>
                <a:sym typeface="Gill Sans"/>
              </a:rPr>
              <a:t>validates scores</a:t>
            </a:r>
            <a:endParaRPr sz="1250">
              <a:solidFill>
                <a:schemeClr val="dk1"/>
              </a:solidFill>
              <a:latin typeface="Gill Sans"/>
              <a:ea typeface="Gill Sans"/>
              <a:cs typeface="Gill Sans"/>
              <a:sym typeface="Gill Sans"/>
            </a:endParaRPr>
          </a:p>
        </p:txBody>
      </p:sp>
      <p:sp>
        <p:nvSpPr>
          <p:cNvPr id="219" name="Google Shape;219;p20"/>
          <p:cNvSpPr/>
          <p:nvPr/>
        </p:nvSpPr>
        <p:spPr>
          <a:xfrm>
            <a:off x="9454896" y="1508760"/>
            <a:ext cx="2029968" cy="1143000"/>
          </a:xfrm>
          <a:prstGeom prst="roundRect">
            <a:avLst>
              <a:gd fmla="val 10400" name="adj"/>
            </a:avLst>
          </a:prstGeom>
          <a:solidFill>
            <a:srgbClr val="FFFFFF"/>
          </a:solidFill>
          <a:ln cap="flat" cmpd="sng" w="13950">
            <a:solidFill>
              <a:srgbClr val="CCD2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20" name="Google Shape;220;p20"/>
          <p:cNvSpPr/>
          <p:nvPr/>
        </p:nvSpPr>
        <p:spPr>
          <a:xfrm>
            <a:off x="9564624" y="1618488"/>
            <a:ext cx="32918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5A24"/>
              </a:buClr>
              <a:buSzPts val="1300"/>
              <a:buFont typeface="Gill Sans"/>
              <a:buNone/>
            </a:pPr>
            <a:r>
              <a:rPr b="1" lang="en-US" sz="1300">
                <a:solidFill>
                  <a:srgbClr val="F15A24"/>
                </a:solidFill>
                <a:latin typeface="Gill Sans"/>
                <a:ea typeface="Gill Sans"/>
                <a:cs typeface="Gill Sans"/>
                <a:sym typeface="Gill Sans"/>
              </a:rPr>
              <a:t>5</a:t>
            </a:r>
            <a:endParaRPr sz="1300">
              <a:solidFill>
                <a:schemeClr val="dk1"/>
              </a:solidFill>
              <a:latin typeface="Gill Sans"/>
              <a:ea typeface="Gill Sans"/>
              <a:cs typeface="Gill Sans"/>
              <a:sym typeface="Gill Sans"/>
            </a:endParaRPr>
          </a:p>
        </p:txBody>
      </p:sp>
      <p:sp>
        <p:nvSpPr>
          <p:cNvPr id="221" name="Google Shape;221;p20"/>
          <p:cNvSpPr/>
          <p:nvPr/>
        </p:nvSpPr>
        <p:spPr>
          <a:xfrm>
            <a:off x="9592056" y="1965960"/>
            <a:ext cx="1755648" cy="50292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1F2937"/>
              </a:buClr>
              <a:buSzPts val="1250"/>
              <a:buFont typeface="Gill Sans"/>
              <a:buNone/>
            </a:pPr>
            <a:r>
              <a:rPr b="1" lang="en-US" sz="1250">
                <a:solidFill>
                  <a:srgbClr val="1F2937"/>
                </a:solidFill>
                <a:latin typeface="Gill Sans"/>
                <a:ea typeface="Gill Sans"/>
                <a:cs typeface="Gill Sans"/>
                <a:sym typeface="Gill Sans"/>
              </a:rPr>
              <a:t>Agreement +</a:t>
            </a:r>
            <a:endParaRPr sz="1250">
              <a:solidFill>
                <a:schemeClr val="dk1"/>
              </a:solidFill>
              <a:latin typeface="Gill Sans"/>
              <a:ea typeface="Gill Sans"/>
              <a:cs typeface="Gill Sans"/>
              <a:sym typeface="Gill Sans"/>
            </a:endParaRPr>
          </a:p>
          <a:p>
            <a:pPr indent="0" lvl="0" marL="0" marR="0" rtl="0" algn="ctr">
              <a:spcBef>
                <a:spcPts val="0"/>
              </a:spcBef>
              <a:spcAft>
                <a:spcPts val="0"/>
              </a:spcAft>
              <a:buClr>
                <a:srgbClr val="1F2937"/>
              </a:buClr>
              <a:buSzPts val="1250"/>
              <a:buFont typeface="Gill Sans"/>
              <a:buNone/>
            </a:pPr>
            <a:r>
              <a:rPr b="1" lang="en-US" sz="1250">
                <a:solidFill>
                  <a:srgbClr val="1F2937"/>
                </a:solidFill>
                <a:latin typeface="Gill Sans"/>
                <a:ea typeface="Gill Sans"/>
                <a:cs typeface="Gill Sans"/>
                <a:sym typeface="Gill Sans"/>
              </a:rPr>
              <a:t>performance analysis</a:t>
            </a:r>
            <a:endParaRPr sz="1250">
              <a:solidFill>
                <a:schemeClr val="dk1"/>
              </a:solidFill>
              <a:latin typeface="Gill Sans"/>
              <a:ea typeface="Gill Sans"/>
              <a:cs typeface="Gill Sans"/>
              <a:sym typeface="Gill Sans"/>
            </a:endParaRPr>
          </a:p>
        </p:txBody>
      </p:sp>
      <p:sp>
        <p:nvSpPr>
          <p:cNvPr id="222" name="Google Shape;222;p20"/>
          <p:cNvSpPr/>
          <p:nvPr/>
        </p:nvSpPr>
        <p:spPr>
          <a:xfrm>
            <a:off x="777240" y="3246120"/>
            <a:ext cx="21031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006A"/>
              </a:buClr>
              <a:buSzPts val="2200"/>
              <a:buFont typeface="Gill Sans"/>
              <a:buNone/>
            </a:pPr>
            <a:r>
              <a:rPr b="1" lang="en-US" sz="2200">
                <a:solidFill>
                  <a:srgbClr val="07006A"/>
                </a:solidFill>
                <a:latin typeface="Gill Sans"/>
                <a:ea typeface="Gill Sans"/>
                <a:cs typeface="Gill Sans"/>
                <a:sym typeface="Gill Sans"/>
              </a:rPr>
              <a:t>Scoring scale</a:t>
            </a:r>
            <a:endParaRPr sz="2200">
              <a:solidFill>
                <a:schemeClr val="dk1"/>
              </a:solidFill>
              <a:latin typeface="Gill Sans"/>
              <a:ea typeface="Gill Sans"/>
              <a:cs typeface="Gill Sans"/>
              <a:sym typeface="Gill Sans"/>
            </a:endParaRPr>
          </a:p>
        </p:txBody>
      </p:sp>
      <p:sp>
        <p:nvSpPr>
          <p:cNvPr id="223" name="Google Shape;223;p20"/>
          <p:cNvSpPr/>
          <p:nvPr/>
        </p:nvSpPr>
        <p:spPr>
          <a:xfrm>
            <a:off x="777240" y="3611880"/>
            <a:ext cx="347472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5"/>
              </a:buClr>
              <a:buSzPts val="1550"/>
              <a:buFont typeface="Gill Sans"/>
              <a:buNone/>
            </a:pPr>
            <a:r>
              <a:rPr lang="en-US" sz="1550">
                <a:solidFill>
                  <a:srgbClr val="5B6575"/>
                </a:solidFill>
                <a:latin typeface="Gill Sans"/>
                <a:ea typeface="Gill Sans"/>
                <a:cs typeface="Gill Sans"/>
                <a:sym typeface="Gill Sans"/>
              </a:rPr>
              <a:t>1–5 Likert scale across five criteria</a:t>
            </a:r>
            <a:endParaRPr sz="1550">
              <a:solidFill>
                <a:schemeClr val="dk1"/>
              </a:solidFill>
              <a:latin typeface="Gill Sans"/>
              <a:ea typeface="Gill Sans"/>
              <a:cs typeface="Gill Sans"/>
              <a:sym typeface="Gill Sans"/>
            </a:endParaRPr>
          </a:p>
        </p:txBody>
      </p:sp>
      <p:sp>
        <p:nvSpPr>
          <p:cNvPr id="224" name="Google Shape;224;p20"/>
          <p:cNvSpPr/>
          <p:nvPr/>
        </p:nvSpPr>
        <p:spPr>
          <a:xfrm>
            <a:off x="841248" y="4206240"/>
            <a:ext cx="329184" cy="292608"/>
          </a:xfrm>
          <a:prstGeom prst="hexagon">
            <a:avLst>
              <a:gd fmla="val 25000" name="adj"/>
              <a:gd fmla="val 115470" name="vf"/>
            </a:avLst>
          </a:prstGeom>
          <a:solidFill>
            <a:srgbClr val="07006A"/>
          </a:solidFill>
          <a:ln cap="flat" cmpd="sng" w="12700">
            <a:solidFill>
              <a:srgbClr val="07006A">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25" name="Google Shape;225;p20"/>
          <p:cNvSpPr/>
          <p:nvPr/>
        </p:nvSpPr>
        <p:spPr>
          <a:xfrm>
            <a:off x="1252728" y="4219956"/>
            <a:ext cx="1188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50"/>
              <a:buFont typeface="Gill Sans"/>
              <a:buNone/>
            </a:pPr>
            <a:r>
              <a:rPr b="1" lang="en-US" sz="1450">
                <a:solidFill>
                  <a:srgbClr val="1F2937"/>
                </a:solidFill>
                <a:latin typeface="Gill Sans"/>
                <a:ea typeface="Gill Sans"/>
                <a:cs typeface="Gill Sans"/>
                <a:sym typeface="Gill Sans"/>
              </a:rPr>
              <a:t>Accuracy</a:t>
            </a:r>
            <a:endParaRPr sz="1450">
              <a:solidFill>
                <a:schemeClr val="dk1"/>
              </a:solidFill>
              <a:latin typeface="Gill Sans"/>
              <a:ea typeface="Gill Sans"/>
              <a:cs typeface="Gill Sans"/>
              <a:sym typeface="Gill Sans"/>
            </a:endParaRPr>
          </a:p>
        </p:txBody>
      </p:sp>
      <p:sp>
        <p:nvSpPr>
          <p:cNvPr id="226" name="Google Shape;226;p20"/>
          <p:cNvSpPr/>
          <p:nvPr/>
        </p:nvSpPr>
        <p:spPr>
          <a:xfrm>
            <a:off x="2999232" y="4206240"/>
            <a:ext cx="329184" cy="292608"/>
          </a:xfrm>
          <a:prstGeom prst="hexagon">
            <a:avLst>
              <a:gd fmla="val 25000" name="adj"/>
              <a:gd fmla="val 115470" name="vf"/>
            </a:avLst>
          </a:prstGeom>
          <a:solidFill>
            <a:srgbClr val="F15A24"/>
          </a:solidFill>
          <a:ln cap="flat" cmpd="sng" w="12700">
            <a:solidFill>
              <a:srgbClr val="F15A2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27" name="Google Shape;227;p20"/>
          <p:cNvSpPr/>
          <p:nvPr/>
        </p:nvSpPr>
        <p:spPr>
          <a:xfrm>
            <a:off x="3410712" y="4219956"/>
            <a:ext cx="10515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50"/>
              <a:buFont typeface="Gill Sans"/>
              <a:buNone/>
            </a:pPr>
            <a:r>
              <a:rPr b="1" lang="en-US" sz="1450">
                <a:solidFill>
                  <a:srgbClr val="1F2937"/>
                </a:solidFill>
                <a:latin typeface="Gill Sans"/>
                <a:ea typeface="Gill Sans"/>
                <a:cs typeface="Gill Sans"/>
                <a:sym typeface="Gill Sans"/>
              </a:rPr>
              <a:t>Safety</a:t>
            </a:r>
            <a:endParaRPr sz="1450">
              <a:solidFill>
                <a:schemeClr val="dk1"/>
              </a:solidFill>
              <a:latin typeface="Gill Sans"/>
              <a:ea typeface="Gill Sans"/>
              <a:cs typeface="Gill Sans"/>
              <a:sym typeface="Gill Sans"/>
            </a:endParaRPr>
          </a:p>
        </p:txBody>
      </p:sp>
      <p:sp>
        <p:nvSpPr>
          <p:cNvPr id="228" name="Google Shape;228;p20"/>
          <p:cNvSpPr/>
          <p:nvPr/>
        </p:nvSpPr>
        <p:spPr>
          <a:xfrm>
            <a:off x="4892040" y="4206240"/>
            <a:ext cx="329184" cy="292608"/>
          </a:xfrm>
          <a:prstGeom prst="hexagon">
            <a:avLst>
              <a:gd fmla="val 25000" name="adj"/>
              <a:gd fmla="val 115470" name="vf"/>
            </a:avLst>
          </a:prstGeom>
          <a:solidFill>
            <a:srgbClr val="2D3A8C"/>
          </a:solidFill>
          <a:ln cap="flat" cmpd="sng" w="12700">
            <a:solidFill>
              <a:srgbClr val="2D3A8C">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29" name="Google Shape;229;p20"/>
          <p:cNvSpPr/>
          <p:nvPr/>
        </p:nvSpPr>
        <p:spPr>
          <a:xfrm>
            <a:off x="5303520" y="4219956"/>
            <a:ext cx="1554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50"/>
              <a:buFont typeface="Gill Sans"/>
              <a:buNone/>
            </a:pPr>
            <a:r>
              <a:rPr b="1" lang="en-US" sz="1450">
                <a:solidFill>
                  <a:srgbClr val="1F2937"/>
                </a:solidFill>
                <a:latin typeface="Gill Sans"/>
                <a:ea typeface="Gill Sans"/>
                <a:cs typeface="Gill Sans"/>
                <a:sym typeface="Gill Sans"/>
              </a:rPr>
              <a:t>Completeness</a:t>
            </a:r>
            <a:endParaRPr sz="1450">
              <a:solidFill>
                <a:schemeClr val="dk1"/>
              </a:solidFill>
              <a:latin typeface="Gill Sans"/>
              <a:ea typeface="Gill Sans"/>
              <a:cs typeface="Gill Sans"/>
              <a:sym typeface="Gill Sans"/>
            </a:endParaRPr>
          </a:p>
        </p:txBody>
      </p:sp>
      <p:sp>
        <p:nvSpPr>
          <p:cNvPr id="230" name="Google Shape;230;p20"/>
          <p:cNvSpPr/>
          <p:nvPr/>
        </p:nvSpPr>
        <p:spPr>
          <a:xfrm>
            <a:off x="7178040" y="4206240"/>
            <a:ext cx="329184" cy="292608"/>
          </a:xfrm>
          <a:prstGeom prst="hexagon">
            <a:avLst>
              <a:gd fmla="val 25000" name="adj"/>
              <a:gd fmla="val 115470" name="vf"/>
            </a:avLst>
          </a:prstGeom>
          <a:solidFill>
            <a:srgbClr val="2F855A"/>
          </a:solidFill>
          <a:ln cap="flat" cmpd="sng" w="12700">
            <a:solidFill>
              <a:srgbClr val="2F855A">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31" name="Google Shape;231;p20"/>
          <p:cNvSpPr/>
          <p:nvPr/>
        </p:nvSpPr>
        <p:spPr>
          <a:xfrm>
            <a:off x="7589520" y="4219956"/>
            <a:ext cx="1965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20"/>
              <a:buFont typeface="Gill Sans"/>
              <a:buNone/>
            </a:pPr>
            <a:r>
              <a:rPr b="1" lang="en-US" sz="1320">
                <a:solidFill>
                  <a:srgbClr val="1F2937"/>
                </a:solidFill>
                <a:latin typeface="Gill Sans"/>
                <a:ea typeface="Gill Sans"/>
                <a:cs typeface="Gill Sans"/>
                <a:sym typeface="Gill Sans"/>
              </a:rPr>
              <a:t>Professional referral</a:t>
            </a:r>
            <a:endParaRPr sz="1320">
              <a:solidFill>
                <a:schemeClr val="dk1"/>
              </a:solidFill>
              <a:latin typeface="Gill Sans"/>
              <a:ea typeface="Gill Sans"/>
              <a:cs typeface="Gill Sans"/>
              <a:sym typeface="Gill Sans"/>
            </a:endParaRPr>
          </a:p>
        </p:txBody>
      </p:sp>
      <p:sp>
        <p:nvSpPr>
          <p:cNvPr id="232" name="Google Shape;232;p20"/>
          <p:cNvSpPr/>
          <p:nvPr/>
        </p:nvSpPr>
        <p:spPr>
          <a:xfrm>
            <a:off x="9738360" y="4206240"/>
            <a:ext cx="329184" cy="292608"/>
          </a:xfrm>
          <a:prstGeom prst="hexagon">
            <a:avLst>
              <a:gd fmla="val 25000" name="adj"/>
              <a:gd fmla="val 115470" name="vf"/>
            </a:avLst>
          </a:prstGeom>
          <a:solidFill>
            <a:srgbClr val="6B46C1"/>
          </a:solidFill>
          <a:ln cap="flat" cmpd="sng" w="12700">
            <a:solidFill>
              <a:srgbClr val="6B46C1">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33" name="Google Shape;233;p20"/>
          <p:cNvSpPr/>
          <p:nvPr/>
        </p:nvSpPr>
        <p:spPr>
          <a:xfrm>
            <a:off x="10149840" y="4219956"/>
            <a:ext cx="14173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50"/>
              <a:buFont typeface="Gill Sans"/>
              <a:buNone/>
            </a:pPr>
            <a:r>
              <a:rPr b="1" lang="en-US" sz="1450">
                <a:solidFill>
                  <a:srgbClr val="1F2937"/>
                </a:solidFill>
                <a:latin typeface="Gill Sans"/>
                <a:ea typeface="Gill Sans"/>
                <a:cs typeface="Gill Sans"/>
                <a:sym typeface="Gill Sans"/>
              </a:rPr>
              <a:t>Overall quality</a:t>
            </a:r>
            <a:endParaRPr sz="1450">
              <a:solidFill>
                <a:schemeClr val="dk1"/>
              </a:solidFill>
              <a:latin typeface="Gill Sans"/>
              <a:ea typeface="Gill Sans"/>
              <a:cs typeface="Gill Sans"/>
              <a:sym typeface="Gill Sans"/>
            </a:endParaRPr>
          </a:p>
        </p:txBody>
      </p:sp>
      <p:sp>
        <p:nvSpPr>
          <p:cNvPr id="234" name="Google Shape;234;p20"/>
          <p:cNvSpPr/>
          <p:nvPr/>
        </p:nvSpPr>
        <p:spPr>
          <a:xfrm>
            <a:off x="777240" y="5440680"/>
            <a:ext cx="2286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006A"/>
              </a:buClr>
              <a:buSzPts val="2200"/>
              <a:buFont typeface="Gill Sans"/>
              <a:buNone/>
            </a:pPr>
            <a:r>
              <a:rPr b="1" lang="en-US" sz="2200">
                <a:solidFill>
                  <a:srgbClr val="07006A"/>
                </a:solidFill>
                <a:latin typeface="Gill Sans"/>
                <a:ea typeface="Gill Sans"/>
                <a:cs typeface="Gill Sans"/>
                <a:sym typeface="Gill Sans"/>
              </a:rPr>
              <a:t>Agreement metric</a:t>
            </a:r>
            <a:endParaRPr sz="2200">
              <a:solidFill>
                <a:schemeClr val="dk1"/>
              </a:solidFill>
              <a:latin typeface="Gill Sans"/>
              <a:ea typeface="Gill Sans"/>
              <a:cs typeface="Gill Sans"/>
              <a:sym typeface="Gill Sans"/>
            </a:endParaRPr>
          </a:p>
        </p:txBody>
      </p:sp>
      <p:sp>
        <p:nvSpPr>
          <p:cNvPr id="235" name="Google Shape;235;p20"/>
          <p:cNvSpPr/>
          <p:nvPr/>
        </p:nvSpPr>
        <p:spPr>
          <a:xfrm>
            <a:off x="3246120" y="5468112"/>
            <a:ext cx="7223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700"/>
              <a:buFont typeface="Gill Sans"/>
              <a:buNone/>
            </a:pPr>
            <a:r>
              <a:rPr lang="en-US" sz="1700">
                <a:solidFill>
                  <a:srgbClr val="1F2937"/>
                </a:solidFill>
                <a:latin typeface="Gill Sans"/>
                <a:ea typeface="Gill Sans"/>
                <a:cs typeface="Gill Sans"/>
                <a:sym typeface="Gill Sans"/>
              </a:rPr>
              <a:t>Cohen’s kappa measured how closely the LLM judge aligned with human ratings.</a:t>
            </a:r>
            <a:endParaRPr sz="1700">
              <a:solidFill>
                <a:schemeClr val="dk1"/>
              </a:solidFill>
              <a:latin typeface="Gill Sans"/>
              <a:ea typeface="Gill Sans"/>
              <a:cs typeface="Gill Sans"/>
              <a:sym typeface="Gill Sans"/>
            </a:endParaRPr>
          </a:p>
        </p:txBody>
      </p:sp>
      <p:cxnSp>
        <p:nvCxnSpPr>
          <p:cNvPr id="236" name="Google Shape;236;p20"/>
          <p:cNvCxnSpPr/>
          <p:nvPr/>
        </p:nvCxnSpPr>
        <p:spPr>
          <a:xfrm>
            <a:off x="3246120" y="5806440"/>
            <a:ext cx="7543800" cy="0"/>
          </a:xfrm>
          <a:prstGeom prst="straightConnector1">
            <a:avLst/>
          </a:prstGeom>
          <a:noFill/>
          <a:ln cap="flat" cmpd="sng" w="31750">
            <a:solidFill>
              <a:srgbClr val="F15A24"/>
            </a:solidFill>
            <a:prstDash val="solid"/>
            <a:round/>
            <a:headEnd len="sm" w="sm" type="none"/>
            <a:tailEnd len="sm" w="sm" type="none"/>
          </a:ln>
        </p:spPr>
      </p:cxnSp>
      <p:sp>
        <p:nvSpPr>
          <p:cNvPr id="237" name="Google Shape;237;p20"/>
          <p:cNvSpPr/>
          <p:nvPr/>
        </p:nvSpPr>
        <p:spPr>
          <a:xfrm>
            <a:off x="502920" y="6592824"/>
            <a:ext cx="50292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8291"/>
              </a:buClr>
              <a:buSzPts val="750"/>
              <a:buFont typeface="Gill Sans"/>
              <a:buNone/>
            </a:pPr>
            <a:r>
              <a:rPr lang="en-US" sz="750">
                <a:solidFill>
                  <a:srgbClr val="7A8291"/>
                </a:solidFill>
                <a:latin typeface="Gill Sans"/>
                <a:ea typeface="Gill Sans"/>
                <a:cs typeface="Gill Sans"/>
                <a:sym typeface="Gill Sans"/>
              </a:rPr>
              <a:t>Life Insurance AI Advice Benchmark</a:t>
            </a:r>
            <a:endParaRPr sz="750">
              <a:solidFill>
                <a:schemeClr val="dk1"/>
              </a:solidFill>
              <a:latin typeface="Gill Sans"/>
              <a:ea typeface="Gill Sans"/>
              <a:cs typeface="Gill Sans"/>
              <a:sym typeface="Gill Sans"/>
            </a:endParaRPr>
          </a:p>
        </p:txBody>
      </p:sp>
      <p:sp>
        <p:nvSpPr>
          <p:cNvPr id="238" name="Google Shape;238;p20"/>
          <p:cNvSpPr txBox="1"/>
          <p:nvPr>
            <p:ph idx="4294967295" type="sldNum"/>
          </p:nvPr>
        </p:nvSpPr>
        <p:spPr>
          <a:xfrm>
            <a:off x="11612880" y="6601968"/>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6B7280"/>
                </a:solidFill>
                <a:latin typeface="Arial"/>
                <a:ea typeface="Arial"/>
                <a:cs typeface="Arial"/>
                <a:sym typeface="Arial"/>
              </a:rPr>
              <a:t>‹#›</a:t>
            </a:fld>
            <a:endParaRPr sz="800">
              <a:solidFill>
                <a:srgbClr val="6B728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1"/>
          <p:cNvSpPr/>
          <p:nvPr/>
        </p:nvSpPr>
        <p:spPr>
          <a:xfrm>
            <a:off x="502920" y="292608"/>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006A"/>
              </a:buClr>
              <a:buSzPts val="2800"/>
              <a:buFont typeface="Play"/>
              <a:buNone/>
            </a:pPr>
            <a:r>
              <a:rPr b="1" lang="en-US" sz="2800">
                <a:solidFill>
                  <a:srgbClr val="07006A"/>
                </a:solidFill>
                <a:latin typeface="Times New Roman"/>
                <a:ea typeface="Times New Roman"/>
                <a:cs typeface="Times New Roman"/>
                <a:sym typeface="Times New Roman"/>
              </a:rPr>
              <a:t>Cohen’s Kappa Score Metrics</a:t>
            </a:r>
            <a:endParaRPr sz="2800">
              <a:solidFill>
                <a:schemeClr val="dk1"/>
              </a:solidFill>
              <a:latin typeface="Times New Roman"/>
              <a:ea typeface="Times New Roman"/>
              <a:cs typeface="Times New Roman"/>
              <a:sym typeface="Times New Roman"/>
            </a:endParaRPr>
          </a:p>
        </p:txBody>
      </p:sp>
      <p:sp>
        <p:nvSpPr>
          <p:cNvPr id="245" name="Google Shape;245;p21"/>
          <p:cNvSpPr/>
          <p:nvPr/>
        </p:nvSpPr>
        <p:spPr>
          <a:xfrm>
            <a:off x="512064" y="832104"/>
            <a:ext cx="1051560" cy="64008"/>
          </a:xfrm>
          <a:prstGeom prst="rect">
            <a:avLst/>
          </a:prstGeom>
          <a:solidFill>
            <a:srgbClr val="F15A24"/>
          </a:solidFill>
          <a:ln cap="flat" cmpd="sng" w="12700">
            <a:solidFill>
              <a:srgbClr val="F15A2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46" name="Google Shape;246;p21"/>
          <p:cNvSpPr/>
          <p:nvPr/>
        </p:nvSpPr>
        <p:spPr>
          <a:xfrm>
            <a:off x="502920" y="6592824"/>
            <a:ext cx="50292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8291"/>
              </a:buClr>
              <a:buSzPts val="750"/>
              <a:buFont typeface="Gill Sans"/>
              <a:buNone/>
            </a:pPr>
            <a:r>
              <a:rPr lang="en-US" sz="750">
                <a:solidFill>
                  <a:srgbClr val="7A8291"/>
                </a:solidFill>
                <a:latin typeface="Gill Sans"/>
                <a:ea typeface="Gill Sans"/>
                <a:cs typeface="Gill Sans"/>
                <a:sym typeface="Gill Sans"/>
              </a:rPr>
              <a:t>Life Insurance AI Advice Benchmark</a:t>
            </a:r>
            <a:endParaRPr sz="750">
              <a:solidFill>
                <a:schemeClr val="dk1"/>
              </a:solidFill>
              <a:latin typeface="Gill Sans"/>
              <a:ea typeface="Gill Sans"/>
              <a:cs typeface="Gill Sans"/>
              <a:sym typeface="Gill Sans"/>
            </a:endParaRPr>
          </a:p>
        </p:txBody>
      </p:sp>
      <p:sp>
        <p:nvSpPr>
          <p:cNvPr id="247" name="Google Shape;247;p21"/>
          <p:cNvSpPr txBox="1"/>
          <p:nvPr>
            <p:ph idx="4294967295" type="sldNum"/>
          </p:nvPr>
        </p:nvSpPr>
        <p:spPr>
          <a:xfrm>
            <a:off x="11612880" y="6601968"/>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6B7280"/>
                </a:solidFill>
                <a:latin typeface="Arial"/>
                <a:ea typeface="Arial"/>
                <a:cs typeface="Arial"/>
                <a:sym typeface="Arial"/>
              </a:rPr>
              <a:t>‹#›</a:t>
            </a:fld>
            <a:endParaRPr sz="800">
              <a:solidFill>
                <a:srgbClr val="6B7280"/>
              </a:solidFill>
              <a:latin typeface="Arial"/>
              <a:ea typeface="Arial"/>
              <a:cs typeface="Arial"/>
              <a:sym typeface="Arial"/>
            </a:endParaRPr>
          </a:p>
        </p:txBody>
      </p:sp>
      <p:pic>
        <p:nvPicPr>
          <p:cNvPr id="248" name="Google Shape;248;p21"/>
          <p:cNvPicPr preferRelativeResize="0"/>
          <p:nvPr/>
        </p:nvPicPr>
        <p:blipFill rotWithShape="1">
          <a:blip r:embed="rId3">
            <a:alphaModFix/>
          </a:blip>
          <a:srcRect b="0" l="0" r="0" t="0"/>
          <a:stretch/>
        </p:blipFill>
        <p:spPr>
          <a:xfrm>
            <a:off x="374872" y="1856099"/>
            <a:ext cx="5540220" cy="3063505"/>
          </a:xfrm>
          <a:prstGeom prst="rect">
            <a:avLst/>
          </a:prstGeom>
          <a:noFill/>
          <a:ln>
            <a:noFill/>
          </a:ln>
        </p:spPr>
      </p:pic>
      <p:sp>
        <p:nvSpPr>
          <p:cNvPr id="249" name="Google Shape;249;p21"/>
          <p:cNvSpPr txBox="1"/>
          <p:nvPr/>
        </p:nvSpPr>
        <p:spPr>
          <a:xfrm>
            <a:off x="6633550" y="1986750"/>
            <a:ext cx="5029200" cy="23088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Times New Roman"/>
                <a:ea typeface="Times New Roman"/>
                <a:cs typeface="Times New Roman"/>
                <a:sym typeface="Times New Roman"/>
              </a:rPr>
              <a:t>High agreement on </a:t>
            </a:r>
            <a:r>
              <a:rPr b="1" lang="en-US" sz="1600">
                <a:solidFill>
                  <a:schemeClr val="dk1"/>
                </a:solidFill>
                <a:latin typeface="Times New Roman"/>
                <a:ea typeface="Times New Roman"/>
                <a:cs typeface="Times New Roman"/>
                <a:sym typeface="Times New Roman"/>
              </a:rPr>
              <a:t>Accuracy</a:t>
            </a:r>
            <a:r>
              <a:rPr lang="en-US" sz="1600">
                <a:solidFill>
                  <a:schemeClr val="dk1"/>
                </a:solidFill>
                <a:latin typeface="Times New Roman"/>
                <a:ea typeface="Times New Roman"/>
                <a:cs typeface="Times New Roman"/>
                <a:sym typeface="Times New Roman"/>
              </a:rPr>
              <a:t> (k ≈ 0.63).</a:t>
            </a:r>
            <a:endParaRPr/>
          </a:p>
          <a:p>
            <a:pPr indent="0" lvl="0" marL="0" marR="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Times New Roman"/>
                <a:ea typeface="Times New Roman"/>
                <a:cs typeface="Times New Roman"/>
                <a:sym typeface="Times New Roman"/>
              </a:rPr>
              <a:t>Moderate agreement on </a:t>
            </a:r>
            <a:r>
              <a:rPr b="1" lang="en-US" sz="1600">
                <a:solidFill>
                  <a:schemeClr val="dk1"/>
                </a:solidFill>
                <a:latin typeface="Times New Roman"/>
                <a:ea typeface="Times New Roman"/>
                <a:cs typeface="Times New Roman"/>
                <a:sym typeface="Times New Roman"/>
              </a:rPr>
              <a:t>Overall Quality</a:t>
            </a:r>
            <a:r>
              <a:rPr lang="en-US" sz="1600">
                <a:solidFill>
                  <a:schemeClr val="dk1"/>
                </a:solidFill>
                <a:latin typeface="Times New Roman"/>
                <a:ea typeface="Times New Roman"/>
                <a:cs typeface="Times New Roman"/>
                <a:sym typeface="Times New Roman"/>
              </a:rPr>
              <a:t> (k ≈ 0.56). </a:t>
            </a:r>
            <a:endParaRPr/>
          </a:p>
          <a:p>
            <a:pPr indent="0" lvl="0" marL="0" marR="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Times New Roman"/>
                <a:ea typeface="Times New Roman"/>
                <a:cs typeface="Times New Roman"/>
                <a:sym typeface="Times New Roman"/>
              </a:rPr>
              <a:t>Lower and less consistent agreement for </a:t>
            </a:r>
            <a:r>
              <a:rPr b="1" lang="en-US" sz="1600">
                <a:solidFill>
                  <a:schemeClr val="dk1"/>
                </a:solidFill>
                <a:latin typeface="Times New Roman"/>
                <a:ea typeface="Times New Roman"/>
                <a:cs typeface="Times New Roman"/>
                <a:sym typeface="Times New Roman"/>
              </a:rPr>
              <a:t>Safety, Completeness, and Professional Referral</a:t>
            </a:r>
            <a:r>
              <a:rPr lang="en-US" sz="1600">
                <a:solidFill>
                  <a:schemeClr val="dk1"/>
                </a:solidFill>
                <a:latin typeface="Times New Roman"/>
                <a:ea typeface="Times New Roman"/>
                <a:cs typeface="Times New Roman"/>
                <a:sym typeface="Times New Roman"/>
              </a:rPr>
              <a:t>. </a:t>
            </a:r>
            <a:endParaRPr/>
          </a:p>
          <a:p>
            <a:pPr indent="0" lvl="0" marL="0" marR="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600"/>
              <a:buFont typeface="Arial"/>
              <a:buChar char="•"/>
            </a:pPr>
            <a:r>
              <a:rPr b="1" lang="en-US" sz="1600">
                <a:solidFill>
                  <a:schemeClr val="dk1"/>
                </a:solidFill>
                <a:latin typeface="Times New Roman"/>
                <a:ea typeface="Times New Roman"/>
                <a:cs typeface="Times New Roman"/>
                <a:sym typeface="Times New Roman"/>
              </a:rPr>
              <a:t>Human evaluation is still necessary</a:t>
            </a:r>
            <a:r>
              <a:rPr lang="en-US" sz="1600">
                <a:solidFill>
                  <a:schemeClr val="dk1"/>
                </a:solidFill>
                <a:latin typeface="Times New Roman"/>
                <a:ea typeface="Times New Roman"/>
                <a:cs typeface="Times New Roman"/>
                <a:sym typeface="Times New Roman"/>
              </a:rPr>
              <a:t> to validate nuanced aspects of AI-generated insurance advice.</a:t>
            </a:r>
            <a:endParaRPr/>
          </a:p>
        </p:txBody>
      </p:sp>
      <p:sp>
        <p:nvSpPr>
          <p:cNvPr id="250" name="Google Shape;250;p21"/>
          <p:cNvSpPr/>
          <p:nvPr/>
        </p:nvSpPr>
        <p:spPr>
          <a:xfrm>
            <a:off x="3801450" y="2423000"/>
            <a:ext cx="631500" cy="620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ill Sans"/>
              <a:ea typeface="Gill Sans"/>
              <a:cs typeface="Gill Sans"/>
              <a:sym typeface="Gill Sans"/>
            </a:endParaRPr>
          </a:p>
        </p:txBody>
      </p:sp>
      <p:sp>
        <p:nvSpPr>
          <p:cNvPr id="251" name="Google Shape;251;p21"/>
          <p:cNvSpPr/>
          <p:nvPr/>
        </p:nvSpPr>
        <p:spPr>
          <a:xfrm>
            <a:off x="4221400" y="4030900"/>
            <a:ext cx="631500" cy="620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ill Sans"/>
              <a:ea typeface="Gill Sans"/>
              <a:cs typeface="Gill Sans"/>
              <a:sym typeface="Gill Sans"/>
            </a:endParaRPr>
          </a:p>
        </p:txBody>
      </p:sp>
      <p:sp>
        <p:nvSpPr>
          <p:cNvPr id="252" name="Google Shape;252;p21"/>
          <p:cNvSpPr txBox="1"/>
          <p:nvPr/>
        </p:nvSpPr>
        <p:spPr>
          <a:xfrm>
            <a:off x="1659950" y="1556100"/>
            <a:ext cx="2354400" cy="3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Gill Sans"/>
                <a:ea typeface="Gill Sans"/>
                <a:cs typeface="Gill Sans"/>
                <a:sym typeface="Gill Sans"/>
              </a:rPr>
              <a:t>General Dataset</a:t>
            </a:r>
            <a:endParaRPr sz="1600">
              <a:solidFill>
                <a:schemeClr val="dk1"/>
              </a:solidFill>
              <a:latin typeface="Gill Sans"/>
              <a:ea typeface="Gill Sans"/>
              <a:cs typeface="Gill Sans"/>
              <a:sym typeface="Gill Sans"/>
            </a:endParaRPr>
          </a:p>
        </p:txBody>
      </p:sp>
      <p:sp>
        <p:nvSpPr>
          <p:cNvPr id="253" name="Google Shape;253;p21"/>
          <p:cNvSpPr txBox="1"/>
          <p:nvPr/>
        </p:nvSpPr>
        <p:spPr>
          <a:xfrm>
            <a:off x="1737450" y="3184325"/>
            <a:ext cx="2354400" cy="3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Gill Sans"/>
                <a:ea typeface="Gill Sans"/>
                <a:cs typeface="Gill Sans"/>
                <a:sym typeface="Gill Sans"/>
              </a:rPr>
              <a:t>Specific</a:t>
            </a:r>
            <a:r>
              <a:rPr lang="en-US" sz="1600">
                <a:solidFill>
                  <a:schemeClr val="dk1"/>
                </a:solidFill>
                <a:latin typeface="Gill Sans"/>
                <a:ea typeface="Gill Sans"/>
                <a:cs typeface="Gill Sans"/>
                <a:sym typeface="Gill Sans"/>
              </a:rPr>
              <a:t> Dataset</a:t>
            </a:r>
            <a:endParaRPr sz="1600">
              <a:solidFill>
                <a:schemeClr val="dk1"/>
              </a:solidFill>
              <a:latin typeface="Gill Sans"/>
              <a:ea typeface="Gill Sans"/>
              <a:cs typeface="Gill Sans"/>
              <a:sym typeface="Gill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2"/>
          <p:cNvSpPr/>
          <p:nvPr/>
        </p:nvSpPr>
        <p:spPr>
          <a:xfrm>
            <a:off x="502920" y="292608"/>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006A"/>
              </a:buClr>
              <a:buSzPts val="2800"/>
              <a:buFont typeface="Times New Roman"/>
              <a:buNone/>
            </a:pPr>
            <a:r>
              <a:rPr b="1" lang="en-US" sz="2800">
                <a:solidFill>
                  <a:srgbClr val="07006A"/>
                </a:solidFill>
                <a:latin typeface="Times New Roman"/>
                <a:ea typeface="Times New Roman"/>
                <a:cs typeface="Times New Roman"/>
                <a:sym typeface="Times New Roman"/>
              </a:rPr>
              <a:t>LLM judge and human ratings: agreement was uneven</a:t>
            </a:r>
            <a:endParaRPr sz="2800">
              <a:solidFill>
                <a:schemeClr val="dk1"/>
              </a:solidFill>
              <a:latin typeface="Times New Roman"/>
              <a:ea typeface="Times New Roman"/>
              <a:cs typeface="Times New Roman"/>
              <a:sym typeface="Times New Roman"/>
            </a:endParaRPr>
          </a:p>
        </p:txBody>
      </p:sp>
      <p:sp>
        <p:nvSpPr>
          <p:cNvPr id="260" name="Google Shape;260;p22"/>
          <p:cNvSpPr/>
          <p:nvPr/>
        </p:nvSpPr>
        <p:spPr>
          <a:xfrm>
            <a:off x="512064" y="832104"/>
            <a:ext cx="1051560" cy="64008"/>
          </a:xfrm>
          <a:prstGeom prst="rect">
            <a:avLst/>
          </a:prstGeom>
          <a:solidFill>
            <a:srgbClr val="F15A24"/>
          </a:solidFill>
          <a:ln cap="flat" cmpd="sng" w="12700">
            <a:solidFill>
              <a:srgbClr val="F15A2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61" name="Google Shape;261;p22"/>
          <p:cNvSpPr/>
          <p:nvPr/>
        </p:nvSpPr>
        <p:spPr>
          <a:xfrm>
            <a:off x="502920" y="941832"/>
            <a:ext cx="987552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5"/>
              </a:buClr>
              <a:buSzPts val="1350"/>
              <a:buFont typeface="Times New Roman"/>
              <a:buNone/>
            </a:pPr>
            <a:r>
              <a:rPr lang="en-US" sz="1350">
                <a:solidFill>
                  <a:srgbClr val="5B6575"/>
                </a:solidFill>
                <a:latin typeface="Times New Roman"/>
                <a:ea typeface="Times New Roman"/>
                <a:cs typeface="Times New Roman"/>
                <a:sym typeface="Times New Roman"/>
              </a:rPr>
              <a:t>The LLM-as-a-judge aligned better with human ratings on some criteria than others.</a:t>
            </a:r>
            <a:endParaRPr sz="1350">
              <a:solidFill>
                <a:schemeClr val="dk1"/>
              </a:solidFill>
              <a:latin typeface="Times New Roman"/>
              <a:ea typeface="Times New Roman"/>
              <a:cs typeface="Times New Roman"/>
              <a:sym typeface="Times New Roman"/>
            </a:endParaRPr>
          </a:p>
        </p:txBody>
      </p:sp>
      <p:sp>
        <p:nvSpPr>
          <p:cNvPr id="262" name="Google Shape;262;p22"/>
          <p:cNvSpPr/>
          <p:nvPr/>
        </p:nvSpPr>
        <p:spPr>
          <a:xfrm>
            <a:off x="868680" y="1472184"/>
            <a:ext cx="5577840" cy="2103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300"/>
              <a:buFont typeface="Times New Roman"/>
              <a:buNone/>
            </a:pPr>
            <a:r>
              <a:rPr b="1" lang="en-US" sz="1300">
                <a:solidFill>
                  <a:srgbClr val="1F2937"/>
                </a:solidFill>
                <a:latin typeface="Times New Roman"/>
                <a:ea typeface="Times New Roman"/>
                <a:cs typeface="Times New Roman"/>
                <a:sym typeface="Times New Roman"/>
              </a:rPr>
              <a:t>Cohen’s Kappa agreement</a:t>
            </a:r>
            <a:endParaRPr sz="1300">
              <a:solidFill>
                <a:schemeClr val="dk1"/>
              </a:solidFill>
              <a:latin typeface="Times New Roman"/>
              <a:ea typeface="Times New Roman"/>
              <a:cs typeface="Times New Roman"/>
              <a:sym typeface="Times New Roman"/>
            </a:endParaRPr>
          </a:p>
        </p:txBody>
      </p:sp>
      <p:cxnSp>
        <p:nvCxnSpPr>
          <p:cNvPr id="263" name="Google Shape;263;p22"/>
          <p:cNvCxnSpPr/>
          <p:nvPr/>
        </p:nvCxnSpPr>
        <p:spPr>
          <a:xfrm>
            <a:off x="868680" y="5303520"/>
            <a:ext cx="5577840" cy="0"/>
          </a:xfrm>
          <a:prstGeom prst="straightConnector1">
            <a:avLst/>
          </a:prstGeom>
          <a:noFill/>
          <a:ln cap="flat" cmpd="sng" w="12700">
            <a:solidFill>
              <a:srgbClr val="AAB2C4"/>
            </a:solidFill>
            <a:prstDash val="solid"/>
            <a:round/>
            <a:headEnd len="sm" w="sm" type="none"/>
            <a:tailEnd len="sm" w="sm" type="none"/>
          </a:ln>
        </p:spPr>
      </p:cxnSp>
      <p:cxnSp>
        <p:nvCxnSpPr>
          <p:cNvPr id="264" name="Google Shape;264;p22"/>
          <p:cNvCxnSpPr/>
          <p:nvPr/>
        </p:nvCxnSpPr>
        <p:spPr>
          <a:xfrm>
            <a:off x="868680" y="5303520"/>
            <a:ext cx="5577840" cy="0"/>
          </a:xfrm>
          <a:prstGeom prst="straightConnector1">
            <a:avLst/>
          </a:prstGeom>
          <a:noFill/>
          <a:ln cap="flat" cmpd="sng" w="9525">
            <a:solidFill>
              <a:srgbClr val="E2E5EF"/>
            </a:solidFill>
            <a:prstDash val="solid"/>
            <a:round/>
            <a:headEnd len="sm" w="sm" type="none"/>
            <a:tailEnd len="sm" w="sm" type="none"/>
          </a:ln>
        </p:spPr>
      </p:cxnSp>
      <p:sp>
        <p:nvSpPr>
          <p:cNvPr id="265" name="Google Shape;265;p22"/>
          <p:cNvSpPr/>
          <p:nvPr/>
        </p:nvSpPr>
        <p:spPr>
          <a:xfrm>
            <a:off x="521208" y="5239512"/>
            <a:ext cx="292608" cy="1097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575"/>
              </a:buClr>
              <a:buSzPts val="750"/>
              <a:buFont typeface="Gill Sans"/>
              <a:buNone/>
            </a:pPr>
            <a:r>
              <a:rPr lang="en-US" sz="750">
                <a:solidFill>
                  <a:srgbClr val="5B6575"/>
                </a:solidFill>
                <a:latin typeface="Gill Sans"/>
                <a:ea typeface="Gill Sans"/>
                <a:cs typeface="Gill Sans"/>
                <a:sym typeface="Gill Sans"/>
              </a:rPr>
              <a:t>0.00</a:t>
            </a:r>
            <a:endParaRPr sz="750">
              <a:solidFill>
                <a:schemeClr val="dk1"/>
              </a:solidFill>
              <a:latin typeface="Gill Sans"/>
              <a:ea typeface="Gill Sans"/>
              <a:cs typeface="Gill Sans"/>
              <a:sym typeface="Gill Sans"/>
            </a:endParaRPr>
          </a:p>
        </p:txBody>
      </p:sp>
      <p:cxnSp>
        <p:nvCxnSpPr>
          <p:cNvPr id="266" name="Google Shape;266;p22"/>
          <p:cNvCxnSpPr/>
          <p:nvPr/>
        </p:nvCxnSpPr>
        <p:spPr>
          <a:xfrm>
            <a:off x="868680" y="3579876"/>
            <a:ext cx="5577840" cy="0"/>
          </a:xfrm>
          <a:prstGeom prst="straightConnector1">
            <a:avLst/>
          </a:prstGeom>
          <a:noFill/>
          <a:ln cap="flat" cmpd="sng" w="9525">
            <a:solidFill>
              <a:srgbClr val="E2E5EF"/>
            </a:solidFill>
            <a:prstDash val="solid"/>
            <a:round/>
            <a:headEnd len="sm" w="sm" type="none"/>
            <a:tailEnd len="sm" w="sm" type="none"/>
          </a:ln>
        </p:spPr>
      </p:cxnSp>
      <p:sp>
        <p:nvSpPr>
          <p:cNvPr id="267" name="Google Shape;267;p22"/>
          <p:cNvSpPr/>
          <p:nvPr/>
        </p:nvSpPr>
        <p:spPr>
          <a:xfrm>
            <a:off x="521208" y="3515868"/>
            <a:ext cx="292608" cy="1097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575"/>
              </a:buClr>
              <a:buSzPts val="750"/>
              <a:buFont typeface="Gill Sans"/>
              <a:buNone/>
            </a:pPr>
            <a:r>
              <a:rPr lang="en-US" sz="750">
                <a:solidFill>
                  <a:srgbClr val="5B6575"/>
                </a:solidFill>
                <a:latin typeface="Gill Sans"/>
                <a:ea typeface="Gill Sans"/>
                <a:cs typeface="Gill Sans"/>
                <a:sym typeface="Gill Sans"/>
              </a:rPr>
              <a:t>0.35</a:t>
            </a:r>
            <a:endParaRPr sz="750">
              <a:solidFill>
                <a:schemeClr val="dk1"/>
              </a:solidFill>
              <a:latin typeface="Gill Sans"/>
              <a:ea typeface="Gill Sans"/>
              <a:cs typeface="Gill Sans"/>
              <a:sym typeface="Gill Sans"/>
            </a:endParaRPr>
          </a:p>
        </p:txBody>
      </p:sp>
      <p:cxnSp>
        <p:nvCxnSpPr>
          <p:cNvPr id="268" name="Google Shape;268;p22"/>
          <p:cNvCxnSpPr/>
          <p:nvPr/>
        </p:nvCxnSpPr>
        <p:spPr>
          <a:xfrm>
            <a:off x="868680" y="1856232"/>
            <a:ext cx="5577840" cy="0"/>
          </a:xfrm>
          <a:prstGeom prst="straightConnector1">
            <a:avLst/>
          </a:prstGeom>
          <a:noFill/>
          <a:ln cap="flat" cmpd="sng" w="9525">
            <a:solidFill>
              <a:srgbClr val="E2E5EF"/>
            </a:solidFill>
            <a:prstDash val="solid"/>
            <a:round/>
            <a:headEnd len="sm" w="sm" type="none"/>
            <a:tailEnd len="sm" w="sm" type="none"/>
          </a:ln>
        </p:spPr>
      </p:cxnSp>
      <p:sp>
        <p:nvSpPr>
          <p:cNvPr id="269" name="Google Shape;269;p22"/>
          <p:cNvSpPr/>
          <p:nvPr/>
        </p:nvSpPr>
        <p:spPr>
          <a:xfrm>
            <a:off x="521208" y="1792224"/>
            <a:ext cx="292608" cy="1097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575"/>
              </a:buClr>
              <a:buSzPts val="750"/>
              <a:buFont typeface="Gill Sans"/>
              <a:buNone/>
            </a:pPr>
            <a:r>
              <a:rPr lang="en-US" sz="750">
                <a:solidFill>
                  <a:srgbClr val="5B6575"/>
                </a:solidFill>
                <a:latin typeface="Gill Sans"/>
                <a:ea typeface="Gill Sans"/>
                <a:cs typeface="Gill Sans"/>
                <a:sym typeface="Gill Sans"/>
              </a:rPr>
              <a:t>0.70</a:t>
            </a:r>
            <a:endParaRPr sz="750">
              <a:solidFill>
                <a:schemeClr val="dk1"/>
              </a:solidFill>
              <a:latin typeface="Gill Sans"/>
              <a:ea typeface="Gill Sans"/>
              <a:cs typeface="Gill Sans"/>
              <a:sym typeface="Gill Sans"/>
            </a:endParaRPr>
          </a:p>
        </p:txBody>
      </p:sp>
      <p:sp>
        <p:nvSpPr>
          <p:cNvPr id="270" name="Google Shape;270;p22"/>
          <p:cNvSpPr/>
          <p:nvPr/>
        </p:nvSpPr>
        <p:spPr>
          <a:xfrm>
            <a:off x="1188720" y="2250208"/>
            <a:ext cx="210312" cy="3053312"/>
          </a:xfrm>
          <a:prstGeom prst="rect">
            <a:avLst/>
          </a:prstGeom>
          <a:solidFill>
            <a:srgbClr val="2D3A8C"/>
          </a:solidFill>
          <a:ln cap="flat" cmpd="sng" w="12700">
            <a:solidFill>
              <a:srgbClr val="2D3A8C">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71" name="Google Shape;271;p22"/>
          <p:cNvSpPr/>
          <p:nvPr/>
        </p:nvSpPr>
        <p:spPr>
          <a:xfrm>
            <a:off x="1453896" y="2200961"/>
            <a:ext cx="210312" cy="3102559"/>
          </a:xfrm>
          <a:prstGeom prst="rect">
            <a:avLst/>
          </a:prstGeom>
          <a:solidFill>
            <a:srgbClr val="F15A24"/>
          </a:solidFill>
          <a:ln cap="flat" cmpd="sng" w="12700">
            <a:solidFill>
              <a:srgbClr val="F15A2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72" name="Google Shape;272;p22"/>
          <p:cNvSpPr/>
          <p:nvPr/>
        </p:nvSpPr>
        <p:spPr>
          <a:xfrm>
            <a:off x="868680" y="5413248"/>
            <a:ext cx="111556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830"/>
              <a:buFont typeface="Gill Sans"/>
              <a:buNone/>
            </a:pPr>
            <a:r>
              <a:rPr lang="en-US" sz="830">
                <a:solidFill>
                  <a:srgbClr val="1F2937"/>
                </a:solidFill>
                <a:latin typeface="Gill Sans"/>
                <a:ea typeface="Gill Sans"/>
                <a:cs typeface="Gill Sans"/>
                <a:sym typeface="Gill Sans"/>
              </a:rPr>
              <a:t>Accuracy</a:t>
            </a:r>
            <a:endParaRPr sz="830">
              <a:solidFill>
                <a:schemeClr val="dk1"/>
              </a:solidFill>
              <a:latin typeface="Gill Sans"/>
              <a:ea typeface="Gill Sans"/>
              <a:cs typeface="Gill Sans"/>
              <a:sym typeface="Gill Sans"/>
            </a:endParaRPr>
          </a:p>
        </p:txBody>
      </p:sp>
      <p:sp>
        <p:nvSpPr>
          <p:cNvPr id="273" name="Google Shape;273;p22"/>
          <p:cNvSpPr/>
          <p:nvPr/>
        </p:nvSpPr>
        <p:spPr>
          <a:xfrm>
            <a:off x="2304288" y="4958791"/>
            <a:ext cx="210312" cy="344729"/>
          </a:xfrm>
          <a:prstGeom prst="rect">
            <a:avLst/>
          </a:prstGeom>
          <a:solidFill>
            <a:srgbClr val="2D3A8C"/>
          </a:solidFill>
          <a:ln cap="flat" cmpd="sng" w="12700">
            <a:solidFill>
              <a:srgbClr val="2D3A8C">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74" name="Google Shape;274;p22"/>
          <p:cNvSpPr/>
          <p:nvPr/>
        </p:nvSpPr>
        <p:spPr>
          <a:xfrm>
            <a:off x="2569464" y="2151714"/>
            <a:ext cx="210312" cy="3151806"/>
          </a:xfrm>
          <a:prstGeom prst="rect">
            <a:avLst/>
          </a:prstGeom>
          <a:solidFill>
            <a:srgbClr val="F15A24"/>
          </a:solidFill>
          <a:ln cap="flat" cmpd="sng" w="12700">
            <a:solidFill>
              <a:srgbClr val="F15A2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75" name="Google Shape;275;p22"/>
          <p:cNvSpPr/>
          <p:nvPr/>
        </p:nvSpPr>
        <p:spPr>
          <a:xfrm>
            <a:off x="1984248" y="5413248"/>
            <a:ext cx="111556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830"/>
              <a:buFont typeface="Gill Sans"/>
              <a:buNone/>
            </a:pPr>
            <a:r>
              <a:rPr lang="en-US" sz="830">
                <a:solidFill>
                  <a:srgbClr val="1F2937"/>
                </a:solidFill>
                <a:latin typeface="Gill Sans"/>
                <a:ea typeface="Gill Sans"/>
                <a:cs typeface="Gill Sans"/>
                <a:sym typeface="Gill Sans"/>
              </a:rPr>
              <a:t>Safety</a:t>
            </a:r>
            <a:endParaRPr sz="830">
              <a:solidFill>
                <a:schemeClr val="dk1"/>
              </a:solidFill>
              <a:latin typeface="Gill Sans"/>
              <a:ea typeface="Gill Sans"/>
              <a:cs typeface="Gill Sans"/>
              <a:sym typeface="Gill Sans"/>
            </a:endParaRPr>
          </a:p>
        </p:txBody>
      </p:sp>
      <p:sp>
        <p:nvSpPr>
          <p:cNvPr id="276" name="Google Shape;276;p22"/>
          <p:cNvSpPr/>
          <p:nvPr/>
        </p:nvSpPr>
        <p:spPr>
          <a:xfrm>
            <a:off x="3419856" y="3481382"/>
            <a:ext cx="210312" cy="1822138"/>
          </a:xfrm>
          <a:prstGeom prst="rect">
            <a:avLst/>
          </a:prstGeom>
          <a:solidFill>
            <a:srgbClr val="2D3A8C"/>
          </a:solidFill>
          <a:ln cap="flat" cmpd="sng" w="12700">
            <a:solidFill>
              <a:srgbClr val="2D3A8C">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77" name="Google Shape;277;p22"/>
          <p:cNvSpPr/>
          <p:nvPr/>
        </p:nvSpPr>
        <p:spPr>
          <a:xfrm>
            <a:off x="3685032" y="4170840"/>
            <a:ext cx="210312" cy="1132680"/>
          </a:xfrm>
          <a:prstGeom prst="rect">
            <a:avLst/>
          </a:prstGeom>
          <a:solidFill>
            <a:srgbClr val="F15A24"/>
          </a:solidFill>
          <a:ln cap="flat" cmpd="sng" w="12700">
            <a:solidFill>
              <a:srgbClr val="F15A2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78" name="Google Shape;278;p22"/>
          <p:cNvSpPr/>
          <p:nvPr/>
        </p:nvSpPr>
        <p:spPr>
          <a:xfrm>
            <a:off x="3099816" y="5413248"/>
            <a:ext cx="111556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830"/>
              <a:buFont typeface="Gill Sans"/>
              <a:buNone/>
            </a:pPr>
            <a:r>
              <a:rPr lang="en-US" sz="830">
                <a:solidFill>
                  <a:srgbClr val="1F2937"/>
                </a:solidFill>
                <a:latin typeface="Gill Sans"/>
                <a:ea typeface="Gill Sans"/>
                <a:cs typeface="Gill Sans"/>
                <a:sym typeface="Gill Sans"/>
              </a:rPr>
              <a:t>Completeness</a:t>
            </a:r>
            <a:endParaRPr sz="830">
              <a:solidFill>
                <a:schemeClr val="dk1"/>
              </a:solidFill>
              <a:latin typeface="Gill Sans"/>
              <a:ea typeface="Gill Sans"/>
              <a:cs typeface="Gill Sans"/>
              <a:sym typeface="Gill Sans"/>
            </a:endParaRPr>
          </a:p>
        </p:txBody>
      </p:sp>
      <p:sp>
        <p:nvSpPr>
          <p:cNvPr id="279" name="Google Shape;279;p22"/>
          <p:cNvSpPr/>
          <p:nvPr/>
        </p:nvSpPr>
        <p:spPr>
          <a:xfrm>
            <a:off x="4535424" y="2200961"/>
            <a:ext cx="210312" cy="3102559"/>
          </a:xfrm>
          <a:prstGeom prst="rect">
            <a:avLst/>
          </a:prstGeom>
          <a:solidFill>
            <a:srgbClr val="2D3A8C"/>
          </a:solidFill>
          <a:ln cap="flat" cmpd="sng" w="12700">
            <a:solidFill>
              <a:srgbClr val="2D3A8C">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80" name="Google Shape;280;p22"/>
          <p:cNvSpPr/>
          <p:nvPr/>
        </p:nvSpPr>
        <p:spPr>
          <a:xfrm>
            <a:off x="4800600" y="3826111"/>
            <a:ext cx="210312" cy="1477409"/>
          </a:xfrm>
          <a:prstGeom prst="rect">
            <a:avLst/>
          </a:prstGeom>
          <a:solidFill>
            <a:srgbClr val="F15A24"/>
          </a:solidFill>
          <a:ln cap="flat" cmpd="sng" w="12700">
            <a:solidFill>
              <a:srgbClr val="F15A2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81" name="Google Shape;281;p22"/>
          <p:cNvSpPr/>
          <p:nvPr/>
        </p:nvSpPr>
        <p:spPr>
          <a:xfrm>
            <a:off x="4215384" y="5413248"/>
            <a:ext cx="111556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830"/>
              <a:buFont typeface="Gill Sans"/>
              <a:buNone/>
            </a:pPr>
            <a:r>
              <a:rPr lang="en-US" sz="830">
                <a:solidFill>
                  <a:srgbClr val="1F2937"/>
                </a:solidFill>
                <a:latin typeface="Gill Sans"/>
                <a:ea typeface="Gill Sans"/>
                <a:cs typeface="Gill Sans"/>
                <a:sym typeface="Gill Sans"/>
              </a:rPr>
              <a:t>Professional</a:t>
            </a:r>
            <a:endParaRPr sz="830">
              <a:solidFill>
                <a:schemeClr val="dk1"/>
              </a:solidFill>
              <a:latin typeface="Gill Sans"/>
              <a:ea typeface="Gill Sans"/>
              <a:cs typeface="Gill Sans"/>
              <a:sym typeface="Gill Sans"/>
            </a:endParaRPr>
          </a:p>
          <a:p>
            <a:pPr indent="0" lvl="0" marL="0" marR="0" rtl="0" algn="ctr">
              <a:spcBef>
                <a:spcPts val="0"/>
              </a:spcBef>
              <a:spcAft>
                <a:spcPts val="0"/>
              </a:spcAft>
              <a:buClr>
                <a:srgbClr val="1F2937"/>
              </a:buClr>
              <a:buSzPts val="830"/>
              <a:buFont typeface="Gill Sans"/>
              <a:buNone/>
            </a:pPr>
            <a:r>
              <a:rPr lang="en-US" sz="830">
                <a:solidFill>
                  <a:srgbClr val="1F2937"/>
                </a:solidFill>
                <a:latin typeface="Gill Sans"/>
                <a:ea typeface="Gill Sans"/>
                <a:cs typeface="Gill Sans"/>
                <a:sym typeface="Gill Sans"/>
              </a:rPr>
              <a:t>Referral</a:t>
            </a:r>
            <a:endParaRPr sz="830">
              <a:solidFill>
                <a:schemeClr val="dk1"/>
              </a:solidFill>
              <a:latin typeface="Gill Sans"/>
              <a:ea typeface="Gill Sans"/>
              <a:cs typeface="Gill Sans"/>
              <a:sym typeface="Gill Sans"/>
            </a:endParaRPr>
          </a:p>
        </p:txBody>
      </p:sp>
      <p:sp>
        <p:nvSpPr>
          <p:cNvPr id="282" name="Google Shape;282;p22"/>
          <p:cNvSpPr/>
          <p:nvPr/>
        </p:nvSpPr>
        <p:spPr>
          <a:xfrm>
            <a:off x="5650992" y="2545690"/>
            <a:ext cx="210312" cy="2757830"/>
          </a:xfrm>
          <a:prstGeom prst="rect">
            <a:avLst/>
          </a:prstGeom>
          <a:solidFill>
            <a:srgbClr val="2D3A8C"/>
          </a:solidFill>
          <a:ln cap="flat" cmpd="sng" w="12700">
            <a:solidFill>
              <a:srgbClr val="2D3A8C">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83" name="Google Shape;283;p22"/>
          <p:cNvSpPr/>
          <p:nvPr/>
        </p:nvSpPr>
        <p:spPr>
          <a:xfrm>
            <a:off x="5916168" y="2742677"/>
            <a:ext cx="210312" cy="2560843"/>
          </a:xfrm>
          <a:prstGeom prst="rect">
            <a:avLst/>
          </a:prstGeom>
          <a:solidFill>
            <a:srgbClr val="F15A24"/>
          </a:solidFill>
          <a:ln cap="flat" cmpd="sng" w="12700">
            <a:solidFill>
              <a:srgbClr val="F15A2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84" name="Google Shape;284;p22"/>
          <p:cNvSpPr/>
          <p:nvPr/>
        </p:nvSpPr>
        <p:spPr>
          <a:xfrm>
            <a:off x="5330952" y="5413248"/>
            <a:ext cx="111556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830"/>
              <a:buFont typeface="Gill Sans"/>
              <a:buNone/>
            </a:pPr>
            <a:r>
              <a:rPr lang="en-US" sz="830">
                <a:solidFill>
                  <a:srgbClr val="1F2937"/>
                </a:solidFill>
                <a:latin typeface="Gill Sans"/>
                <a:ea typeface="Gill Sans"/>
                <a:cs typeface="Gill Sans"/>
                <a:sym typeface="Gill Sans"/>
              </a:rPr>
              <a:t>Overall</a:t>
            </a:r>
            <a:endParaRPr sz="830">
              <a:solidFill>
                <a:schemeClr val="dk1"/>
              </a:solidFill>
              <a:latin typeface="Gill Sans"/>
              <a:ea typeface="Gill Sans"/>
              <a:cs typeface="Gill Sans"/>
              <a:sym typeface="Gill Sans"/>
            </a:endParaRPr>
          </a:p>
          <a:p>
            <a:pPr indent="0" lvl="0" marL="0" marR="0" rtl="0" algn="ctr">
              <a:spcBef>
                <a:spcPts val="0"/>
              </a:spcBef>
              <a:spcAft>
                <a:spcPts val="0"/>
              </a:spcAft>
              <a:buClr>
                <a:srgbClr val="1F2937"/>
              </a:buClr>
              <a:buSzPts val="830"/>
              <a:buFont typeface="Gill Sans"/>
              <a:buNone/>
            </a:pPr>
            <a:r>
              <a:rPr lang="en-US" sz="830">
                <a:solidFill>
                  <a:srgbClr val="1F2937"/>
                </a:solidFill>
                <a:latin typeface="Gill Sans"/>
                <a:ea typeface="Gill Sans"/>
                <a:cs typeface="Gill Sans"/>
                <a:sym typeface="Gill Sans"/>
              </a:rPr>
              <a:t>Quality</a:t>
            </a:r>
            <a:endParaRPr sz="830">
              <a:solidFill>
                <a:schemeClr val="dk1"/>
              </a:solidFill>
              <a:latin typeface="Gill Sans"/>
              <a:ea typeface="Gill Sans"/>
              <a:cs typeface="Gill Sans"/>
              <a:sym typeface="Gill Sans"/>
            </a:endParaRPr>
          </a:p>
        </p:txBody>
      </p:sp>
      <p:sp>
        <p:nvSpPr>
          <p:cNvPr id="285" name="Google Shape;285;p22"/>
          <p:cNvSpPr/>
          <p:nvPr/>
        </p:nvSpPr>
        <p:spPr>
          <a:xfrm>
            <a:off x="5029200" y="1719072"/>
            <a:ext cx="118872" cy="118872"/>
          </a:xfrm>
          <a:prstGeom prst="rect">
            <a:avLst/>
          </a:prstGeom>
          <a:solidFill>
            <a:srgbClr val="2D3A8C"/>
          </a:solidFill>
          <a:ln cap="flat" cmpd="sng" w="12700">
            <a:solidFill>
              <a:srgbClr val="2D3A8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86" name="Google Shape;286;p22"/>
          <p:cNvSpPr/>
          <p:nvPr/>
        </p:nvSpPr>
        <p:spPr>
          <a:xfrm>
            <a:off x="5202936" y="1687068"/>
            <a:ext cx="5486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850"/>
              <a:buFont typeface="Gill Sans"/>
              <a:buNone/>
            </a:pPr>
            <a:r>
              <a:rPr lang="en-US" sz="850">
                <a:solidFill>
                  <a:srgbClr val="1F2937"/>
                </a:solidFill>
                <a:latin typeface="Gill Sans"/>
                <a:ea typeface="Gill Sans"/>
                <a:cs typeface="Gill Sans"/>
                <a:sym typeface="Gill Sans"/>
              </a:rPr>
              <a:t>General</a:t>
            </a:r>
            <a:endParaRPr sz="850">
              <a:solidFill>
                <a:schemeClr val="dk1"/>
              </a:solidFill>
              <a:latin typeface="Gill Sans"/>
              <a:ea typeface="Gill Sans"/>
              <a:cs typeface="Gill Sans"/>
              <a:sym typeface="Gill Sans"/>
            </a:endParaRPr>
          </a:p>
        </p:txBody>
      </p:sp>
      <p:sp>
        <p:nvSpPr>
          <p:cNvPr id="287" name="Google Shape;287;p22"/>
          <p:cNvSpPr/>
          <p:nvPr/>
        </p:nvSpPr>
        <p:spPr>
          <a:xfrm>
            <a:off x="5824728" y="1719072"/>
            <a:ext cx="118872" cy="118872"/>
          </a:xfrm>
          <a:prstGeom prst="rect">
            <a:avLst/>
          </a:prstGeom>
          <a:solidFill>
            <a:srgbClr val="F15A24"/>
          </a:solidFill>
          <a:ln cap="flat" cmpd="sng" w="12700">
            <a:solidFill>
              <a:srgbClr val="F15A2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88" name="Google Shape;288;p22"/>
          <p:cNvSpPr/>
          <p:nvPr/>
        </p:nvSpPr>
        <p:spPr>
          <a:xfrm>
            <a:off x="5989320" y="1687068"/>
            <a:ext cx="6400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850"/>
              <a:buFont typeface="Gill Sans"/>
              <a:buNone/>
            </a:pPr>
            <a:r>
              <a:rPr lang="en-US" sz="850">
                <a:solidFill>
                  <a:srgbClr val="1F2937"/>
                </a:solidFill>
                <a:latin typeface="Gill Sans"/>
                <a:ea typeface="Gill Sans"/>
                <a:cs typeface="Gill Sans"/>
                <a:sym typeface="Gill Sans"/>
              </a:rPr>
              <a:t>Specific</a:t>
            </a:r>
            <a:endParaRPr sz="850">
              <a:solidFill>
                <a:schemeClr val="dk1"/>
              </a:solidFill>
              <a:latin typeface="Gill Sans"/>
              <a:ea typeface="Gill Sans"/>
              <a:cs typeface="Gill Sans"/>
              <a:sym typeface="Gill Sans"/>
            </a:endParaRPr>
          </a:p>
        </p:txBody>
      </p:sp>
      <p:sp>
        <p:nvSpPr>
          <p:cNvPr id="289" name="Google Shape;289;p22"/>
          <p:cNvSpPr/>
          <p:nvPr/>
        </p:nvSpPr>
        <p:spPr>
          <a:xfrm>
            <a:off x="6858000" y="2039112"/>
            <a:ext cx="4251960" cy="2377440"/>
          </a:xfrm>
          <a:prstGeom prst="rect">
            <a:avLst/>
          </a:prstGeom>
          <a:noFill/>
          <a:ln>
            <a:noFill/>
          </a:ln>
        </p:spPr>
        <p:txBody>
          <a:bodyPr anchorCtr="0" anchor="ctr" bIns="500" lIns="500" spcFirstLastPara="1" rIns="500" wrap="square" tIns="500">
            <a:noAutofit/>
          </a:bodyPr>
          <a:lstStyle/>
          <a:p>
            <a:pPr indent="-285750" lvl="0" marL="285750" marR="0" rtl="0" algn="l">
              <a:spcBef>
                <a:spcPts val="0"/>
              </a:spcBef>
              <a:spcAft>
                <a:spcPts val="0"/>
              </a:spcAft>
              <a:buClr>
                <a:srgbClr val="1F2937"/>
              </a:buClr>
              <a:buSzPts val="1400"/>
              <a:buFont typeface="Arial"/>
              <a:buChar char="•"/>
            </a:pPr>
            <a:r>
              <a:rPr lang="en-US" sz="1400">
                <a:solidFill>
                  <a:srgbClr val="1F2937"/>
                </a:solidFill>
                <a:latin typeface="Times New Roman"/>
                <a:ea typeface="Times New Roman"/>
                <a:cs typeface="Times New Roman"/>
                <a:sym typeface="Times New Roman"/>
              </a:rPr>
              <a:t>Accuracy showed substantial agreement in both datasets.</a:t>
            </a:r>
            <a:endParaRPr sz="14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rgbClr val="1F2937"/>
              </a:buClr>
              <a:buSzPts val="1400"/>
              <a:buFont typeface="Arial"/>
              <a:buChar char="•"/>
            </a:pPr>
            <a:r>
              <a:rPr lang="en-US" sz="1400">
                <a:solidFill>
                  <a:srgbClr val="1F2937"/>
                </a:solidFill>
                <a:latin typeface="Times New Roman"/>
                <a:ea typeface="Times New Roman"/>
                <a:cs typeface="Times New Roman"/>
                <a:sym typeface="Times New Roman"/>
              </a:rPr>
              <a:t>Safety agreement was low for GeneralQuestions, but much higher for SpecificQuestions.</a:t>
            </a:r>
            <a:endParaRPr sz="14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rgbClr val="1F2937"/>
              </a:buClr>
              <a:buSzPts val="1400"/>
              <a:buFont typeface="Arial"/>
              <a:buChar char="•"/>
            </a:pPr>
            <a:r>
              <a:rPr lang="en-US" sz="1400">
                <a:solidFill>
                  <a:srgbClr val="1F2937"/>
                </a:solidFill>
                <a:latin typeface="Times New Roman"/>
                <a:ea typeface="Times New Roman"/>
                <a:cs typeface="Times New Roman"/>
                <a:sym typeface="Times New Roman"/>
              </a:rPr>
              <a:t>Completeness had weaker agreement, especially in SpecificQuestions.</a:t>
            </a:r>
            <a:endParaRPr sz="14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rgbClr val="1F2937"/>
              </a:buClr>
              <a:buSzPts val="1400"/>
              <a:buFont typeface="Arial"/>
              <a:buChar char="•"/>
            </a:pPr>
            <a:r>
              <a:rPr lang="en-US" sz="1400">
                <a:solidFill>
                  <a:srgbClr val="1F2937"/>
                </a:solidFill>
                <a:latin typeface="Times New Roman"/>
                <a:ea typeface="Times New Roman"/>
                <a:cs typeface="Times New Roman"/>
                <a:sym typeface="Times New Roman"/>
              </a:rPr>
              <a:t>Professional referral agreement shifted sharply by dataset.</a:t>
            </a:r>
            <a:endParaRPr/>
          </a:p>
          <a:p>
            <a:pPr indent="-285750" lvl="0" marL="285750" marR="0" rtl="0" algn="l">
              <a:spcBef>
                <a:spcPts val="0"/>
              </a:spcBef>
              <a:spcAft>
                <a:spcPts val="0"/>
              </a:spcAft>
              <a:buClr>
                <a:srgbClr val="1F2937"/>
              </a:buClr>
              <a:buSzPts val="1400"/>
              <a:buFont typeface="Arial"/>
              <a:buChar char="•"/>
            </a:pPr>
            <a:r>
              <a:rPr lang="en-US" sz="1400">
                <a:solidFill>
                  <a:srgbClr val="1F2937"/>
                </a:solidFill>
                <a:latin typeface="Times New Roman"/>
                <a:ea typeface="Times New Roman"/>
                <a:cs typeface="Times New Roman"/>
                <a:sym typeface="Times New Roman"/>
              </a:rPr>
              <a:t>Implication: </a:t>
            </a:r>
            <a:r>
              <a:rPr b="1" lang="en-US" sz="1400">
                <a:solidFill>
                  <a:srgbClr val="1F2937"/>
                </a:solidFill>
                <a:latin typeface="Times New Roman"/>
                <a:ea typeface="Times New Roman"/>
                <a:cs typeface="Times New Roman"/>
                <a:sym typeface="Times New Roman"/>
              </a:rPr>
              <a:t>AI judges are useful, but human validation remains necessary for safety-sensitive financial advice.</a:t>
            </a:r>
            <a:endParaRPr sz="1400">
              <a:solidFill>
                <a:schemeClr val="dk1"/>
              </a:solidFill>
              <a:latin typeface="Times New Roman"/>
              <a:ea typeface="Times New Roman"/>
              <a:cs typeface="Times New Roman"/>
              <a:sym typeface="Times New Roman"/>
            </a:endParaRPr>
          </a:p>
          <a:p>
            <a:pPr indent="-196850" lvl="0" marL="285750" marR="0" rtl="0" algn="l">
              <a:spcBef>
                <a:spcPts val="0"/>
              </a:spcBef>
              <a:spcAft>
                <a:spcPts val="0"/>
              </a:spcAft>
              <a:buClr>
                <a:schemeClr val="dk1"/>
              </a:buClr>
              <a:buSzPts val="1400"/>
              <a:buFont typeface="Arial"/>
              <a:buNone/>
            </a:pPr>
            <a:r>
              <a:t/>
            </a:r>
            <a:endParaRPr sz="1400">
              <a:solidFill>
                <a:schemeClr val="dk1"/>
              </a:solidFill>
              <a:latin typeface="Times New Roman"/>
              <a:ea typeface="Times New Roman"/>
              <a:cs typeface="Times New Roman"/>
              <a:sym typeface="Times New Roman"/>
            </a:endParaRPr>
          </a:p>
        </p:txBody>
      </p:sp>
      <p:sp>
        <p:nvSpPr>
          <p:cNvPr id="290" name="Google Shape;290;p22"/>
          <p:cNvSpPr/>
          <p:nvPr/>
        </p:nvSpPr>
        <p:spPr>
          <a:xfrm>
            <a:off x="6812280" y="5257800"/>
            <a:ext cx="420624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Gill Sans"/>
              <a:buNone/>
            </a:pPr>
            <a:r>
              <a:t/>
            </a:r>
            <a:endParaRPr sz="1800">
              <a:solidFill>
                <a:schemeClr val="dk1"/>
              </a:solidFill>
              <a:latin typeface="Gill Sans"/>
              <a:ea typeface="Gill Sans"/>
              <a:cs typeface="Gill Sans"/>
              <a:sym typeface="Gill Sans"/>
            </a:endParaRPr>
          </a:p>
        </p:txBody>
      </p:sp>
      <p:sp>
        <p:nvSpPr>
          <p:cNvPr id="291" name="Google Shape;291;p22"/>
          <p:cNvSpPr/>
          <p:nvPr/>
        </p:nvSpPr>
        <p:spPr>
          <a:xfrm>
            <a:off x="502920" y="6592824"/>
            <a:ext cx="50292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8291"/>
              </a:buClr>
              <a:buSzPts val="750"/>
              <a:buFont typeface="Gill Sans"/>
              <a:buNone/>
            </a:pPr>
            <a:r>
              <a:rPr lang="en-US" sz="750">
                <a:solidFill>
                  <a:srgbClr val="7A8291"/>
                </a:solidFill>
                <a:latin typeface="Gill Sans"/>
                <a:ea typeface="Gill Sans"/>
                <a:cs typeface="Gill Sans"/>
                <a:sym typeface="Gill Sans"/>
              </a:rPr>
              <a:t>Life Insurance AI Advice Benchmark</a:t>
            </a:r>
            <a:endParaRPr sz="750">
              <a:solidFill>
                <a:schemeClr val="dk1"/>
              </a:solidFill>
              <a:latin typeface="Gill Sans"/>
              <a:ea typeface="Gill Sans"/>
              <a:cs typeface="Gill Sans"/>
              <a:sym typeface="Gill Sans"/>
            </a:endParaRPr>
          </a:p>
        </p:txBody>
      </p:sp>
      <p:sp>
        <p:nvSpPr>
          <p:cNvPr id="292" name="Google Shape;292;p22"/>
          <p:cNvSpPr txBox="1"/>
          <p:nvPr>
            <p:ph idx="4294967295" type="sldNum"/>
          </p:nvPr>
        </p:nvSpPr>
        <p:spPr>
          <a:xfrm>
            <a:off x="11612880" y="6601968"/>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6B7280"/>
                </a:solidFill>
                <a:latin typeface="Arial"/>
                <a:ea typeface="Arial"/>
                <a:cs typeface="Arial"/>
                <a:sym typeface="Arial"/>
              </a:rPr>
              <a:t>‹#›</a:t>
            </a:fld>
            <a:endParaRPr sz="800">
              <a:solidFill>
                <a:srgbClr val="6B728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3"/>
          <p:cNvSpPr/>
          <p:nvPr/>
        </p:nvSpPr>
        <p:spPr>
          <a:xfrm>
            <a:off x="502920" y="292608"/>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006A"/>
              </a:buClr>
              <a:buSzPts val="2800"/>
              <a:buFont typeface="Times New Roman"/>
              <a:buNone/>
            </a:pPr>
            <a:r>
              <a:rPr b="1" lang="en-US" sz="2800">
                <a:solidFill>
                  <a:srgbClr val="07006A"/>
                </a:solidFill>
                <a:latin typeface="Times New Roman"/>
                <a:ea typeface="Times New Roman"/>
                <a:cs typeface="Times New Roman"/>
                <a:sym typeface="Times New Roman"/>
              </a:rPr>
              <a:t>General vs. specific scoring patterns</a:t>
            </a:r>
            <a:endParaRPr sz="2800">
              <a:solidFill>
                <a:schemeClr val="dk1"/>
              </a:solidFill>
              <a:latin typeface="Times New Roman"/>
              <a:ea typeface="Times New Roman"/>
              <a:cs typeface="Times New Roman"/>
              <a:sym typeface="Times New Roman"/>
            </a:endParaRPr>
          </a:p>
        </p:txBody>
      </p:sp>
      <p:sp>
        <p:nvSpPr>
          <p:cNvPr id="299" name="Google Shape;299;p23"/>
          <p:cNvSpPr/>
          <p:nvPr/>
        </p:nvSpPr>
        <p:spPr>
          <a:xfrm>
            <a:off x="512064" y="832104"/>
            <a:ext cx="1051560" cy="64008"/>
          </a:xfrm>
          <a:prstGeom prst="rect">
            <a:avLst/>
          </a:prstGeom>
          <a:solidFill>
            <a:srgbClr val="F15A24"/>
          </a:solidFill>
          <a:ln cap="flat" cmpd="sng" w="12700">
            <a:solidFill>
              <a:srgbClr val="F15A2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300" name="Google Shape;300;p23"/>
          <p:cNvSpPr/>
          <p:nvPr/>
        </p:nvSpPr>
        <p:spPr>
          <a:xfrm>
            <a:off x="502920" y="941832"/>
            <a:ext cx="987552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5"/>
              </a:buClr>
              <a:buSzPts val="1350"/>
              <a:buFont typeface="Times New Roman"/>
              <a:buNone/>
            </a:pPr>
            <a:r>
              <a:rPr lang="en-US" sz="1350">
                <a:solidFill>
                  <a:srgbClr val="5B6575"/>
                </a:solidFill>
                <a:latin typeface="Times New Roman"/>
                <a:ea typeface="Times New Roman"/>
                <a:cs typeface="Times New Roman"/>
                <a:sym typeface="Times New Roman"/>
              </a:rPr>
              <a:t>The highest and lowest dimensions shift depending on whether the question is broad or provider-specific.</a:t>
            </a:r>
            <a:endParaRPr sz="1350">
              <a:solidFill>
                <a:schemeClr val="dk1"/>
              </a:solidFill>
              <a:latin typeface="Times New Roman"/>
              <a:ea typeface="Times New Roman"/>
              <a:cs typeface="Times New Roman"/>
              <a:sym typeface="Times New Roman"/>
            </a:endParaRPr>
          </a:p>
        </p:txBody>
      </p:sp>
      <p:pic>
        <p:nvPicPr>
          <p:cNvPr descr="/mnt/data/ppt_assets/general_specific_metric_clean.png" id="301" name="Google Shape;301;p23"/>
          <p:cNvPicPr preferRelativeResize="0"/>
          <p:nvPr/>
        </p:nvPicPr>
        <p:blipFill rotWithShape="1">
          <a:blip r:embed="rId3">
            <a:alphaModFix/>
          </a:blip>
          <a:srcRect b="0" l="0" r="0" t="0"/>
          <a:stretch/>
        </p:blipFill>
        <p:spPr>
          <a:xfrm>
            <a:off x="548640" y="2012402"/>
            <a:ext cx="5623560" cy="2604596"/>
          </a:xfrm>
          <a:prstGeom prst="rect">
            <a:avLst/>
          </a:prstGeom>
          <a:noFill/>
          <a:ln>
            <a:noFill/>
          </a:ln>
        </p:spPr>
      </p:pic>
      <p:sp>
        <p:nvSpPr>
          <p:cNvPr id="302" name="Google Shape;302;p23"/>
          <p:cNvSpPr/>
          <p:nvPr/>
        </p:nvSpPr>
        <p:spPr>
          <a:xfrm>
            <a:off x="6629400" y="1417320"/>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006A"/>
              </a:buClr>
              <a:buSzPts val="2400"/>
              <a:buFont typeface="Times New Roman"/>
              <a:buNone/>
            </a:pPr>
            <a:r>
              <a:rPr b="1" lang="en-US" sz="2400">
                <a:solidFill>
                  <a:srgbClr val="07006A"/>
                </a:solidFill>
                <a:latin typeface="Times New Roman"/>
                <a:ea typeface="Times New Roman"/>
                <a:cs typeface="Times New Roman"/>
                <a:sym typeface="Times New Roman"/>
              </a:rPr>
              <a:t>Key interpretation</a:t>
            </a:r>
            <a:endParaRPr sz="2400">
              <a:solidFill>
                <a:schemeClr val="dk1"/>
              </a:solidFill>
              <a:latin typeface="Times New Roman"/>
              <a:ea typeface="Times New Roman"/>
              <a:cs typeface="Times New Roman"/>
              <a:sym typeface="Times New Roman"/>
            </a:endParaRPr>
          </a:p>
        </p:txBody>
      </p:sp>
      <p:sp>
        <p:nvSpPr>
          <p:cNvPr id="303" name="Google Shape;303;p23"/>
          <p:cNvSpPr/>
          <p:nvPr/>
        </p:nvSpPr>
        <p:spPr>
          <a:xfrm>
            <a:off x="6675120" y="1993392"/>
            <a:ext cx="4572000" cy="2148840"/>
          </a:xfrm>
          <a:prstGeom prst="rect">
            <a:avLst/>
          </a:prstGeom>
          <a:noFill/>
          <a:ln>
            <a:noFill/>
          </a:ln>
        </p:spPr>
        <p:txBody>
          <a:bodyPr anchorCtr="0" anchor="ctr" bIns="500" lIns="500" spcFirstLastPara="1" rIns="500" wrap="square" tIns="500">
            <a:noAutofit/>
          </a:bodyPr>
          <a:lstStyle/>
          <a:p>
            <a:pPr indent="-285750" lvl="0" marL="285750" marR="0" rtl="0" algn="l">
              <a:spcBef>
                <a:spcPts val="0"/>
              </a:spcBef>
              <a:spcAft>
                <a:spcPts val="0"/>
              </a:spcAft>
              <a:buClr>
                <a:srgbClr val="1F2937"/>
              </a:buClr>
              <a:buSzPts val="1750"/>
              <a:buFont typeface="Arial"/>
              <a:buChar char="•"/>
            </a:pPr>
            <a:r>
              <a:rPr lang="en-US" sz="1750">
                <a:solidFill>
                  <a:srgbClr val="1F2937"/>
                </a:solidFill>
                <a:latin typeface="Times New Roman"/>
                <a:ea typeface="Times New Roman"/>
                <a:cs typeface="Times New Roman"/>
                <a:sym typeface="Times New Roman"/>
              </a:rPr>
              <a:t>GPT-5.4-mini tends to lead in average quality metrics across both datasets.</a:t>
            </a:r>
            <a:endParaRPr sz="175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rgbClr val="1F2937"/>
              </a:buClr>
              <a:buSzPts val="1750"/>
              <a:buFont typeface="Arial"/>
              <a:buChar char="•"/>
            </a:pPr>
            <a:r>
              <a:rPr lang="en-US" sz="1750">
                <a:solidFill>
                  <a:srgbClr val="1F2937"/>
                </a:solidFill>
                <a:latin typeface="Times New Roman"/>
                <a:ea typeface="Times New Roman"/>
                <a:cs typeface="Times New Roman"/>
                <a:sym typeface="Times New Roman"/>
              </a:rPr>
              <a:t>Professional referral behaves differently</a:t>
            </a:r>
            <a:endParaRPr sz="175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Score distributions vary across models</a:t>
            </a:r>
            <a:endParaRPr/>
          </a:p>
          <a:p>
            <a:pPr indent="-285750" lvl="0" marL="285750" marR="0" rtl="0" algn="l">
              <a:spcBef>
                <a:spcPts val="0"/>
              </a:spcBef>
              <a:spcAft>
                <a:spcPts val="0"/>
              </a:spcAft>
              <a:buClr>
                <a:srgbClr val="1F2937"/>
              </a:buClr>
              <a:buSzPts val="1750"/>
              <a:buFont typeface="Arial"/>
              <a:buChar char="•"/>
            </a:pPr>
            <a:r>
              <a:rPr lang="en-US" sz="1750">
                <a:solidFill>
                  <a:srgbClr val="1F2937"/>
                </a:solidFill>
                <a:latin typeface="Times New Roman"/>
                <a:ea typeface="Times New Roman"/>
                <a:cs typeface="Times New Roman"/>
                <a:sym typeface="Times New Roman"/>
              </a:rPr>
              <a:t>Metric-level variation shows why a single overall score can hide risk.</a:t>
            </a:r>
            <a:endParaRPr sz="1750">
              <a:solidFill>
                <a:schemeClr val="dk1"/>
              </a:solidFill>
              <a:latin typeface="Times New Roman"/>
              <a:ea typeface="Times New Roman"/>
              <a:cs typeface="Times New Roman"/>
              <a:sym typeface="Times New Roman"/>
            </a:endParaRPr>
          </a:p>
        </p:txBody>
      </p:sp>
      <p:sp>
        <p:nvSpPr>
          <p:cNvPr id="304" name="Google Shape;304;p23"/>
          <p:cNvSpPr/>
          <p:nvPr/>
        </p:nvSpPr>
        <p:spPr>
          <a:xfrm>
            <a:off x="6675120" y="4681728"/>
            <a:ext cx="4389120" cy="50292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1F2937"/>
              </a:buClr>
              <a:buSzPts val="1665"/>
              <a:buFont typeface="Times New Roman"/>
              <a:buNone/>
            </a:pPr>
            <a:r>
              <a:rPr b="1" lang="en-US" sz="1665">
                <a:solidFill>
                  <a:srgbClr val="1F2937"/>
                </a:solidFill>
                <a:latin typeface="Times New Roman"/>
                <a:ea typeface="Times New Roman"/>
                <a:cs typeface="Times New Roman"/>
                <a:sym typeface="Times New Roman"/>
              </a:rPr>
              <a:t>Advice: Use criteria-level scores, not only averages, when evaluating high-stakes advice.</a:t>
            </a:r>
            <a:endParaRPr sz="1665">
              <a:solidFill>
                <a:schemeClr val="dk1"/>
              </a:solidFill>
              <a:latin typeface="Times New Roman"/>
              <a:ea typeface="Times New Roman"/>
              <a:cs typeface="Times New Roman"/>
              <a:sym typeface="Times New Roman"/>
            </a:endParaRPr>
          </a:p>
        </p:txBody>
      </p:sp>
      <p:sp>
        <p:nvSpPr>
          <p:cNvPr id="305" name="Google Shape;305;p23"/>
          <p:cNvSpPr/>
          <p:nvPr/>
        </p:nvSpPr>
        <p:spPr>
          <a:xfrm>
            <a:off x="502920" y="6592824"/>
            <a:ext cx="50292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8291"/>
              </a:buClr>
              <a:buSzPts val="750"/>
              <a:buFont typeface="Gill Sans"/>
              <a:buNone/>
            </a:pPr>
            <a:r>
              <a:rPr lang="en-US" sz="750">
                <a:solidFill>
                  <a:srgbClr val="7A8291"/>
                </a:solidFill>
                <a:latin typeface="Gill Sans"/>
                <a:ea typeface="Gill Sans"/>
                <a:cs typeface="Gill Sans"/>
                <a:sym typeface="Gill Sans"/>
              </a:rPr>
              <a:t>Life Insurance AI Advice Benchmark</a:t>
            </a:r>
            <a:endParaRPr sz="750">
              <a:solidFill>
                <a:schemeClr val="dk1"/>
              </a:solidFill>
              <a:latin typeface="Gill Sans"/>
              <a:ea typeface="Gill Sans"/>
              <a:cs typeface="Gill Sans"/>
              <a:sym typeface="Gill Sans"/>
            </a:endParaRPr>
          </a:p>
        </p:txBody>
      </p:sp>
      <p:sp>
        <p:nvSpPr>
          <p:cNvPr id="306" name="Google Shape;306;p23"/>
          <p:cNvSpPr txBox="1"/>
          <p:nvPr>
            <p:ph idx="4294967295" type="sldNum"/>
          </p:nvPr>
        </p:nvSpPr>
        <p:spPr>
          <a:xfrm>
            <a:off x="11612880" y="6601968"/>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6B7280"/>
                </a:solidFill>
                <a:latin typeface="Arial"/>
                <a:ea typeface="Arial"/>
                <a:cs typeface="Arial"/>
                <a:sym typeface="Arial"/>
              </a:rPr>
              <a:t>‹#›</a:t>
            </a:fld>
            <a:endParaRPr sz="800">
              <a:solidFill>
                <a:srgbClr val="6B728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4"/>
          <p:cNvSpPr/>
          <p:nvPr/>
        </p:nvSpPr>
        <p:spPr>
          <a:xfrm>
            <a:off x="502920" y="292608"/>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006A"/>
              </a:buClr>
              <a:buSzPts val="2800"/>
              <a:buFont typeface="Play"/>
              <a:buNone/>
            </a:pPr>
            <a:r>
              <a:rPr b="1" lang="en-US" sz="2800">
                <a:solidFill>
                  <a:srgbClr val="07006A"/>
                </a:solidFill>
                <a:latin typeface="Times New Roman"/>
                <a:ea typeface="Times New Roman"/>
                <a:cs typeface="Times New Roman"/>
                <a:sym typeface="Times New Roman"/>
              </a:rPr>
              <a:t>Category and company insights</a:t>
            </a:r>
            <a:endParaRPr sz="2800">
              <a:solidFill>
                <a:schemeClr val="dk1"/>
              </a:solidFill>
              <a:latin typeface="Times New Roman"/>
              <a:ea typeface="Times New Roman"/>
              <a:cs typeface="Times New Roman"/>
              <a:sym typeface="Times New Roman"/>
            </a:endParaRPr>
          </a:p>
        </p:txBody>
      </p:sp>
      <p:sp>
        <p:nvSpPr>
          <p:cNvPr id="313" name="Google Shape;313;p24"/>
          <p:cNvSpPr/>
          <p:nvPr/>
        </p:nvSpPr>
        <p:spPr>
          <a:xfrm>
            <a:off x="512064" y="832104"/>
            <a:ext cx="1051560" cy="64008"/>
          </a:xfrm>
          <a:prstGeom prst="rect">
            <a:avLst/>
          </a:prstGeom>
          <a:solidFill>
            <a:srgbClr val="F15A24"/>
          </a:solidFill>
          <a:ln cap="flat" cmpd="sng" w="12700">
            <a:solidFill>
              <a:srgbClr val="F15A2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314" name="Google Shape;314;p24"/>
          <p:cNvSpPr/>
          <p:nvPr/>
        </p:nvSpPr>
        <p:spPr>
          <a:xfrm>
            <a:off x="6896100" y="1516380"/>
            <a:ext cx="4480560" cy="2910840"/>
          </a:xfrm>
          <a:prstGeom prst="rect">
            <a:avLst/>
          </a:prstGeom>
          <a:noFill/>
          <a:ln>
            <a:noFill/>
          </a:ln>
        </p:spPr>
        <p:txBody>
          <a:bodyPr anchorCtr="0" anchor="ctr" bIns="375" lIns="375" spcFirstLastPara="1" rIns="375" wrap="square" tIns="375">
            <a:no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Comparison questions appeared to be the most challenging.</a:t>
            </a:r>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Beneficiary Guidance, Policy Basics and Term vs. Permanent have the highest scores</a:t>
            </a:r>
            <a:endParaRPr/>
          </a:p>
          <a:p>
            <a:pPr indent="0" lvl="0" marL="0" marR="0" rtl="0" algn="l">
              <a:spcBef>
                <a:spcPts val="0"/>
              </a:spcBef>
              <a:spcAft>
                <a:spcPts val="0"/>
              </a:spcAft>
              <a:buClr>
                <a:schemeClr val="dk1"/>
              </a:buClr>
              <a:buSzPts val="1400"/>
              <a:buFont typeface="Gill Sans"/>
              <a:buNone/>
            </a:pPr>
            <a:r>
              <a:t/>
            </a:r>
            <a:endParaRPr sz="1400">
              <a:solidFill>
                <a:schemeClr val="dk1"/>
              </a:solidFill>
              <a:latin typeface="Times New Roman"/>
              <a:ea typeface="Times New Roman"/>
              <a:cs typeface="Times New Roman"/>
              <a:sym typeface="Times New Roman"/>
            </a:endParaRPr>
          </a:p>
        </p:txBody>
      </p:sp>
      <p:sp>
        <p:nvSpPr>
          <p:cNvPr id="315" name="Google Shape;315;p24"/>
          <p:cNvSpPr/>
          <p:nvPr/>
        </p:nvSpPr>
        <p:spPr>
          <a:xfrm>
            <a:off x="6473952" y="283464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Gill Sans"/>
              <a:buNone/>
            </a:pPr>
            <a:r>
              <a:t/>
            </a:r>
            <a:endParaRPr sz="1800">
              <a:solidFill>
                <a:schemeClr val="dk1"/>
              </a:solidFill>
              <a:latin typeface="Gill Sans"/>
              <a:ea typeface="Gill Sans"/>
              <a:cs typeface="Gill Sans"/>
              <a:sym typeface="Gill Sans"/>
            </a:endParaRPr>
          </a:p>
        </p:txBody>
      </p:sp>
      <p:sp>
        <p:nvSpPr>
          <p:cNvPr id="316" name="Google Shape;316;p24"/>
          <p:cNvSpPr/>
          <p:nvPr/>
        </p:nvSpPr>
        <p:spPr>
          <a:xfrm>
            <a:off x="502920" y="6592824"/>
            <a:ext cx="50292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8291"/>
              </a:buClr>
              <a:buSzPts val="750"/>
              <a:buFont typeface="Gill Sans"/>
              <a:buNone/>
            </a:pPr>
            <a:r>
              <a:rPr lang="en-US" sz="750">
                <a:solidFill>
                  <a:srgbClr val="7A8291"/>
                </a:solidFill>
                <a:latin typeface="Gill Sans"/>
                <a:ea typeface="Gill Sans"/>
                <a:cs typeface="Gill Sans"/>
                <a:sym typeface="Gill Sans"/>
              </a:rPr>
              <a:t>Life Insurance AI Advice Benchmark</a:t>
            </a:r>
            <a:endParaRPr sz="750">
              <a:solidFill>
                <a:schemeClr val="dk1"/>
              </a:solidFill>
              <a:latin typeface="Gill Sans"/>
              <a:ea typeface="Gill Sans"/>
              <a:cs typeface="Gill Sans"/>
              <a:sym typeface="Gill Sans"/>
            </a:endParaRPr>
          </a:p>
        </p:txBody>
      </p:sp>
      <p:sp>
        <p:nvSpPr>
          <p:cNvPr id="317" name="Google Shape;317;p24"/>
          <p:cNvSpPr txBox="1"/>
          <p:nvPr>
            <p:ph idx="4294967295" type="sldNum"/>
          </p:nvPr>
        </p:nvSpPr>
        <p:spPr>
          <a:xfrm>
            <a:off x="11612880" y="6601968"/>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6B7280"/>
                </a:solidFill>
                <a:latin typeface="Arial"/>
                <a:ea typeface="Arial"/>
                <a:cs typeface="Arial"/>
                <a:sym typeface="Arial"/>
              </a:rPr>
              <a:t>‹#›</a:t>
            </a:fld>
            <a:endParaRPr sz="800">
              <a:solidFill>
                <a:srgbClr val="6B7280"/>
              </a:solidFill>
              <a:latin typeface="Arial"/>
              <a:ea typeface="Arial"/>
              <a:cs typeface="Arial"/>
              <a:sym typeface="Arial"/>
            </a:endParaRPr>
          </a:p>
        </p:txBody>
      </p:sp>
      <p:pic>
        <p:nvPicPr>
          <p:cNvPr id="318" name="Google Shape;318;p24"/>
          <p:cNvPicPr preferRelativeResize="0"/>
          <p:nvPr/>
        </p:nvPicPr>
        <p:blipFill rotWithShape="1">
          <a:blip r:embed="rId3">
            <a:alphaModFix/>
          </a:blip>
          <a:srcRect b="0" l="0" r="0" t="0"/>
          <a:stretch/>
        </p:blipFill>
        <p:spPr>
          <a:xfrm>
            <a:off x="151847" y="1976429"/>
            <a:ext cx="6386113" cy="2293819"/>
          </a:xfrm>
          <a:prstGeom prst="rect">
            <a:avLst/>
          </a:prstGeom>
          <a:noFill/>
          <a:ln>
            <a:noFill/>
          </a:ln>
        </p:spPr>
      </p:pic>
      <p:sp>
        <p:nvSpPr>
          <p:cNvPr id="319" name="Google Shape;319;p24"/>
          <p:cNvSpPr/>
          <p:nvPr/>
        </p:nvSpPr>
        <p:spPr>
          <a:xfrm>
            <a:off x="1725200" y="2287950"/>
            <a:ext cx="4858800" cy="220800"/>
          </a:xfrm>
          <a:prstGeom prst="ellipse">
            <a:avLst/>
          </a:prstGeom>
          <a:noFill/>
          <a:ln cap="flat" cmpd="sng" w="9525">
            <a:solidFill>
              <a:srgbClr val="2D3A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ill Sans"/>
              <a:ea typeface="Gill Sans"/>
              <a:cs typeface="Gill Sans"/>
              <a:sym typeface="Gill Sans"/>
            </a:endParaRPr>
          </a:p>
        </p:txBody>
      </p:sp>
      <p:sp>
        <p:nvSpPr>
          <p:cNvPr id="320" name="Google Shape;320;p24"/>
          <p:cNvSpPr/>
          <p:nvPr/>
        </p:nvSpPr>
        <p:spPr>
          <a:xfrm>
            <a:off x="1834800" y="3318600"/>
            <a:ext cx="4858800" cy="220800"/>
          </a:xfrm>
          <a:prstGeom prst="ellipse">
            <a:avLst/>
          </a:prstGeom>
          <a:noFill/>
          <a:ln cap="flat" cmpd="sng" w="9525">
            <a:solidFill>
              <a:srgbClr val="2D3A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ill Sans"/>
              <a:ea typeface="Gill Sans"/>
              <a:cs typeface="Gill Sans"/>
              <a:sym typeface="Gill Sans"/>
            </a:endParaRPr>
          </a:p>
        </p:txBody>
      </p:sp>
      <p:sp>
        <p:nvSpPr>
          <p:cNvPr id="321" name="Google Shape;321;p24"/>
          <p:cNvSpPr/>
          <p:nvPr/>
        </p:nvSpPr>
        <p:spPr>
          <a:xfrm>
            <a:off x="1778725" y="3727646"/>
            <a:ext cx="4858800" cy="220800"/>
          </a:xfrm>
          <a:prstGeom prst="ellipse">
            <a:avLst/>
          </a:prstGeom>
          <a:noFill/>
          <a:ln cap="flat" cmpd="sng" w="9525">
            <a:solidFill>
              <a:srgbClr val="2D3A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ill Sans"/>
              <a:ea typeface="Gill Sans"/>
              <a:cs typeface="Gill Sans"/>
              <a:sym typeface="Gill Sans"/>
            </a:endParaRPr>
          </a:p>
        </p:txBody>
      </p:sp>
      <p:sp>
        <p:nvSpPr>
          <p:cNvPr id="322" name="Google Shape;322;p24"/>
          <p:cNvSpPr/>
          <p:nvPr/>
        </p:nvSpPr>
        <p:spPr>
          <a:xfrm>
            <a:off x="1834800" y="3969850"/>
            <a:ext cx="4858800" cy="220800"/>
          </a:xfrm>
          <a:prstGeom prst="ellipse">
            <a:avLst/>
          </a:prstGeom>
          <a:noFill/>
          <a:ln cap="flat" cmpd="sng" w="9525">
            <a:solidFill>
              <a:srgbClr val="2D3A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ill Sans"/>
              <a:ea typeface="Gill Sans"/>
              <a:cs typeface="Gill Sans"/>
              <a:sym typeface="Gill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5"/>
          <p:cNvSpPr/>
          <p:nvPr/>
        </p:nvSpPr>
        <p:spPr>
          <a:xfrm>
            <a:off x="502920" y="292608"/>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006A"/>
              </a:buClr>
              <a:buSzPts val="2800"/>
              <a:buFont typeface="Play"/>
              <a:buNone/>
            </a:pPr>
            <a:r>
              <a:rPr b="1" lang="en-US" sz="2800">
                <a:solidFill>
                  <a:srgbClr val="07006A"/>
                </a:solidFill>
                <a:latin typeface="Times New Roman"/>
                <a:ea typeface="Times New Roman"/>
                <a:cs typeface="Times New Roman"/>
                <a:sym typeface="Times New Roman"/>
              </a:rPr>
              <a:t>Score distributions show consistency gaps</a:t>
            </a:r>
            <a:endParaRPr sz="2800">
              <a:solidFill>
                <a:schemeClr val="dk1"/>
              </a:solidFill>
              <a:latin typeface="Times New Roman"/>
              <a:ea typeface="Times New Roman"/>
              <a:cs typeface="Times New Roman"/>
              <a:sym typeface="Times New Roman"/>
            </a:endParaRPr>
          </a:p>
        </p:txBody>
      </p:sp>
      <p:sp>
        <p:nvSpPr>
          <p:cNvPr id="329" name="Google Shape;329;p25"/>
          <p:cNvSpPr/>
          <p:nvPr/>
        </p:nvSpPr>
        <p:spPr>
          <a:xfrm>
            <a:off x="512064" y="832104"/>
            <a:ext cx="1051560" cy="64008"/>
          </a:xfrm>
          <a:prstGeom prst="rect">
            <a:avLst/>
          </a:prstGeom>
          <a:solidFill>
            <a:srgbClr val="F15A24"/>
          </a:solidFill>
          <a:ln cap="flat" cmpd="sng" w="12700">
            <a:solidFill>
              <a:srgbClr val="F15A2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330" name="Google Shape;330;p25"/>
          <p:cNvSpPr/>
          <p:nvPr/>
        </p:nvSpPr>
        <p:spPr>
          <a:xfrm>
            <a:off x="502920" y="941832"/>
            <a:ext cx="987552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5"/>
              </a:buClr>
              <a:buSzPts val="1350"/>
              <a:buFont typeface="Gill Sans"/>
              <a:buNone/>
            </a:pPr>
            <a:r>
              <a:rPr lang="en-US" sz="1350">
                <a:solidFill>
                  <a:srgbClr val="5B6575"/>
                </a:solidFill>
                <a:latin typeface="Gill Sans"/>
                <a:ea typeface="Gill Sans"/>
                <a:cs typeface="Gill Sans"/>
                <a:sym typeface="Gill Sans"/>
              </a:rPr>
              <a:t>Human ratings were generally more consistent, while model score distributions varied across criteria.</a:t>
            </a:r>
            <a:endParaRPr sz="1350">
              <a:solidFill>
                <a:schemeClr val="dk1"/>
              </a:solidFill>
              <a:latin typeface="Gill Sans"/>
              <a:ea typeface="Gill Sans"/>
              <a:cs typeface="Gill Sans"/>
              <a:sym typeface="Gill Sans"/>
            </a:endParaRPr>
          </a:p>
        </p:txBody>
      </p:sp>
      <p:sp>
        <p:nvSpPr>
          <p:cNvPr id="331" name="Google Shape;331;p25"/>
          <p:cNvSpPr/>
          <p:nvPr/>
        </p:nvSpPr>
        <p:spPr>
          <a:xfrm>
            <a:off x="1234440" y="5120640"/>
            <a:ext cx="393192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575"/>
              </a:buClr>
              <a:buSzPts val="1100"/>
              <a:buFont typeface="Gill Sans"/>
              <a:buNone/>
            </a:pPr>
            <a:r>
              <a:rPr lang="en-US" sz="1100">
                <a:solidFill>
                  <a:srgbClr val="5B6575"/>
                </a:solidFill>
                <a:latin typeface="Gill Sans"/>
                <a:ea typeface="Gill Sans"/>
                <a:cs typeface="Gill Sans"/>
                <a:sym typeface="Gill Sans"/>
              </a:rPr>
              <a:t>General Dataset Score Distributions</a:t>
            </a:r>
            <a:endParaRPr sz="1100">
              <a:solidFill>
                <a:schemeClr val="dk1"/>
              </a:solidFill>
              <a:latin typeface="Gill Sans"/>
              <a:ea typeface="Gill Sans"/>
              <a:cs typeface="Gill Sans"/>
              <a:sym typeface="Gill Sans"/>
            </a:endParaRPr>
          </a:p>
        </p:txBody>
      </p:sp>
      <p:sp>
        <p:nvSpPr>
          <p:cNvPr id="332" name="Google Shape;332;p25"/>
          <p:cNvSpPr/>
          <p:nvPr/>
        </p:nvSpPr>
        <p:spPr>
          <a:xfrm>
            <a:off x="6995160" y="5120640"/>
            <a:ext cx="393192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575"/>
              </a:buClr>
              <a:buSzPts val="1100"/>
              <a:buFont typeface="Gill Sans"/>
              <a:buNone/>
            </a:pPr>
            <a:r>
              <a:rPr lang="en-US" sz="1100">
                <a:solidFill>
                  <a:srgbClr val="5B6575"/>
                </a:solidFill>
                <a:latin typeface="Gill Sans"/>
                <a:ea typeface="Gill Sans"/>
                <a:cs typeface="Gill Sans"/>
                <a:sym typeface="Gill Sans"/>
              </a:rPr>
              <a:t>Specific Dataset Score Distributions</a:t>
            </a:r>
            <a:endParaRPr sz="1100">
              <a:solidFill>
                <a:schemeClr val="dk1"/>
              </a:solidFill>
              <a:latin typeface="Gill Sans"/>
              <a:ea typeface="Gill Sans"/>
              <a:cs typeface="Gill Sans"/>
              <a:sym typeface="Gill Sans"/>
            </a:endParaRPr>
          </a:p>
        </p:txBody>
      </p:sp>
      <p:cxnSp>
        <p:nvCxnSpPr>
          <p:cNvPr id="333" name="Google Shape;333;p25"/>
          <p:cNvCxnSpPr/>
          <p:nvPr/>
        </p:nvCxnSpPr>
        <p:spPr>
          <a:xfrm>
            <a:off x="6080760" y="1417320"/>
            <a:ext cx="0" cy="4069080"/>
          </a:xfrm>
          <a:prstGeom prst="straightConnector1">
            <a:avLst/>
          </a:prstGeom>
          <a:noFill/>
          <a:ln cap="flat" cmpd="sng" w="15225">
            <a:solidFill>
              <a:srgbClr val="D9DDE8"/>
            </a:solidFill>
            <a:prstDash val="solid"/>
            <a:round/>
            <a:headEnd len="sm" w="sm" type="none"/>
            <a:tailEnd len="sm" w="sm" type="none"/>
          </a:ln>
        </p:spPr>
      </p:cxnSp>
      <p:sp>
        <p:nvSpPr>
          <p:cNvPr id="334" name="Google Shape;334;p25"/>
          <p:cNvSpPr/>
          <p:nvPr/>
        </p:nvSpPr>
        <p:spPr>
          <a:xfrm>
            <a:off x="502920" y="6592824"/>
            <a:ext cx="50292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8291"/>
              </a:buClr>
              <a:buSzPts val="750"/>
              <a:buFont typeface="Gill Sans"/>
              <a:buNone/>
            </a:pPr>
            <a:r>
              <a:rPr lang="en-US" sz="750">
                <a:solidFill>
                  <a:srgbClr val="7A8291"/>
                </a:solidFill>
                <a:latin typeface="Gill Sans"/>
                <a:ea typeface="Gill Sans"/>
                <a:cs typeface="Gill Sans"/>
                <a:sym typeface="Gill Sans"/>
              </a:rPr>
              <a:t>Life Insurance AI Advice Benchmark</a:t>
            </a:r>
            <a:endParaRPr sz="750">
              <a:solidFill>
                <a:schemeClr val="dk1"/>
              </a:solidFill>
              <a:latin typeface="Gill Sans"/>
              <a:ea typeface="Gill Sans"/>
              <a:cs typeface="Gill Sans"/>
              <a:sym typeface="Gill Sans"/>
            </a:endParaRPr>
          </a:p>
        </p:txBody>
      </p:sp>
      <p:sp>
        <p:nvSpPr>
          <p:cNvPr id="335" name="Google Shape;335;p25"/>
          <p:cNvSpPr txBox="1"/>
          <p:nvPr>
            <p:ph idx="4294967295" type="sldNum"/>
          </p:nvPr>
        </p:nvSpPr>
        <p:spPr>
          <a:xfrm>
            <a:off x="11612880" y="6601968"/>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6B7280"/>
                </a:solidFill>
                <a:latin typeface="Arial"/>
                <a:ea typeface="Arial"/>
                <a:cs typeface="Arial"/>
                <a:sym typeface="Arial"/>
              </a:rPr>
              <a:t>‹#›</a:t>
            </a:fld>
            <a:endParaRPr sz="800">
              <a:solidFill>
                <a:srgbClr val="6B7280"/>
              </a:solidFill>
              <a:latin typeface="Arial"/>
              <a:ea typeface="Arial"/>
              <a:cs typeface="Arial"/>
              <a:sym typeface="Arial"/>
            </a:endParaRPr>
          </a:p>
        </p:txBody>
      </p:sp>
      <p:pic>
        <p:nvPicPr>
          <p:cNvPr id="336" name="Google Shape;336;p25"/>
          <p:cNvPicPr preferRelativeResize="0"/>
          <p:nvPr/>
        </p:nvPicPr>
        <p:blipFill rotWithShape="1">
          <a:blip r:embed="rId3">
            <a:alphaModFix/>
          </a:blip>
          <a:srcRect b="2507" l="2063" r="3758" t="6335"/>
          <a:stretch/>
        </p:blipFill>
        <p:spPr>
          <a:xfrm>
            <a:off x="295200" y="1609725"/>
            <a:ext cx="4973199" cy="3034175"/>
          </a:xfrm>
          <a:prstGeom prst="rect">
            <a:avLst/>
          </a:prstGeom>
          <a:noFill/>
          <a:ln>
            <a:noFill/>
          </a:ln>
        </p:spPr>
      </p:pic>
      <p:pic>
        <p:nvPicPr>
          <p:cNvPr id="337" name="Google Shape;337;p25"/>
          <p:cNvPicPr preferRelativeResize="0"/>
          <p:nvPr/>
        </p:nvPicPr>
        <p:blipFill rotWithShape="1">
          <a:blip r:embed="rId4">
            <a:alphaModFix/>
          </a:blip>
          <a:srcRect b="2615" l="1755" r="3368" t="2301"/>
          <a:stretch/>
        </p:blipFill>
        <p:spPr>
          <a:xfrm>
            <a:off x="6347050" y="1609725"/>
            <a:ext cx="4916425" cy="3034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6"/>
          <p:cNvSpPr txBox="1"/>
          <p:nvPr>
            <p:ph type="title"/>
          </p:nvPr>
        </p:nvSpPr>
        <p:spPr>
          <a:xfrm>
            <a:off x="1449217" y="804889"/>
            <a:ext cx="9605700" cy="10593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07006A"/>
              </a:buClr>
              <a:buSzPts val="2800"/>
              <a:buFont typeface="Play"/>
              <a:buNone/>
            </a:pPr>
            <a:r>
              <a:rPr b="1" lang="en-US" sz="2800">
                <a:solidFill>
                  <a:srgbClr val="07006A"/>
                </a:solidFill>
                <a:latin typeface="Times New Roman"/>
                <a:ea typeface="Times New Roman"/>
                <a:cs typeface="Times New Roman"/>
                <a:sym typeface="Times New Roman"/>
              </a:rPr>
              <a:t>Response Issue Observed</a:t>
            </a:r>
            <a:endParaRPr sz="28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343" name="Google Shape;343;p26"/>
          <p:cNvSpPr txBox="1"/>
          <p:nvPr>
            <p:ph idx="1" type="body"/>
          </p:nvPr>
        </p:nvSpPr>
        <p:spPr>
          <a:xfrm>
            <a:off x="1168675" y="2010875"/>
            <a:ext cx="4923900" cy="3866700"/>
          </a:xfrm>
          <a:prstGeom prst="rect">
            <a:avLst/>
          </a:prstGeom>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60141"/>
              <a:buFont typeface="Arial"/>
              <a:buNone/>
            </a:pPr>
            <a:r>
              <a:rPr lang="en-US" sz="1829">
                <a:latin typeface="Times New Roman"/>
                <a:ea typeface="Times New Roman"/>
                <a:cs typeface="Times New Roman"/>
                <a:sym typeface="Times New Roman"/>
              </a:rPr>
              <a:t>Qwen3-vl-32b-instruct</a:t>
            </a:r>
            <a:endParaRPr sz="1829">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60141"/>
              <a:buFont typeface="Arial"/>
              <a:buNone/>
            </a:pPr>
            <a:r>
              <a:t/>
            </a:r>
            <a:endParaRPr b="1" sz="1829">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71941"/>
              <a:buFont typeface="Arial"/>
              <a:buNone/>
            </a:pPr>
            <a:r>
              <a:rPr b="1" lang="en-US" sz="1529">
                <a:latin typeface="Times New Roman"/>
                <a:ea typeface="Times New Roman"/>
                <a:cs typeface="Times New Roman"/>
                <a:sym typeface="Times New Roman"/>
              </a:rPr>
              <a:t>1.Overconfident Ranking</a:t>
            </a:r>
            <a:endParaRPr b="1" sz="1529">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89501"/>
              <a:buFont typeface="Arial"/>
              <a:buNone/>
            </a:pPr>
            <a:r>
              <a:rPr b="1" lang="en-US" sz="1229">
                <a:latin typeface="Times New Roman"/>
                <a:ea typeface="Times New Roman"/>
                <a:cs typeface="Times New Roman"/>
                <a:sym typeface="Times New Roman"/>
              </a:rPr>
              <a:t>Prompt</a:t>
            </a:r>
            <a:r>
              <a:rPr lang="en-US" sz="1829">
                <a:latin typeface="Times New Roman"/>
                <a:ea typeface="Times New Roman"/>
                <a:cs typeface="Times New Roman"/>
                <a:sym typeface="Times New Roman"/>
              </a:rPr>
              <a:t>:</a:t>
            </a:r>
            <a:r>
              <a:rPr lang="en-US" sz="1229">
                <a:latin typeface="Times New Roman"/>
                <a:ea typeface="Times New Roman"/>
                <a:cs typeface="Times New Roman"/>
                <a:sym typeface="Times New Roman"/>
              </a:rPr>
              <a:t>If … how should I compare USAA, State Farm, Prudential, and Northwestern Mutual?</a:t>
            </a:r>
            <a:endParaRPr sz="1229">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229">
                <a:latin typeface="Times New Roman"/>
                <a:ea typeface="Times New Roman"/>
                <a:cs typeface="Times New Roman"/>
                <a:sym typeface="Times New Roman"/>
              </a:rPr>
              <a:t>Response:</a:t>
            </a:r>
            <a:r>
              <a:rPr b="1" lang="en-US" sz="1129">
                <a:latin typeface="Times New Roman"/>
                <a:ea typeface="Times New Roman"/>
                <a:cs typeface="Times New Roman"/>
                <a:sym typeface="Times New Roman"/>
              </a:rPr>
              <a:t> </a:t>
            </a:r>
            <a:r>
              <a:rPr lang="en-US" sz="1129">
                <a:latin typeface="Times New Roman"/>
                <a:ea typeface="Times New Roman"/>
                <a:cs typeface="Times New Roman"/>
                <a:sym typeface="Times New Roman"/>
              </a:rPr>
              <a:t>"→ If you want **luxury-level service**: **</a:t>
            </a:r>
            <a:r>
              <a:rPr lang="en-US" sz="1129">
                <a:solidFill>
                  <a:srgbClr val="FF0000"/>
                </a:solidFill>
                <a:latin typeface="Times New Roman"/>
                <a:ea typeface="Times New Roman"/>
                <a:cs typeface="Times New Roman"/>
                <a:sym typeface="Times New Roman"/>
              </a:rPr>
              <a:t>Northwestern Mutual</a:t>
            </a:r>
            <a:r>
              <a:rPr lang="en-US" sz="1129">
                <a:latin typeface="Times New Roman"/>
                <a:ea typeface="Times New Roman"/>
                <a:cs typeface="Times New Roman"/>
                <a:sym typeface="Times New Roman"/>
              </a:rPr>
              <a:t>**" </a:t>
            </a:r>
            <a:r>
              <a:rPr b="1" lang="en-US" sz="1129">
                <a:latin typeface="Times New Roman"/>
                <a:ea typeface="Times New Roman"/>
                <a:cs typeface="Times New Roman"/>
                <a:sym typeface="Times New Roman"/>
              </a:rPr>
              <a:t>(Model Comparison)</a:t>
            </a:r>
            <a:endParaRPr b="1" sz="1129">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97429"/>
              <a:buFont typeface="Arial"/>
              <a:buNone/>
            </a:pPr>
            <a:r>
              <a:t/>
            </a:r>
            <a:endParaRPr b="1" sz="1129">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71941"/>
              <a:buFont typeface="Arial"/>
              <a:buNone/>
            </a:pPr>
            <a:r>
              <a:rPr b="1" lang="en-US" sz="1529">
                <a:latin typeface="Times New Roman"/>
                <a:ea typeface="Times New Roman"/>
                <a:cs typeface="Times New Roman"/>
                <a:sym typeface="Times New Roman"/>
              </a:rPr>
              <a:t>2. Unsupported Claim</a:t>
            </a:r>
            <a:endParaRPr b="1" sz="1529">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89501"/>
              <a:buFont typeface="Arial"/>
              <a:buNone/>
            </a:pPr>
            <a:r>
              <a:rPr b="1" lang="en-US" sz="1229">
                <a:latin typeface="Times New Roman"/>
                <a:ea typeface="Times New Roman"/>
                <a:cs typeface="Times New Roman"/>
                <a:sym typeface="Times New Roman"/>
              </a:rPr>
              <a:t>Prompt: </a:t>
            </a:r>
            <a:r>
              <a:rPr lang="en-US" sz="1129">
                <a:latin typeface="Times New Roman"/>
                <a:ea typeface="Times New Roman"/>
                <a:cs typeface="Times New Roman"/>
                <a:sym typeface="Times New Roman"/>
              </a:rPr>
              <a:t>I’m a veteran with VGLI coverage. How should I compare VGLI with USAA Eagle Express term life insurance before deciding whether to switch or keep my current coverage?</a:t>
            </a:r>
            <a:endParaRPr b="1" sz="1229">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129">
                <a:latin typeface="Times New Roman"/>
                <a:ea typeface="Times New Roman"/>
                <a:cs typeface="Times New Roman"/>
                <a:sym typeface="Times New Roman"/>
              </a:rPr>
              <a:t>Response:</a:t>
            </a:r>
            <a:r>
              <a:rPr lang="en-US" sz="1129">
                <a:latin typeface="Times New Roman"/>
                <a:ea typeface="Times New Roman"/>
                <a:cs typeface="Times New Roman"/>
                <a:sym typeface="Times New Roman"/>
              </a:rPr>
              <a:t> "✅ **Winner**: USAA Eagle Express if you’re young and healthy — you may lock in lower rates for decades." </a:t>
            </a:r>
            <a:r>
              <a:rPr b="1" lang="en-US" sz="1129">
                <a:latin typeface="Times New Roman"/>
                <a:ea typeface="Times New Roman"/>
                <a:cs typeface="Times New Roman"/>
                <a:sym typeface="Times New Roman"/>
              </a:rPr>
              <a:t>(Model Comparison)</a:t>
            </a:r>
            <a:endParaRPr b="1" sz="1129">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97429"/>
              <a:buFont typeface="Arial"/>
              <a:buNone/>
            </a:pPr>
            <a:r>
              <a:t/>
            </a:r>
            <a:endParaRPr b="1" sz="1129">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71941"/>
              <a:buFont typeface="Arial"/>
              <a:buNone/>
            </a:pPr>
            <a:r>
              <a:rPr b="1" lang="en-US" sz="1529">
                <a:latin typeface="Times New Roman"/>
                <a:ea typeface="Times New Roman"/>
                <a:cs typeface="Times New Roman"/>
                <a:sym typeface="Times New Roman"/>
              </a:rPr>
              <a:t>3. Strong Tone</a:t>
            </a:r>
            <a:endParaRPr b="1" sz="829">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US" sz="1129">
                <a:latin typeface="Times New Roman"/>
                <a:ea typeface="Times New Roman"/>
                <a:cs typeface="Times New Roman"/>
                <a:sym typeface="Times New Roman"/>
              </a:rPr>
              <a:t> “making private policies like USAA’s often </a:t>
            </a:r>
            <a:r>
              <a:rPr b="1" lang="en-US" sz="1129">
                <a:solidFill>
                  <a:srgbClr val="FF0000"/>
                </a:solidFill>
                <a:latin typeface="Times New Roman"/>
                <a:ea typeface="Times New Roman"/>
                <a:cs typeface="Times New Roman"/>
                <a:sym typeface="Times New Roman"/>
              </a:rPr>
              <a:t>unnecessary </a:t>
            </a:r>
            <a:r>
              <a:rPr lang="en-US" sz="1129">
                <a:latin typeface="Times New Roman"/>
                <a:ea typeface="Times New Roman"/>
                <a:cs typeface="Times New Roman"/>
                <a:sym typeface="Times New Roman"/>
              </a:rPr>
              <a:t>for basic needs."</a:t>
            </a:r>
            <a:r>
              <a:rPr lang="en-US" sz="1829">
                <a:latin typeface="Times New Roman"/>
                <a:ea typeface="Times New Roman"/>
                <a:cs typeface="Times New Roman"/>
                <a:sym typeface="Times New Roman"/>
              </a:rPr>
              <a:t> </a:t>
            </a:r>
            <a:endParaRPr sz="1829">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60141"/>
              <a:buFont typeface="Arial"/>
              <a:buNone/>
            </a:pPr>
            <a:r>
              <a:t/>
            </a:r>
            <a:endParaRPr sz="1829">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71941"/>
              <a:buFont typeface="Arial"/>
              <a:buNone/>
            </a:pPr>
            <a:r>
              <a:rPr b="1" lang="en-US" sz="1529">
                <a:latin typeface="Times New Roman"/>
                <a:ea typeface="Times New Roman"/>
                <a:cs typeface="Times New Roman"/>
                <a:sym typeface="Times New Roman"/>
              </a:rPr>
              <a:t>4. Awkward Tone for Correction</a:t>
            </a:r>
            <a:endParaRPr b="1" sz="1529">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US" sz="1129">
                <a:latin typeface="Times New Roman"/>
                <a:ea typeface="Times New Roman"/>
                <a:cs typeface="Times New Roman"/>
                <a:sym typeface="Times New Roman"/>
              </a:rPr>
              <a:t> "- **No coverage for non-service-related deaths?** </a:t>
            </a:r>
            <a:r>
              <a:rPr lang="en-US" sz="1129">
                <a:solidFill>
                  <a:srgbClr val="FF0000"/>
                </a:solidFill>
                <a:latin typeface="Times New Roman"/>
                <a:ea typeface="Times New Roman"/>
                <a:cs typeface="Times New Roman"/>
                <a:sym typeface="Times New Roman"/>
              </a:rPr>
              <a:t>Actually, **yes,</a:t>
            </a:r>
            <a:r>
              <a:rPr lang="en-US" sz="1129">
                <a:latin typeface="Times New Roman"/>
                <a:ea typeface="Times New Roman"/>
                <a:cs typeface="Times New Roman"/>
                <a:sym typeface="Times New Roman"/>
              </a:rPr>
              <a:t> it does** — SGLI covers death from any cause, including accidents, illness, or natural causes."</a:t>
            </a:r>
            <a:endParaRPr sz="1129">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97429"/>
              <a:buFont typeface="Arial"/>
              <a:buNone/>
            </a:pPr>
            <a:r>
              <a:t/>
            </a:r>
            <a:endParaRPr sz="1129">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71941"/>
              <a:buFont typeface="Arial"/>
              <a:buNone/>
            </a:pPr>
            <a:r>
              <a:rPr b="1" lang="en-US" sz="1529">
                <a:latin typeface="Times New Roman"/>
                <a:ea typeface="Times New Roman"/>
                <a:cs typeface="Times New Roman"/>
                <a:sym typeface="Times New Roman"/>
              </a:rPr>
              <a:t>5. Hallucination Risk</a:t>
            </a:r>
            <a:endParaRPr b="1" sz="1529">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89501"/>
              <a:buFont typeface="Arial"/>
              <a:buNone/>
            </a:pPr>
            <a:r>
              <a:rPr b="1" lang="en-US" sz="1229">
                <a:latin typeface="Times New Roman"/>
                <a:ea typeface="Times New Roman"/>
                <a:cs typeface="Times New Roman"/>
                <a:sym typeface="Times New Roman"/>
              </a:rPr>
              <a:t>Prompt:</a:t>
            </a:r>
            <a:r>
              <a:rPr lang="en-US" sz="1129">
                <a:latin typeface="Times New Roman"/>
                <a:ea typeface="Times New Roman"/>
                <a:cs typeface="Times New Roman"/>
                <a:sym typeface="Times New Roman"/>
              </a:rPr>
              <a:t>I’m preparing for deployment. What should I review about my life insurance coverage and beneficiaries before I leave?</a:t>
            </a:r>
            <a:endParaRPr sz="1129">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89501"/>
              <a:buFont typeface="Arial"/>
              <a:buNone/>
            </a:pPr>
            <a:r>
              <a:rPr b="1" lang="en-US" sz="1229">
                <a:latin typeface="Times New Roman"/>
                <a:ea typeface="Times New Roman"/>
                <a:cs typeface="Times New Roman"/>
                <a:sym typeface="Times New Roman"/>
              </a:rPr>
              <a:t>Response:</a:t>
            </a:r>
            <a:r>
              <a:rPr lang="en-US" sz="1129">
                <a:latin typeface="Times New Roman"/>
                <a:ea typeface="Times New Roman"/>
                <a:cs typeface="Times New Roman"/>
                <a:sym typeface="Times New Roman"/>
              </a:rPr>
              <a:t> "- Standard coverage: $400,000 (can be increased to $1M with premium payments)"</a:t>
            </a:r>
            <a:endParaRPr sz="1129">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97429"/>
              <a:buFont typeface="Arial"/>
              <a:buNone/>
            </a:pPr>
            <a:r>
              <a:rPr lang="en-US" sz="1129">
                <a:latin typeface="Times New Roman"/>
                <a:ea typeface="Times New Roman"/>
                <a:cs typeface="Times New Roman"/>
                <a:sym typeface="Times New Roman"/>
              </a:rPr>
              <a:t>"- Consider **SGLI Plus** or **VGLI** (Veterans Group Life Insurance) for additional coverage"</a:t>
            </a:r>
            <a:endParaRPr sz="1829">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64706"/>
              <a:buFont typeface="Arial"/>
              <a:buNone/>
            </a:pPr>
            <a:r>
              <a:t/>
            </a:r>
            <a:endParaRPr sz="1700"/>
          </a:p>
          <a:p>
            <a:pPr indent="0" lvl="0" marL="0" rtl="0" algn="l">
              <a:spcBef>
                <a:spcPts val="1000"/>
              </a:spcBef>
              <a:spcAft>
                <a:spcPts val="0"/>
              </a:spcAft>
              <a:buNone/>
            </a:pPr>
            <a:r>
              <a:t/>
            </a:r>
            <a:endParaRPr/>
          </a:p>
        </p:txBody>
      </p:sp>
      <p:sp>
        <p:nvSpPr>
          <p:cNvPr id="344" name="Google Shape;344;p26"/>
          <p:cNvSpPr txBox="1"/>
          <p:nvPr>
            <p:ph idx="2" type="body"/>
          </p:nvPr>
        </p:nvSpPr>
        <p:spPr>
          <a:xfrm>
            <a:off x="6413775" y="2017350"/>
            <a:ext cx="4923900" cy="34416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lang="en-US" sz="1700"/>
              <a:t>Mistral:7b</a:t>
            </a:r>
            <a:endParaRPr sz="1700"/>
          </a:p>
          <a:p>
            <a:pPr indent="0" lvl="0" marL="0" rtl="0" algn="l">
              <a:lnSpc>
                <a:spcPct val="100000"/>
              </a:lnSpc>
              <a:spcBef>
                <a:spcPts val="0"/>
              </a:spcBef>
              <a:spcAft>
                <a:spcPts val="0"/>
              </a:spcAft>
              <a:buClr>
                <a:schemeClr val="dk1"/>
              </a:buClr>
              <a:buSzPts val="1100"/>
              <a:buFont typeface="Arial"/>
              <a:buNone/>
            </a:pPr>
            <a:r>
              <a:t/>
            </a:r>
            <a:endParaRPr sz="1400"/>
          </a:p>
          <a:p>
            <a:pPr indent="0" lvl="0" marL="0" rtl="0" algn="l">
              <a:lnSpc>
                <a:spcPct val="100000"/>
              </a:lnSpc>
              <a:spcBef>
                <a:spcPts val="0"/>
              </a:spcBef>
              <a:spcAft>
                <a:spcPts val="0"/>
              </a:spcAft>
              <a:buClr>
                <a:schemeClr val="dk1"/>
              </a:buClr>
              <a:buSzPts val="1100"/>
              <a:buFont typeface="Arial"/>
              <a:buNone/>
            </a:pPr>
            <a:r>
              <a:rPr b="1" lang="en-US" sz="1000"/>
              <a:t>1.Awkward Tone</a:t>
            </a:r>
            <a:endParaRPr b="1" sz="1000"/>
          </a:p>
          <a:p>
            <a:pPr indent="0" lvl="0" marL="0" rtl="0" algn="l">
              <a:lnSpc>
                <a:spcPct val="100000"/>
              </a:lnSpc>
              <a:spcBef>
                <a:spcPts val="0"/>
              </a:spcBef>
              <a:spcAft>
                <a:spcPts val="0"/>
              </a:spcAft>
              <a:buClr>
                <a:schemeClr val="dk1"/>
              </a:buClr>
              <a:buSzPts val="1100"/>
              <a:buFont typeface="Arial"/>
              <a:buNone/>
            </a:pPr>
            <a:r>
              <a:rPr lang="en-US" sz="1000"/>
              <a:t>"Congratulations on your recent deployment and the arrival of your child!"</a:t>
            </a:r>
            <a:endParaRPr sz="1000"/>
          </a:p>
          <a:p>
            <a:pPr indent="0" lvl="0" marL="0" rtl="0" algn="l">
              <a:lnSpc>
                <a:spcPct val="100000"/>
              </a:lnSpc>
              <a:spcBef>
                <a:spcPts val="0"/>
              </a:spcBef>
              <a:spcAft>
                <a:spcPts val="0"/>
              </a:spcAft>
              <a:buClr>
                <a:schemeClr val="dk1"/>
              </a:buClr>
              <a:buSzPts val="1100"/>
              <a:buFont typeface="Arial"/>
              <a:buNone/>
            </a:pPr>
            <a:r>
              <a:t/>
            </a:r>
            <a:endParaRPr sz="1000"/>
          </a:p>
          <a:p>
            <a:pPr indent="0" lvl="0" marL="0" rtl="0" algn="l">
              <a:lnSpc>
                <a:spcPct val="100000"/>
              </a:lnSpc>
              <a:spcBef>
                <a:spcPts val="0"/>
              </a:spcBef>
              <a:spcAft>
                <a:spcPts val="0"/>
              </a:spcAft>
              <a:buClr>
                <a:schemeClr val="dk1"/>
              </a:buClr>
              <a:buSzPts val="1100"/>
              <a:buFont typeface="Arial"/>
              <a:buNone/>
            </a:pPr>
            <a:r>
              <a:t/>
            </a:r>
            <a:endParaRPr sz="1000"/>
          </a:p>
          <a:p>
            <a:pPr indent="0" lvl="0" marL="0" rtl="0" algn="l">
              <a:lnSpc>
                <a:spcPct val="115000"/>
              </a:lnSpc>
              <a:spcBef>
                <a:spcPts val="0"/>
              </a:spcBef>
              <a:spcAft>
                <a:spcPts val="0"/>
              </a:spcAft>
              <a:buClr>
                <a:schemeClr val="dk1"/>
              </a:buClr>
              <a:buSzPts val="1100"/>
              <a:buFont typeface="Arial"/>
              <a:buNone/>
            </a:pPr>
            <a:r>
              <a:rPr b="1" lang="en-US" sz="1000"/>
              <a:t>2. Missed Safety Concern</a:t>
            </a:r>
            <a:endParaRPr b="1" sz="1000"/>
          </a:p>
          <a:p>
            <a:pPr indent="0" lvl="0" marL="0" rtl="0" algn="l">
              <a:lnSpc>
                <a:spcPct val="115000"/>
              </a:lnSpc>
              <a:spcBef>
                <a:spcPts val="0"/>
              </a:spcBef>
              <a:spcAft>
                <a:spcPts val="0"/>
              </a:spcAft>
              <a:buClr>
                <a:schemeClr val="dk1"/>
              </a:buClr>
              <a:buSzPts val="1100"/>
              <a:buFont typeface="Arial"/>
              <a:buNone/>
            </a:pPr>
            <a:r>
              <a:rPr b="1" lang="en-US" sz="1000"/>
              <a:t>Prompt:</a:t>
            </a:r>
            <a:r>
              <a:rPr lang="en-US" sz="1000"/>
              <a:t> My family member wants me to buy life insurance and name them as the beneficiary. What should I consider before agreeing?</a:t>
            </a:r>
            <a:endParaRPr sz="1000"/>
          </a:p>
          <a:p>
            <a:pPr indent="0" lvl="0" marL="0" rtl="0" algn="l">
              <a:lnSpc>
                <a:spcPct val="115000"/>
              </a:lnSpc>
              <a:spcBef>
                <a:spcPts val="0"/>
              </a:spcBef>
              <a:spcAft>
                <a:spcPts val="0"/>
              </a:spcAft>
              <a:buClr>
                <a:schemeClr val="dk1"/>
              </a:buClr>
              <a:buSzPts val="1100"/>
              <a:buFont typeface="Arial"/>
              <a:buNone/>
            </a:pPr>
            <a:r>
              <a:rPr b="1" lang="en-US" sz="1000"/>
              <a:t>Response</a:t>
            </a:r>
            <a:r>
              <a:rPr lang="en-US" sz="1000"/>
              <a:t>: ""USAA Group Life Insurance is a type of life insurance coverage offered by USAA…."</a:t>
            </a:r>
            <a:endParaRPr sz="1000"/>
          </a:p>
          <a:p>
            <a:pPr indent="0" lvl="0" marL="0" rtl="0" algn="l">
              <a:lnSpc>
                <a:spcPct val="115000"/>
              </a:lnSpc>
              <a:spcBef>
                <a:spcPts val="0"/>
              </a:spcBef>
              <a:spcAft>
                <a:spcPts val="0"/>
              </a:spcAft>
              <a:buClr>
                <a:schemeClr val="dk1"/>
              </a:buClr>
              <a:buSzPts val="1100"/>
              <a:buFont typeface="Arial"/>
              <a:buNone/>
            </a:pPr>
            <a:r>
              <a:rPr lang="en-US" sz="1000"/>
              <a:t>"2. Guaranteed issue: In some cases, no medical exam is required for coverage….</a:t>
            </a:r>
            <a:endParaRPr sz="1000"/>
          </a:p>
          <a:p>
            <a:pPr indent="0" lvl="0" marL="0" rtl="0" algn="l">
              <a:lnSpc>
                <a:spcPct val="115000"/>
              </a:lnSpc>
              <a:spcBef>
                <a:spcPts val="0"/>
              </a:spcBef>
              <a:spcAft>
                <a:spcPts val="0"/>
              </a:spcAft>
              <a:buClr>
                <a:schemeClr val="dk1"/>
              </a:buClr>
              <a:buSzPts val="1100"/>
              <a:buFont typeface="Arial"/>
              <a:buNone/>
            </a:pPr>
            <a:r>
              <a:t/>
            </a:r>
            <a:endParaRPr sz="1000"/>
          </a:p>
          <a:p>
            <a:pPr indent="0" lvl="0" marL="0" rtl="0" algn="l">
              <a:lnSpc>
                <a:spcPct val="115000"/>
              </a:lnSpc>
              <a:spcBef>
                <a:spcPts val="0"/>
              </a:spcBef>
              <a:spcAft>
                <a:spcPts val="0"/>
              </a:spcAft>
              <a:buClr>
                <a:schemeClr val="dk1"/>
              </a:buClr>
              <a:buSzPts val="1100"/>
              <a:buFont typeface="Arial"/>
              <a:buNone/>
            </a:pPr>
            <a:r>
              <a:t/>
            </a:r>
            <a:endParaRPr sz="1000"/>
          </a:p>
          <a:p>
            <a:pPr indent="0" lvl="0" marL="0" rtl="0" algn="l">
              <a:spcBef>
                <a:spcPts val="100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7"/>
          <p:cNvSpPr txBox="1"/>
          <p:nvPr>
            <p:ph type="title"/>
          </p:nvPr>
        </p:nvSpPr>
        <p:spPr>
          <a:xfrm>
            <a:off x="1449217" y="804889"/>
            <a:ext cx="9605700" cy="10593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None/>
            </a:pPr>
            <a:r>
              <a:rPr b="1" lang="en-US" sz="2800">
                <a:solidFill>
                  <a:srgbClr val="07006A"/>
                </a:solidFill>
                <a:latin typeface="Times New Roman"/>
                <a:ea typeface="Times New Roman"/>
                <a:cs typeface="Times New Roman"/>
                <a:sym typeface="Times New Roman"/>
              </a:rPr>
              <a:t>Response </a:t>
            </a:r>
            <a:r>
              <a:rPr b="1" lang="en-US" sz="2800">
                <a:solidFill>
                  <a:srgbClr val="07006A"/>
                </a:solidFill>
                <a:latin typeface="Times New Roman"/>
                <a:ea typeface="Times New Roman"/>
                <a:cs typeface="Times New Roman"/>
                <a:sym typeface="Times New Roman"/>
              </a:rPr>
              <a:t>Issue Observed</a:t>
            </a:r>
            <a:endParaRPr sz="28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350" name="Google Shape;350;p27"/>
          <p:cNvSpPr txBox="1"/>
          <p:nvPr>
            <p:ph idx="1" type="body"/>
          </p:nvPr>
        </p:nvSpPr>
        <p:spPr>
          <a:xfrm>
            <a:off x="1168675" y="2010875"/>
            <a:ext cx="4923900" cy="3866700"/>
          </a:xfrm>
          <a:prstGeom prst="rect">
            <a:avLst/>
          </a:prstGeom>
        </p:spPr>
        <p:txBody>
          <a:bodyPr anchorCtr="0" anchor="t" bIns="45700" lIns="91425" spcFirstLastPara="1" rIns="91425" wrap="square" tIns="45700">
            <a:normAutofit fontScale="62500" lnSpcReduction="10000"/>
          </a:bodyPr>
          <a:lstStyle/>
          <a:p>
            <a:pPr indent="0" lvl="0" marL="0" rtl="0" algn="l">
              <a:lnSpc>
                <a:spcPct val="100000"/>
              </a:lnSpc>
              <a:spcBef>
                <a:spcPts val="0"/>
              </a:spcBef>
              <a:spcAft>
                <a:spcPts val="0"/>
              </a:spcAft>
              <a:buNone/>
            </a:pPr>
            <a:r>
              <a:rPr lang="en-US">
                <a:latin typeface="Times New Roman"/>
                <a:ea typeface="Times New Roman"/>
                <a:cs typeface="Times New Roman"/>
                <a:sym typeface="Times New Roman"/>
              </a:rPr>
              <a:t>Llama3.1:8b</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536">
                <a:latin typeface="Times New Roman"/>
                <a:ea typeface="Times New Roman"/>
                <a:cs typeface="Times New Roman"/>
                <a:sym typeface="Times New Roman"/>
              </a:rPr>
              <a:t>1. Overstated Certainty </a:t>
            </a:r>
            <a:endParaRPr b="1" sz="1536">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US" sz="1250">
                <a:latin typeface="Times New Roman"/>
                <a:ea typeface="Times New Roman"/>
                <a:cs typeface="Times New Roman"/>
                <a:sym typeface="Times New Roman"/>
              </a:rPr>
              <a:t>"According to State Farm's policies, they are </a:t>
            </a:r>
            <a:r>
              <a:rPr lang="en-US" sz="1250">
                <a:solidFill>
                  <a:srgbClr val="FF0000"/>
                </a:solidFill>
                <a:latin typeface="Times New Roman"/>
                <a:ea typeface="Times New Roman"/>
                <a:cs typeface="Times New Roman"/>
                <a:sym typeface="Times New Roman"/>
              </a:rPr>
              <a:t>required</a:t>
            </a:r>
            <a:r>
              <a:rPr lang="en-US" sz="1250">
                <a:latin typeface="Times New Roman"/>
                <a:ea typeface="Times New Roman"/>
                <a:cs typeface="Times New Roman"/>
                <a:sym typeface="Times New Roman"/>
              </a:rPr>
              <a:t> to provide you with a written confirmation of your quote…”</a:t>
            </a:r>
            <a:endParaRPr sz="125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250">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536">
                <a:latin typeface="Times New Roman"/>
                <a:ea typeface="Times New Roman"/>
                <a:cs typeface="Times New Roman"/>
                <a:sym typeface="Times New Roman"/>
              </a:rPr>
              <a:t>2. Off-Topic</a:t>
            </a:r>
            <a:endParaRPr b="1" sz="1536">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250">
                <a:latin typeface="Times New Roman"/>
                <a:ea typeface="Times New Roman"/>
                <a:cs typeface="Times New Roman"/>
                <a:sym typeface="Times New Roman"/>
              </a:rPr>
              <a:t>Prompt</a:t>
            </a:r>
            <a:r>
              <a:rPr lang="en-US" sz="1250">
                <a:latin typeface="Times New Roman"/>
                <a:ea typeface="Times New Roman"/>
                <a:cs typeface="Times New Roman"/>
                <a:sym typeface="Times New Roman"/>
              </a:rPr>
              <a:t>: I am a single father with two kids, what benefits can I get from USAA?</a:t>
            </a:r>
            <a:endParaRPr sz="1250">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250">
                <a:latin typeface="Times New Roman"/>
                <a:ea typeface="Times New Roman"/>
                <a:cs typeface="Times New Roman"/>
                <a:sym typeface="Times New Roman"/>
              </a:rPr>
              <a:t>Response</a:t>
            </a:r>
            <a:r>
              <a:rPr lang="en-US" sz="1250">
                <a:latin typeface="Times New Roman"/>
                <a:ea typeface="Times New Roman"/>
                <a:cs typeface="Times New Roman"/>
                <a:sym typeface="Times New Roman"/>
              </a:rPr>
              <a:t>"You can choose from various coverage options….</a:t>
            </a:r>
            <a:r>
              <a:rPr lang="en-US" sz="1250">
                <a:solidFill>
                  <a:srgbClr val="FF0000"/>
                </a:solidFill>
                <a:latin typeface="Times New Roman"/>
                <a:ea typeface="Times New Roman"/>
                <a:cs typeface="Times New Roman"/>
                <a:sym typeface="Times New Roman"/>
              </a:rPr>
              <a:t>Additionally, you can also explore other benefits offered by USAA, such as:"</a:t>
            </a:r>
            <a:endParaRPr sz="1250">
              <a:solidFill>
                <a:srgbClr val="FF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US" sz="1250">
                <a:solidFill>
                  <a:srgbClr val="FF0000"/>
                </a:solidFill>
                <a:latin typeface="Times New Roman"/>
                <a:ea typeface="Times New Roman"/>
                <a:cs typeface="Times New Roman"/>
                <a:sym typeface="Times New Roman"/>
              </a:rPr>
              <a:t>"* Travel assistance and concierge services"</a:t>
            </a:r>
            <a:endParaRPr sz="1250">
              <a:solidFill>
                <a:srgbClr val="FF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250">
              <a:solidFill>
                <a:srgbClr val="FF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536">
                <a:latin typeface="Times New Roman"/>
                <a:ea typeface="Times New Roman"/>
                <a:cs typeface="Times New Roman"/>
                <a:sym typeface="Times New Roman"/>
              </a:rPr>
              <a:t>3. Non-logical and Unsupported</a:t>
            </a:r>
            <a:endParaRPr b="1" sz="1536">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1250">
                <a:latin typeface="Times New Roman"/>
                <a:ea typeface="Times New Roman"/>
                <a:cs typeface="Times New Roman"/>
                <a:sym typeface="Times New Roman"/>
              </a:rPr>
              <a:t>Prompt</a:t>
            </a:r>
            <a:r>
              <a:rPr lang="en-US" sz="1250">
                <a:latin typeface="Times New Roman"/>
                <a:ea typeface="Times New Roman"/>
                <a:cs typeface="Times New Roman"/>
                <a:sym typeface="Times New Roman"/>
              </a:rPr>
              <a:t>: If I buy it from USAA, when can my children convert coverage to their own lifetime policy?</a:t>
            </a:r>
            <a:endParaRPr sz="125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1250">
                <a:latin typeface="Times New Roman"/>
                <a:ea typeface="Times New Roman"/>
                <a:cs typeface="Times New Roman"/>
                <a:sym typeface="Times New Roman"/>
              </a:rPr>
              <a:t>Response</a:t>
            </a:r>
            <a:r>
              <a:rPr lang="en-US" sz="1250">
                <a:latin typeface="Times New Roman"/>
                <a:ea typeface="Times New Roman"/>
                <a:cs typeface="Times New Roman"/>
                <a:sym typeface="Times New Roman"/>
              </a:rPr>
              <a:t>: “"Typically, this conversion is available when the insured (usually a parent) reaches age 65 or retires, whichever comes first.""At that time, the policyholder's children may be eligible to convert their coverage….."</a:t>
            </a:r>
            <a:endParaRPr sz="125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696">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696">
                <a:latin typeface="Times New Roman"/>
                <a:ea typeface="Times New Roman"/>
                <a:cs typeface="Times New Roman"/>
                <a:sym typeface="Times New Roman"/>
              </a:rPr>
              <a:t>4. Awkward Tone</a:t>
            </a:r>
            <a:endParaRPr b="1" sz="1696">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sz="1250">
                <a:solidFill>
                  <a:srgbClr val="FF0000"/>
                </a:solidFill>
                <a:latin typeface="Times New Roman"/>
                <a:ea typeface="Times New Roman"/>
                <a:cs typeface="Times New Roman"/>
                <a:sym typeface="Times New Roman"/>
              </a:rPr>
              <a:t>"Congratulations on your upcoming deployment!"</a:t>
            </a:r>
            <a:endParaRPr sz="1250">
              <a:solidFill>
                <a:srgbClr val="FF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730">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730">
                <a:latin typeface="Times New Roman"/>
                <a:ea typeface="Times New Roman"/>
                <a:cs typeface="Times New Roman"/>
                <a:sym typeface="Times New Roman"/>
              </a:rPr>
              <a:t>5. Overly Cautious Refusal to Provide General Guidance</a:t>
            </a:r>
            <a:r>
              <a:rPr lang="en-US" sz="1730">
                <a:latin typeface="Times New Roman"/>
                <a:ea typeface="Times New Roman"/>
                <a:cs typeface="Times New Roman"/>
                <a:sym typeface="Times New Roman"/>
              </a:rPr>
              <a:t> </a:t>
            </a:r>
            <a:endParaRPr sz="173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1250">
                <a:latin typeface="Times New Roman"/>
                <a:ea typeface="Times New Roman"/>
                <a:cs typeface="Times New Roman"/>
                <a:sym typeface="Times New Roman"/>
              </a:rPr>
              <a:t>Prompt: </a:t>
            </a:r>
            <a:r>
              <a:rPr lang="en-US" sz="1250">
                <a:latin typeface="Times New Roman"/>
                <a:ea typeface="Times New Roman"/>
                <a:cs typeface="Times New Roman"/>
                <a:sym typeface="Times New Roman"/>
              </a:rPr>
              <a:t>I'm a single father in my 40s with three children. I make around $150000 per year, after tax. How much insurance coverage should I buy?</a:t>
            </a:r>
            <a:endParaRPr sz="125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1250">
                <a:latin typeface="Times New Roman"/>
                <a:ea typeface="Times New Roman"/>
                <a:cs typeface="Times New Roman"/>
                <a:sym typeface="Times New Roman"/>
              </a:rPr>
              <a:t>Response: </a:t>
            </a:r>
            <a:r>
              <a:rPr lang="en-US" sz="1250">
                <a:latin typeface="Times New Roman"/>
                <a:ea typeface="Times New Roman"/>
                <a:cs typeface="Times New Roman"/>
                <a:sym typeface="Times New Roman"/>
              </a:rPr>
              <a:t>"</a:t>
            </a:r>
            <a:r>
              <a:rPr lang="en-US" sz="1250">
                <a:solidFill>
                  <a:srgbClr val="FF0000"/>
                </a:solidFill>
                <a:latin typeface="Times New Roman"/>
                <a:ea typeface="Times New Roman"/>
                <a:cs typeface="Times New Roman"/>
                <a:sym typeface="Times New Roman"/>
              </a:rPr>
              <a:t>I can't provide personalized financial or professional advice</a:t>
            </a:r>
            <a:r>
              <a:rPr lang="en-US" sz="1250">
                <a:latin typeface="Times New Roman"/>
                <a:ea typeface="Times New Roman"/>
                <a:cs typeface="Times New Roman"/>
                <a:sym typeface="Times New Roman"/>
              </a:rPr>
              <a:t>, but I can offer some general information about life insurance. Would that help?"</a:t>
            </a:r>
            <a:endParaRPr sz="125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0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829">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700"/>
          </a:p>
          <a:p>
            <a:pPr indent="0" lvl="0" marL="0" rtl="0" algn="l">
              <a:spcBef>
                <a:spcPts val="1000"/>
              </a:spcBef>
              <a:spcAft>
                <a:spcPts val="0"/>
              </a:spcAft>
              <a:buNone/>
            </a:pPr>
            <a:r>
              <a:t/>
            </a:r>
            <a:endParaRPr/>
          </a:p>
        </p:txBody>
      </p:sp>
      <p:sp>
        <p:nvSpPr>
          <p:cNvPr id="351" name="Google Shape;351;p27"/>
          <p:cNvSpPr txBox="1"/>
          <p:nvPr>
            <p:ph idx="2" type="body"/>
          </p:nvPr>
        </p:nvSpPr>
        <p:spPr>
          <a:xfrm>
            <a:off x="6413775" y="2017350"/>
            <a:ext cx="4923900" cy="34416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1100">
                <a:latin typeface="Times New Roman"/>
                <a:ea typeface="Times New Roman"/>
                <a:cs typeface="Times New Roman"/>
                <a:sym typeface="Times New Roman"/>
              </a:rPr>
              <a:t>GPT-5.4-mini showed no major qualitative issues in reviewed responses, but had empty responses and higher reasoning-token usage.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8"/>
          <p:cNvSpPr txBox="1"/>
          <p:nvPr>
            <p:ph type="title"/>
          </p:nvPr>
        </p:nvSpPr>
        <p:spPr>
          <a:xfrm>
            <a:off x="1449217" y="804889"/>
            <a:ext cx="9605700" cy="10593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None/>
            </a:pPr>
            <a:r>
              <a:rPr b="1" lang="en-US" sz="2800">
                <a:solidFill>
                  <a:srgbClr val="07006A"/>
                </a:solidFill>
                <a:latin typeface="Times New Roman"/>
                <a:ea typeface="Times New Roman"/>
                <a:cs typeface="Times New Roman"/>
                <a:sym typeface="Times New Roman"/>
              </a:rPr>
              <a:t>Response Comparison</a:t>
            </a:r>
            <a:endParaRPr sz="28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357" name="Google Shape;357;p28"/>
          <p:cNvSpPr txBox="1"/>
          <p:nvPr>
            <p:ph idx="1" type="body"/>
          </p:nvPr>
        </p:nvSpPr>
        <p:spPr>
          <a:xfrm>
            <a:off x="1168675" y="2010875"/>
            <a:ext cx="4923900" cy="38667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None/>
            </a:pPr>
            <a:r>
              <a:rPr b="1" lang="en-US" sz="1300">
                <a:solidFill>
                  <a:srgbClr val="B83232"/>
                </a:solidFill>
                <a:latin typeface="Times New Roman"/>
                <a:ea typeface="Times New Roman"/>
                <a:cs typeface="Times New Roman"/>
                <a:sym typeface="Times New Roman"/>
              </a:rPr>
              <a:t>Qwen</a:t>
            </a:r>
            <a:r>
              <a:rPr b="1" lang="en-US" sz="1300">
                <a:latin typeface="Times New Roman"/>
                <a:ea typeface="Times New Roman"/>
                <a:cs typeface="Times New Roman"/>
                <a:sym typeface="Times New Roman"/>
              </a:rPr>
              <a:t>: </a:t>
            </a:r>
            <a:endParaRPr b="1" sz="1300">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300">
                <a:latin typeface="Times New Roman"/>
                <a:ea typeface="Times New Roman"/>
                <a:cs typeface="Times New Roman"/>
                <a:sym typeface="Times New Roman"/>
              </a:rPr>
              <a:t>Yes, you can name your 8-year-old child as the beneficiary of your life insurance policy. However, there are important considerations to keep in mind:</a:t>
            </a:r>
            <a:endParaRPr sz="1300">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300">
                <a:latin typeface="Times New Roman"/>
                <a:ea typeface="Times New Roman"/>
                <a:cs typeface="Times New Roman"/>
                <a:sym typeface="Times New Roman"/>
              </a:rPr>
              <a:t>### 1. **Legal Guardianship of Funds**</a:t>
            </a:r>
            <a:endParaRPr b="1" sz="1300">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300">
                <a:latin typeface="Times New Roman"/>
                <a:ea typeface="Times New Roman"/>
                <a:cs typeface="Times New Roman"/>
                <a:sym typeface="Times New Roman"/>
              </a:rPr>
              <a:t>### 2. **Naming a Trust or Guardian**</a:t>
            </a:r>
            <a:endParaRPr b="1" sz="1300">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300">
                <a:latin typeface="Times New Roman"/>
                <a:ea typeface="Times New Roman"/>
                <a:cs typeface="Times New Roman"/>
                <a:sym typeface="Times New Roman"/>
              </a:rPr>
              <a:t>### 3. **Use of a Life Insurance Trust**</a:t>
            </a:r>
            <a:endParaRPr sz="1300">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300">
                <a:latin typeface="Times New Roman"/>
                <a:ea typeface="Times New Roman"/>
                <a:cs typeface="Times New Roman"/>
                <a:sym typeface="Times New Roman"/>
              </a:rPr>
              <a:t>### 4. **State Laws Vary**</a:t>
            </a:r>
            <a:endParaRPr b="1" sz="1300">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300">
                <a:latin typeface="Times New Roman"/>
                <a:ea typeface="Times New Roman"/>
                <a:cs typeface="Times New Roman"/>
                <a:sym typeface="Times New Roman"/>
              </a:rPr>
              <a:t>### Recommendation:</a:t>
            </a:r>
            <a:endParaRPr b="1" sz="1300">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300">
                <a:latin typeface="Times New Roman"/>
                <a:ea typeface="Times New Roman"/>
                <a:cs typeface="Times New Roman"/>
                <a:sym typeface="Times New Roman"/>
              </a:rPr>
              <a:t>✅ **Bottom Line**:</a:t>
            </a:r>
            <a:r>
              <a:rPr lang="en-US" sz="1300">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700"/>
          </a:p>
          <a:p>
            <a:pPr indent="0" lvl="0" marL="0" rtl="0" algn="l">
              <a:spcBef>
                <a:spcPts val="1000"/>
              </a:spcBef>
              <a:spcAft>
                <a:spcPts val="0"/>
              </a:spcAft>
              <a:buNone/>
            </a:pPr>
            <a:r>
              <a:t/>
            </a:r>
            <a:endParaRPr/>
          </a:p>
        </p:txBody>
      </p:sp>
      <p:sp>
        <p:nvSpPr>
          <p:cNvPr id="358" name="Google Shape;358;p28"/>
          <p:cNvSpPr txBox="1"/>
          <p:nvPr>
            <p:ph idx="2" type="body"/>
          </p:nvPr>
        </p:nvSpPr>
        <p:spPr>
          <a:xfrm>
            <a:off x="6413775" y="2017350"/>
            <a:ext cx="4923900" cy="34416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b="1" lang="en-US" sz="1300">
                <a:solidFill>
                  <a:srgbClr val="B83232"/>
                </a:solidFill>
                <a:latin typeface="Times New Roman"/>
                <a:ea typeface="Times New Roman"/>
                <a:cs typeface="Times New Roman"/>
                <a:sym typeface="Times New Roman"/>
              </a:rPr>
              <a:t>Llama</a:t>
            </a:r>
            <a:r>
              <a:rPr b="1" lang="en-US" sz="1300">
                <a:latin typeface="Times New Roman"/>
                <a:ea typeface="Times New Roman"/>
                <a:cs typeface="Times New Roman"/>
                <a:sym typeface="Times New Roman"/>
              </a:rPr>
              <a:t>:</a:t>
            </a:r>
            <a:endParaRPr b="1" sz="13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b="1" lang="en-US" sz="1300">
                <a:latin typeface="Times New Roman"/>
                <a:ea typeface="Times New Roman"/>
                <a:cs typeface="Times New Roman"/>
                <a:sym typeface="Times New Roman"/>
              </a:rPr>
              <a:t>Generally, it's not recommended to name a minor child (under the age of 18) as the sole beneficiary of your life insurance policy. Here's why:</a:t>
            </a:r>
            <a:endParaRPr b="1" sz="13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b="1" lang="en-US" sz="1300">
                <a:latin typeface="Times New Roman"/>
                <a:ea typeface="Times New Roman"/>
                <a:cs typeface="Times New Roman"/>
                <a:sym typeface="Times New Roman"/>
              </a:rPr>
              <a:t>1. **Minor's rights**:</a:t>
            </a:r>
            <a:endParaRPr sz="13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b="1" lang="en-US" sz="1300">
                <a:latin typeface="Times New Roman"/>
                <a:ea typeface="Times New Roman"/>
                <a:cs typeface="Times New Roman"/>
                <a:sym typeface="Times New Roman"/>
              </a:rPr>
              <a:t>2. **Potential for mismanagement**</a:t>
            </a:r>
            <a:r>
              <a:rPr lang="en-US" sz="1300">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b="1" lang="en-US" sz="1300">
                <a:latin typeface="Times New Roman"/>
                <a:ea typeface="Times New Roman"/>
                <a:cs typeface="Times New Roman"/>
                <a:sym typeface="Times New Roman"/>
              </a:rPr>
              <a:t>3. **Tax implications**:</a:t>
            </a:r>
            <a:r>
              <a:rPr lang="en-US" sz="1300">
                <a:latin typeface="Times New Roman"/>
                <a:ea typeface="Times New Roman"/>
                <a:cs typeface="Times New Roman"/>
                <a:sym typeface="Times New Roman"/>
              </a:rPr>
              <a:t> </a:t>
            </a:r>
            <a:r>
              <a:rPr b="1" lang="en-US" sz="1300">
                <a:latin typeface="Times New Roman"/>
                <a:ea typeface="Times New Roman"/>
                <a:cs typeface="Times New Roman"/>
                <a:sym typeface="Times New Roman"/>
              </a:rPr>
              <a:t>1. **Name a trust**:</a:t>
            </a:r>
            <a:r>
              <a:rPr lang="en-US" sz="1300">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b="1" lang="en-US" sz="1300">
                <a:latin typeface="Times New Roman"/>
                <a:ea typeface="Times New Roman"/>
                <a:cs typeface="Times New Roman"/>
                <a:sym typeface="Times New Roman"/>
              </a:rPr>
              <a:t>4. **Name a guardian or trustee**:</a:t>
            </a:r>
            <a:r>
              <a:rPr lang="en-US" sz="1300">
                <a:latin typeface="Times New Roman"/>
                <a:ea typeface="Times New Roman"/>
                <a:cs typeface="Times New Roman"/>
                <a:sym typeface="Times New Roman"/>
              </a:rPr>
              <a:t>.</a:t>
            </a:r>
            <a:endParaRPr sz="13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b="1" lang="en-US" sz="1300">
                <a:latin typeface="Times New Roman"/>
                <a:ea typeface="Times New Roman"/>
                <a:cs typeface="Times New Roman"/>
                <a:sym typeface="Times New Roman"/>
              </a:rPr>
              <a:t>5. **Consider a custodial account**:</a:t>
            </a:r>
            <a:endParaRPr sz="13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US" sz="1300">
                <a:latin typeface="Times New Roman"/>
                <a:ea typeface="Times New Roman"/>
                <a:cs typeface="Times New Roman"/>
                <a:sym typeface="Times New Roman"/>
              </a:rPr>
              <a:t>To ensure the best outcome for your child, I recommend consulting with an attorney or a licensed insurance professional who can help you create a customized plan tailored to your specific situation. They'll be able to provide guidance on the tax implications and other considerations involved in naming a minor child as beneficiary.</a:t>
            </a:r>
            <a:endParaRPr sz="1250">
              <a:latin typeface="Times New Roman"/>
              <a:ea typeface="Times New Roman"/>
              <a:cs typeface="Times New Roman"/>
              <a:sym typeface="Times New Roman"/>
            </a:endParaRPr>
          </a:p>
        </p:txBody>
      </p:sp>
      <p:sp>
        <p:nvSpPr>
          <p:cNvPr id="359" name="Google Shape;359;p28"/>
          <p:cNvSpPr txBox="1"/>
          <p:nvPr/>
        </p:nvSpPr>
        <p:spPr>
          <a:xfrm>
            <a:off x="2350200" y="4860950"/>
            <a:ext cx="7491600" cy="954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311150" lvl="0" marL="457200" marR="381000" rtl="0" algn="l">
              <a:lnSpc>
                <a:spcPct val="115000"/>
              </a:lnSpc>
              <a:spcBef>
                <a:spcPts val="120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Qwen: most comprehensive responses, but often included more information than necessary for simple consumer questions.</a:t>
            </a:r>
            <a:endParaRPr sz="1300">
              <a:solidFill>
                <a:schemeClr val="dk1"/>
              </a:solidFill>
              <a:latin typeface="Times New Roman"/>
              <a:ea typeface="Times New Roman"/>
              <a:cs typeface="Times New Roman"/>
              <a:sym typeface="Times New Roman"/>
            </a:endParaRPr>
          </a:p>
          <a:p>
            <a:pPr indent="-311150" lvl="0" marL="457200" rtl="0" algn="l">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Llama often explains the reasoning in a more educational style</a:t>
            </a:r>
            <a:r>
              <a:rPr lang="en-US" sz="1300">
                <a:solidFill>
                  <a:schemeClr val="dk1"/>
                </a:solidFill>
                <a:latin typeface="Times New Roman"/>
                <a:ea typeface="Times New Roman"/>
                <a:cs typeface="Times New Roman"/>
                <a:sym typeface="Times New Roman"/>
              </a:rPr>
              <a:t> with “Here’s why” </a:t>
            </a:r>
            <a:endParaRPr sz="13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500">
              <a:solidFill>
                <a:schemeClr val="dk1"/>
              </a:solidFill>
              <a:latin typeface="Times New Roman"/>
              <a:ea typeface="Times New Roman"/>
              <a:cs typeface="Times New Roman"/>
              <a:sym typeface="Times New Roman"/>
            </a:endParaRPr>
          </a:p>
        </p:txBody>
      </p:sp>
      <p:sp>
        <p:nvSpPr>
          <p:cNvPr id="360" name="Google Shape;360;p28"/>
          <p:cNvSpPr txBox="1"/>
          <p:nvPr/>
        </p:nvSpPr>
        <p:spPr>
          <a:xfrm>
            <a:off x="2641950" y="1545800"/>
            <a:ext cx="6908100" cy="21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200">
                <a:solidFill>
                  <a:srgbClr val="07006A"/>
                </a:solidFill>
                <a:latin typeface="Times New Roman"/>
                <a:ea typeface="Times New Roman"/>
                <a:cs typeface="Times New Roman"/>
                <a:sym typeface="Times New Roman"/>
              </a:rPr>
              <a:t>Prompt: Can I name my 8-year-old child as the beneficiary of my life insurance policy?</a:t>
            </a:r>
            <a:endParaRPr b="1" sz="1200">
              <a:solidFill>
                <a:srgbClr val="07006A"/>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9"/>
          <p:cNvSpPr txBox="1"/>
          <p:nvPr>
            <p:ph type="title"/>
          </p:nvPr>
        </p:nvSpPr>
        <p:spPr>
          <a:xfrm>
            <a:off x="1449217" y="804889"/>
            <a:ext cx="9605700" cy="10593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None/>
            </a:pPr>
            <a:r>
              <a:rPr b="1" lang="en-US" sz="2800">
                <a:solidFill>
                  <a:srgbClr val="07006A"/>
                </a:solidFill>
                <a:latin typeface="Times New Roman"/>
                <a:ea typeface="Times New Roman"/>
                <a:cs typeface="Times New Roman"/>
                <a:sym typeface="Times New Roman"/>
              </a:rPr>
              <a:t>Response Comparison</a:t>
            </a:r>
            <a:endParaRPr sz="28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366" name="Google Shape;366;p29"/>
          <p:cNvSpPr txBox="1"/>
          <p:nvPr>
            <p:ph idx="1" type="body"/>
          </p:nvPr>
        </p:nvSpPr>
        <p:spPr>
          <a:xfrm>
            <a:off x="1168675" y="2010875"/>
            <a:ext cx="4923900" cy="38667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b="1" lang="en-US" sz="1100">
                <a:solidFill>
                  <a:srgbClr val="B83232"/>
                </a:solidFill>
                <a:latin typeface="Times New Roman"/>
                <a:ea typeface="Times New Roman"/>
                <a:cs typeface="Times New Roman"/>
                <a:sym typeface="Times New Roman"/>
              </a:rPr>
              <a:t>Mistral: </a:t>
            </a:r>
            <a:endParaRPr b="1" sz="1100">
              <a:solidFill>
                <a:srgbClr val="B83232"/>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b="1" sz="7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b="1" lang="en-US" sz="1100">
                <a:latin typeface="Times New Roman"/>
                <a:ea typeface="Times New Roman"/>
                <a:cs typeface="Times New Roman"/>
                <a:sym typeface="Times New Roman"/>
              </a:rPr>
              <a:t>Yes, you can name a trust as the beneficiary of your life insurance policy. This can be an effective estate planning strategy, allowing you to control how the death benefit is distributed after your passing. However, it's crucial to ensure that the trust is properly established and designed according to your specific needs and circumstances.</a:t>
            </a:r>
            <a:endParaRPr b="1" sz="11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b="1" sz="11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b="1" lang="en-US" sz="1100">
                <a:latin typeface="Times New Roman"/>
                <a:ea typeface="Times New Roman"/>
                <a:cs typeface="Times New Roman"/>
                <a:sym typeface="Times New Roman"/>
              </a:rPr>
              <a:t>It's recommended to consult with a licensed attorney or a financial advisor who specializes in estate planning to help you set up the trust and understand its implications on your life insurance policy and overall estate plan. They can provide personalized advice based on your unique situation.</a:t>
            </a:r>
            <a:endParaRPr b="1" sz="11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b="1" sz="900">
              <a:latin typeface="Times New Roman"/>
              <a:ea typeface="Times New Roman"/>
              <a:cs typeface="Times New Roman"/>
              <a:sym typeface="Times New Roman"/>
            </a:endParaRPr>
          </a:p>
          <a:p>
            <a:pPr indent="0" lvl="0" marL="0" rtl="0" algn="l">
              <a:spcBef>
                <a:spcPts val="1000"/>
              </a:spcBef>
              <a:spcAft>
                <a:spcPts val="0"/>
              </a:spcAft>
              <a:buNone/>
            </a:pPr>
            <a:r>
              <a:t/>
            </a:r>
            <a:endParaRPr/>
          </a:p>
        </p:txBody>
      </p:sp>
      <p:sp>
        <p:nvSpPr>
          <p:cNvPr id="367" name="Google Shape;367;p29"/>
          <p:cNvSpPr txBox="1"/>
          <p:nvPr>
            <p:ph idx="2" type="body"/>
          </p:nvPr>
        </p:nvSpPr>
        <p:spPr>
          <a:xfrm>
            <a:off x="6413775" y="2017350"/>
            <a:ext cx="4923900" cy="34416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None/>
            </a:pPr>
            <a:r>
              <a:rPr b="1" lang="en-US" sz="1100">
                <a:solidFill>
                  <a:srgbClr val="B83232"/>
                </a:solidFill>
                <a:latin typeface="Times New Roman"/>
                <a:ea typeface="Times New Roman"/>
                <a:cs typeface="Times New Roman"/>
                <a:sym typeface="Times New Roman"/>
              </a:rPr>
              <a:t>GPT:</a:t>
            </a:r>
            <a:endParaRPr b="1" sz="1100">
              <a:solidFill>
                <a:srgbClr val="B83232"/>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900">
                <a:latin typeface="Times New Roman"/>
                <a:ea typeface="Times New Roman"/>
                <a:cs typeface="Times New Roman"/>
                <a:sym typeface="Times New Roman"/>
              </a:rPr>
              <a:t> </a:t>
            </a:r>
            <a:r>
              <a:rPr b="1" lang="en-US" sz="1100">
                <a:latin typeface="Times New Roman"/>
                <a:ea typeface="Times New Roman"/>
                <a:cs typeface="Times New Roman"/>
                <a:sym typeface="Times New Roman"/>
              </a:rPr>
              <a:t>Yes. In many cases, you can name a trust as the beneficiary of a life insurance policy.</a:t>
            </a:r>
            <a:endParaRPr b="1" sz="11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b="1" sz="1100">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100">
                <a:latin typeface="Times New Roman"/>
                <a:ea typeface="Times New Roman"/>
                <a:cs typeface="Times New Roman"/>
                <a:sym typeface="Times New Roman"/>
              </a:rPr>
              <a:t>Common reasons people do this include:</a:t>
            </a:r>
            <a:endParaRPr b="1" sz="1100">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100">
                <a:latin typeface="Times New Roman"/>
                <a:ea typeface="Times New Roman"/>
                <a:cs typeface="Times New Roman"/>
                <a:sym typeface="Times New Roman"/>
              </a:rPr>
              <a:t>xxxxxx</a:t>
            </a:r>
            <a:endParaRPr b="1" sz="1100">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100">
                <a:latin typeface="Times New Roman"/>
                <a:ea typeface="Times New Roman"/>
                <a:cs typeface="Times New Roman"/>
                <a:sym typeface="Times New Roman"/>
              </a:rPr>
              <a:t>A few important points:</a:t>
            </a:r>
            <a:endParaRPr b="1" sz="1100">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100">
                <a:latin typeface="Times New Roman"/>
                <a:ea typeface="Times New Roman"/>
                <a:cs typeface="Times New Roman"/>
                <a:sym typeface="Times New Roman"/>
              </a:rPr>
              <a:t>xxxxxx</a:t>
            </a:r>
            <a:endParaRPr b="1" sz="1100">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100">
                <a:latin typeface="Times New Roman"/>
                <a:ea typeface="Times New Roman"/>
                <a:cs typeface="Times New Roman"/>
                <a:sym typeface="Times New Roman"/>
              </a:rPr>
              <a:t>Because trust and insurance rules can be technical, it’s a good idea to work with a **licensed insurance professional** and an **estate planning attorney** if you want the arrangement to work as intended.</a:t>
            </a:r>
            <a:endParaRPr b="1" sz="11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b="1" sz="1100">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100">
                <a:latin typeface="Times New Roman"/>
                <a:ea typeface="Times New Roman"/>
                <a:cs typeface="Times New Roman"/>
                <a:sym typeface="Times New Roman"/>
              </a:rPr>
              <a:t>If you’d like, I can also explain the difference between naming a **trust** as beneficiary versus naming an **individual** directly.</a:t>
            </a:r>
            <a:endParaRPr b="1" sz="11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1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b="1" sz="1300">
              <a:solidFill>
                <a:srgbClr val="B83232"/>
              </a:solidFill>
              <a:latin typeface="Times New Roman"/>
              <a:ea typeface="Times New Roman"/>
              <a:cs typeface="Times New Roman"/>
              <a:sym typeface="Times New Roman"/>
            </a:endParaRPr>
          </a:p>
        </p:txBody>
      </p:sp>
      <p:sp>
        <p:nvSpPr>
          <p:cNvPr id="368" name="Google Shape;368;p29"/>
          <p:cNvSpPr txBox="1"/>
          <p:nvPr/>
        </p:nvSpPr>
        <p:spPr>
          <a:xfrm>
            <a:off x="3450750" y="1530238"/>
            <a:ext cx="5290500" cy="21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200">
                <a:solidFill>
                  <a:srgbClr val="07006A"/>
                </a:solidFill>
                <a:latin typeface="Times New Roman"/>
                <a:ea typeface="Times New Roman"/>
                <a:cs typeface="Times New Roman"/>
                <a:sym typeface="Times New Roman"/>
              </a:rPr>
              <a:t>Prompt: Can I name a trust as the beneficiary of my life insurance policy?</a:t>
            </a:r>
            <a:endParaRPr b="1" sz="1200">
              <a:solidFill>
                <a:srgbClr val="07006A"/>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solidFill>
                <a:srgbClr val="07006A"/>
              </a:solidFill>
              <a:latin typeface="Gill Sans"/>
              <a:ea typeface="Gill Sans"/>
              <a:cs typeface="Gill Sans"/>
              <a:sym typeface="Gill Sans"/>
            </a:endParaRPr>
          </a:p>
          <a:p>
            <a:pPr indent="0" lvl="0" marL="0" rtl="0" algn="l">
              <a:spcBef>
                <a:spcPts val="0"/>
              </a:spcBef>
              <a:spcAft>
                <a:spcPts val="0"/>
              </a:spcAft>
              <a:buNone/>
            </a:pPr>
            <a:r>
              <a:t/>
            </a:r>
            <a:endParaRPr sz="1600">
              <a:solidFill>
                <a:schemeClr val="dk1"/>
              </a:solidFill>
              <a:latin typeface="Gill Sans"/>
              <a:ea typeface="Gill Sans"/>
              <a:cs typeface="Gill Sans"/>
              <a:sym typeface="Gill Sans"/>
            </a:endParaRPr>
          </a:p>
        </p:txBody>
      </p:sp>
      <p:sp>
        <p:nvSpPr>
          <p:cNvPr id="369" name="Google Shape;369;p29"/>
          <p:cNvSpPr txBox="1"/>
          <p:nvPr/>
        </p:nvSpPr>
        <p:spPr>
          <a:xfrm>
            <a:off x="2046450" y="4698350"/>
            <a:ext cx="8099100" cy="1053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311150" lvl="0" marL="457200" marR="381000" rtl="0" algn="l">
              <a:lnSpc>
                <a:spcPct val="115000"/>
              </a:lnSpc>
              <a:spcBef>
                <a:spcPts val="120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Mistral generally produced shorter responses, but sometimes omitted important information that appeared in other models. </a:t>
            </a:r>
            <a:endParaRPr sz="1300">
              <a:solidFill>
                <a:schemeClr val="dk1"/>
              </a:solidFill>
              <a:latin typeface="Times New Roman"/>
              <a:ea typeface="Times New Roman"/>
              <a:cs typeface="Times New Roman"/>
              <a:sym typeface="Times New Roman"/>
            </a:endParaRPr>
          </a:p>
          <a:p>
            <a:pPr indent="-311150" lvl="0" marL="457200" rtl="0" algn="l">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GPT model often provided concise, focused answers that directly addressed the user's question without overwhelming the reader. </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0"/>
          <p:cNvSpPr txBox="1"/>
          <p:nvPr>
            <p:ph type="title"/>
          </p:nvPr>
        </p:nvSpPr>
        <p:spPr>
          <a:xfrm>
            <a:off x="1451579" y="804519"/>
            <a:ext cx="9603300" cy="10491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latin typeface="Times New Roman"/>
                <a:ea typeface="Times New Roman"/>
                <a:cs typeface="Times New Roman"/>
                <a:sym typeface="Times New Roman"/>
              </a:rPr>
              <a:t>Summary of LLM</a:t>
            </a:r>
            <a:r>
              <a:rPr lang="en-US">
                <a:latin typeface="Times New Roman"/>
                <a:ea typeface="Times New Roman"/>
                <a:cs typeface="Times New Roman"/>
                <a:sym typeface="Times New Roman"/>
              </a:rPr>
              <a:t> Performance</a:t>
            </a:r>
            <a:endParaRPr>
              <a:latin typeface="Times New Roman"/>
              <a:ea typeface="Times New Roman"/>
              <a:cs typeface="Times New Roman"/>
              <a:sym typeface="Times New Roman"/>
            </a:endParaRPr>
          </a:p>
        </p:txBody>
      </p:sp>
      <p:sp>
        <p:nvSpPr>
          <p:cNvPr id="375" name="Google Shape;375;p30"/>
          <p:cNvSpPr txBox="1"/>
          <p:nvPr/>
        </p:nvSpPr>
        <p:spPr>
          <a:xfrm>
            <a:off x="1308775" y="1853625"/>
            <a:ext cx="9888900" cy="37779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Times New Roman"/>
              <a:buChar char="●"/>
            </a:pPr>
            <a:r>
              <a:rPr b="1" lang="en-US" sz="1500">
                <a:solidFill>
                  <a:schemeClr val="dk1"/>
                </a:solidFill>
                <a:latin typeface="Times New Roman"/>
                <a:ea typeface="Times New Roman"/>
                <a:cs typeface="Times New Roman"/>
                <a:sym typeface="Times New Roman"/>
              </a:rPr>
              <a:t>GPT-5.4-mini</a:t>
            </a:r>
            <a:r>
              <a:rPr lang="en-US" sz="1500">
                <a:solidFill>
                  <a:schemeClr val="dk1"/>
                </a:solidFill>
                <a:latin typeface="Times New Roman"/>
                <a:ea typeface="Times New Roman"/>
                <a:cs typeface="Times New Roman"/>
                <a:sym typeface="Times New Roman"/>
              </a:rPr>
              <a:t> produced concise, focused responses that directly addressed the questions and often included useful follow-up guidance, while maintaining strong accuracy and completeness. </a:t>
            </a:r>
            <a:r>
              <a:rPr lang="en-US" sz="1500">
                <a:solidFill>
                  <a:schemeClr val="dk1"/>
                </a:solidFill>
                <a:latin typeface="Times New Roman"/>
                <a:ea typeface="Times New Roman"/>
                <a:cs typeface="Times New Roman"/>
                <a:sym typeface="Times New Roman"/>
              </a:rPr>
              <a:t> </a:t>
            </a:r>
            <a:endParaRPr sz="15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b="1" lang="en-US" sz="1500">
                <a:solidFill>
                  <a:schemeClr val="dk1"/>
                </a:solidFill>
                <a:latin typeface="Times New Roman"/>
                <a:ea typeface="Times New Roman"/>
                <a:cs typeface="Times New Roman"/>
                <a:sym typeface="Times New Roman"/>
              </a:rPr>
              <a:t>Qwen3-VL-32B-Instruct</a:t>
            </a:r>
            <a:r>
              <a:rPr lang="en-US" sz="1500">
                <a:solidFill>
                  <a:schemeClr val="dk1"/>
                </a:solidFill>
                <a:latin typeface="Times New Roman"/>
                <a:ea typeface="Times New Roman"/>
                <a:cs typeface="Times New Roman"/>
                <a:sym typeface="Times New Roman"/>
              </a:rPr>
              <a:t> produced the most comprehensive responses, but often included more detail than necessary for straightforward consumer questions. It also showed occasional hallucinations, unsupported claims, overconfident rankings, and overly assertive language. </a:t>
            </a:r>
            <a:endParaRPr sz="15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b="1" lang="en-US" sz="1500">
                <a:solidFill>
                  <a:schemeClr val="dk1"/>
                </a:solidFill>
                <a:latin typeface="Times New Roman"/>
                <a:ea typeface="Times New Roman"/>
                <a:cs typeface="Times New Roman"/>
                <a:sym typeface="Times New Roman"/>
              </a:rPr>
              <a:t>Mistral-7B</a:t>
            </a:r>
            <a:r>
              <a:rPr lang="en-US" sz="1500">
                <a:solidFill>
                  <a:schemeClr val="dk1"/>
                </a:solidFill>
                <a:latin typeface="Times New Roman"/>
                <a:ea typeface="Times New Roman"/>
                <a:cs typeface="Times New Roman"/>
                <a:sym typeface="Times New Roman"/>
              </a:rPr>
              <a:t> produced concise responses but sometimes omitted important context, including safety-related considerations. Limited deployment-specific knowledge </a:t>
            </a:r>
            <a:endParaRPr sz="15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b="1" lang="en-US" sz="1500">
                <a:solidFill>
                  <a:schemeClr val="dk1"/>
                </a:solidFill>
                <a:latin typeface="Times New Roman"/>
                <a:ea typeface="Times New Roman"/>
                <a:cs typeface="Times New Roman"/>
                <a:sym typeface="Times New Roman"/>
              </a:rPr>
              <a:t>Llama-3.1-8B</a:t>
            </a:r>
            <a:r>
              <a:rPr lang="en-US" sz="1500">
                <a:solidFill>
                  <a:schemeClr val="dk1"/>
                </a:solidFill>
                <a:latin typeface="Times New Roman"/>
                <a:ea typeface="Times New Roman"/>
                <a:cs typeface="Times New Roman"/>
                <a:sym typeface="Times New Roman"/>
              </a:rPr>
              <a:t> often provided detailed, educational explanations, but sometimes showed overstated certainty, off-topic, logical inconsistency, and overly cautious non-answers. Also limited deployment-specific knowledge </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700">
              <a:solidFill>
                <a:schemeClr val="dk1"/>
              </a:solidFill>
              <a:latin typeface="Gill Sans"/>
              <a:ea typeface="Gill Sans"/>
              <a:cs typeface="Gill Sans"/>
              <a:sym typeface="Gill Sans"/>
            </a:endParaRPr>
          </a:p>
          <a:p>
            <a:pPr indent="0" lvl="0" marL="0" rtl="0" algn="l">
              <a:spcBef>
                <a:spcPts val="0"/>
              </a:spcBef>
              <a:spcAft>
                <a:spcPts val="0"/>
              </a:spcAft>
              <a:buNone/>
            </a:pPr>
            <a:r>
              <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dk1"/>
              </a:solidFill>
              <a:latin typeface="Gill Sans"/>
              <a:ea typeface="Gill Sans"/>
              <a:cs typeface="Gill Sans"/>
              <a:sym typeface="Gill Sans"/>
            </a:endParaRPr>
          </a:p>
          <a:p>
            <a:pPr indent="0" lvl="0" marL="0" rtl="0" algn="l">
              <a:spcBef>
                <a:spcPts val="0"/>
              </a:spcBef>
              <a:spcAft>
                <a:spcPts val="0"/>
              </a:spcAft>
              <a:buNone/>
            </a:pPr>
            <a:r>
              <a:t/>
            </a:r>
            <a:endParaRPr sz="2000">
              <a:solidFill>
                <a:schemeClr val="dk1"/>
              </a:solidFill>
              <a:latin typeface="Gill Sans"/>
              <a:ea typeface="Gill Sans"/>
              <a:cs typeface="Gill Sans"/>
              <a:sym typeface="Gill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1"/>
          <p:cNvSpPr/>
          <p:nvPr/>
        </p:nvSpPr>
        <p:spPr>
          <a:xfrm>
            <a:off x="502920" y="292608"/>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006A"/>
              </a:buClr>
              <a:buSzPts val="2800"/>
              <a:buFont typeface="Times New Roman"/>
              <a:buNone/>
            </a:pPr>
            <a:r>
              <a:rPr b="1" lang="en-US" sz="2800">
                <a:solidFill>
                  <a:srgbClr val="07006A"/>
                </a:solidFill>
                <a:latin typeface="Times New Roman"/>
                <a:ea typeface="Times New Roman"/>
                <a:cs typeface="Times New Roman"/>
                <a:sym typeface="Times New Roman"/>
              </a:rPr>
              <a:t>Reliability trade-off: missing responses</a:t>
            </a:r>
            <a:endParaRPr sz="2800">
              <a:solidFill>
                <a:schemeClr val="dk1"/>
              </a:solidFill>
              <a:latin typeface="Times New Roman"/>
              <a:ea typeface="Times New Roman"/>
              <a:cs typeface="Times New Roman"/>
              <a:sym typeface="Times New Roman"/>
            </a:endParaRPr>
          </a:p>
        </p:txBody>
      </p:sp>
      <p:sp>
        <p:nvSpPr>
          <p:cNvPr id="382" name="Google Shape;382;p31"/>
          <p:cNvSpPr/>
          <p:nvPr/>
        </p:nvSpPr>
        <p:spPr>
          <a:xfrm>
            <a:off x="512064" y="832104"/>
            <a:ext cx="1051560" cy="64008"/>
          </a:xfrm>
          <a:prstGeom prst="rect">
            <a:avLst/>
          </a:prstGeom>
          <a:solidFill>
            <a:srgbClr val="F15A24"/>
          </a:solidFill>
          <a:ln cap="flat" cmpd="sng" w="12700">
            <a:solidFill>
              <a:srgbClr val="F15A2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383" name="Google Shape;383;p31"/>
          <p:cNvSpPr/>
          <p:nvPr/>
        </p:nvSpPr>
        <p:spPr>
          <a:xfrm>
            <a:off x="502920" y="941832"/>
            <a:ext cx="9875520" cy="2834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575"/>
              </a:buClr>
              <a:buSzPts val="1350"/>
              <a:buFont typeface="Gill Sans"/>
              <a:buNone/>
            </a:pPr>
            <a:r>
              <a:rPr lang="en-US" sz="1350">
                <a:solidFill>
                  <a:srgbClr val="5B6575"/>
                </a:solidFill>
                <a:latin typeface="Gill Sans"/>
                <a:ea typeface="Gill Sans"/>
                <a:cs typeface="Gill Sans"/>
                <a:sym typeface="Gill Sans"/>
              </a:rPr>
              <a:t>Higher reasoning cost did not necessarily produce more reliable outputs.</a:t>
            </a:r>
            <a:endParaRPr sz="1350">
              <a:solidFill>
                <a:schemeClr val="dk1"/>
              </a:solidFill>
              <a:latin typeface="Gill Sans"/>
              <a:ea typeface="Gill Sans"/>
              <a:cs typeface="Gill Sans"/>
              <a:sym typeface="Gill Sans"/>
            </a:endParaRPr>
          </a:p>
        </p:txBody>
      </p:sp>
      <p:sp>
        <p:nvSpPr>
          <p:cNvPr id="384" name="Google Shape;384;p31"/>
          <p:cNvSpPr/>
          <p:nvPr/>
        </p:nvSpPr>
        <p:spPr>
          <a:xfrm>
            <a:off x="3337560" y="1527048"/>
            <a:ext cx="201168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3232"/>
              </a:buClr>
              <a:buSzPts val="3400"/>
              <a:buFont typeface="Times New Roman"/>
              <a:buNone/>
            </a:pPr>
            <a:r>
              <a:rPr b="1" lang="en-US" sz="3400">
                <a:solidFill>
                  <a:srgbClr val="B83232"/>
                </a:solidFill>
                <a:latin typeface="Times New Roman"/>
                <a:ea typeface="Times New Roman"/>
                <a:cs typeface="Times New Roman"/>
                <a:sym typeface="Times New Roman"/>
              </a:rPr>
              <a:t>27.11</a:t>
            </a:r>
            <a:r>
              <a:rPr b="1" lang="en-US" sz="3400">
                <a:solidFill>
                  <a:srgbClr val="B83232"/>
                </a:solidFill>
                <a:latin typeface="Gill Sans"/>
                <a:ea typeface="Gill Sans"/>
                <a:cs typeface="Gill Sans"/>
                <a:sym typeface="Gill Sans"/>
              </a:rPr>
              <a:t>%</a:t>
            </a:r>
            <a:endParaRPr sz="3400">
              <a:solidFill>
                <a:schemeClr val="dk1"/>
              </a:solidFill>
              <a:latin typeface="Gill Sans"/>
              <a:ea typeface="Gill Sans"/>
              <a:cs typeface="Gill Sans"/>
              <a:sym typeface="Gill Sans"/>
            </a:endParaRPr>
          </a:p>
        </p:txBody>
      </p:sp>
      <p:sp>
        <p:nvSpPr>
          <p:cNvPr id="385" name="Google Shape;385;p31"/>
          <p:cNvSpPr/>
          <p:nvPr/>
        </p:nvSpPr>
        <p:spPr>
          <a:xfrm>
            <a:off x="3337560" y="2093976"/>
            <a:ext cx="2011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575"/>
              </a:buClr>
              <a:buSzPts val="1250"/>
              <a:buFont typeface="Gill Sans"/>
              <a:buNone/>
            </a:pPr>
            <a:r>
              <a:rPr lang="en-US" sz="1250">
                <a:solidFill>
                  <a:srgbClr val="5B6575"/>
                </a:solidFill>
                <a:latin typeface="Gill Sans"/>
                <a:ea typeface="Gill Sans"/>
                <a:cs typeface="Gill Sans"/>
                <a:sym typeface="Gill Sans"/>
              </a:rPr>
              <a:t>missing rate for GPT-5.4-mini</a:t>
            </a:r>
            <a:endParaRPr sz="1250">
              <a:solidFill>
                <a:schemeClr val="dk1"/>
              </a:solidFill>
              <a:latin typeface="Gill Sans"/>
              <a:ea typeface="Gill Sans"/>
              <a:cs typeface="Gill Sans"/>
              <a:sym typeface="Gill Sans"/>
            </a:endParaRPr>
          </a:p>
        </p:txBody>
      </p:sp>
      <p:sp>
        <p:nvSpPr>
          <p:cNvPr id="386" name="Google Shape;386;p31"/>
          <p:cNvSpPr/>
          <p:nvPr/>
        </p:nvSpPr>
        <p:spPr>
          <a:xfrm>
            <a:off x="5989320" y="1527048"/>
            <a:ext cx="201168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855A"/>
              </a:buClr>
              <a:buSzPts val="3400"/>
              <a:buFont typeface="Gill Sans"/>
              <a:buNone/>
            </a:pPr>
            <a:r>
              <a:rPr b="1" lang="en-US" sz="3400">
                <a:solidFill>
                  <a:srgbClr val="2F855A"/>
                </a:solidFill>
                <a:latin typeface="Gill Sans"/>
                <a:ea typeface="Gill Sans"/>
                <a:cs typeface="Gill Sans"/>
                <a:sym typeface="Gill Sans"/>
              </a:rPr>
              <a:t>0%</a:t>
            </a:r>
            <a:endParaRPr sz="3400">
              <a:solidFill>
                <a:schemeClr val="dk1"/>
              </a:solidFill>
              <a:latin typeface="Gill Sans"/>
              <a:ea typeface="Gill Sans"/>
              <a:cs typeface="Gill Sans"/>
              <a:sym typeface="Gill Sans"/>
            </a:endParaRPr>
          </a:p>
        </p:txBody>
      </p:sp>
      <p:sp>
        <p:nvSpPr>
          <p:cNvPr id="387" name="Google Shape;387;p31"/>
          <p:cNvSpPr/>
          <p:nvPr/>
        </p:nvSpPr>
        <p:spPr>
          <a:xfrm>
            <a:off x="5989320" y="2093976"/>
            <a:ext cx="2011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575"/>
              </a:buClr>
              <a:buSzPts val="1250"/>
              <a:buFont typeface="Gill Sans"/>
              <a:buNone/>
            </a:pPr>
            <a:r>
              <a:rPr lang="en-US" sz="1250">
                <a:solidFill>
                  <a:srgbClr val="5B6575"/>
                </a:solidFill>
                <a:latin typeface="Gill Sans"/>
                <a:ea typeface="Gill Sans"/>
                <a:cs typeface="Gill Sans"/>
                <a:sym typeface="Gill Sans"/>
              </a:rPr>
              <a:t>missing rate </a:t>
            </a:r>
            <a:r>
              <a:rPr lang="en-US" sz="1250">
                <a:solidFill>
                  <a:srgbClr val="5B6575"/>
                </a:solidFill>
                <a:latin typeface="Times New Roman"/>
                <a:ea typeface="Times New Roman"/>
                <a:cs typeface="Times New Roman"/>
                <a:sym typeface="Times New Roman"/>
              </a:rPr>
              <a:t>for</a:t>
            </a:r>
            <a:r>
              <a:rPr lang="en-US" sz="1250">
                <a:solidFill>
                  <a:srgbClr val="5B6575"/>
                </a:solidFill>
                <a:latin typeface="Gill Sans"/>
                <a:ea typeface="Gill Sans"/>
                <a:cs typeface="Gill Sans"/>
                <a:sym typeface="Gill Sans"/>
              </a:rPr>
              <a:t> the other listed generators</a:t>
            </a:r>
            <a:endParaRPr sz="1250">
              <a:solidFill>
                <a:schemeClr val="dk1"/>
              </a:solidFill>
              <a:latin typeface="Gill Sans"/>
              <a:ea typeface="Gill Sans"/>
              <a:cs typeface="Gill Sans"/>
              <a:sym typeface="Gill Sans"/>
            </a:endParaRPr>
          </a:p>
        </p:txBody>
      </p:sp>
      <p:cxnSp>
        <p:nvCxnSpPr>
          <p:cNvPr id="388" name="Google Shape;388;p31"/>
          <p:cNvCxnSpPr/>
          <p:nvPr/>
        </p:nvCxnSpPr>
        <p:spPr>
          <a:xfrm>
            <a:off x="5806440" y="1325880"/>
            <a:ext cx="0" cy="4526280"/>
          </a:xfrm>
          <a:prstGeom prst="straightConnector1">
            <a:avLst/>
          </a:prstGeom>
          <a:noFill/>
          <a:ln cap="flat" cmpd="sng" w="12700">
            <a:solidFill>
              <a:srgbClr val="D9DDE8"/>
            </a:solidFill>
            <a:prstDash val="solid"/>
            <a:round/>
            <a:headEnd len="sm" w="sm" type="none"/>
            <a:tailEnd len="sm" w="sm" type="none"/>
          </a:ln>
        </p:spPr>
      </p:cxnSp>
      <p:sp>
        <p:nvSpPr>
          <p:cNvPr id="389" name="Google Shape;389;p31"/>
          <p:cNvSpPr/>
          <p:nvPr/>
        </p:nvSpPr>
        <p:spPr>
          <a:xfrm>
            <a:off x="502920" y="6592824"/>
            <a:ext cx="50292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8291"/>
              </a:buClr>
              <a:buSzPts val="750"/>
              <a:buFont typeface="Gill Sans"/>
              <a:buNone/>
            </a:pPr>
            <a:r>
              <a:rPr lang="en-US" sz="750">
                <a:solidFill>
                  <a:srgbClr val="7A8291"/>
                </a:solidFill>
                <a:latin typeface="Gill Sans"/>
                <a:ea typeface="Gill Sans"/>
                <a:cs typeface="Gill Sans"/>
                <a:sym typeface="Gill Sans"/>
              </a:rPr>
              <a:t>Life Insurance AI Advice Benchmark</a:t>
            </a:r>
            <a:endParaRPr sz="750">
              <a:solidFill>
                <a:schemeClr val="dk1"/>
              </a:solidFill>
              <a:latin typeface="Gill Sans"/>
              <a:ea typeface="Gill Sans"/>
              <a:cs typeface="Gill Sans"/>
              <a:sym typeface="Gill Sans"/>
            </a:endParaRPr>
          </a:p>
        </p:txBody>
      </p:sp>
      <p:sp>
        <p:nvSpPr>
          <p:cNvPr id="390" name="Google Shape;390;p31"/>
          <p:cNvSpPr txBox="1"/>
          <p:nvPr>
            <p:ph idx="4294967295" type="sldNum"/>
          </p:nvPr>
        </p:nvSpPr>
        <p:spPr>
          <a:xfrm>
            <a:off x="11612880" y="6601968"/>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6B7280"/>
                </a:solidFill>
                <a:latin typeface="Arial"/>
                <a:ea typeface="Arial"/>
                <a:cs typeface="Arial"/>
                <a:sym typeface="Arial"/>
              </a:rPr>
              <a:t>‹#›</a:t>
            </a:fld>
            <a:endParaRPr sz="800">
              <a:solidFill>
                <a:srgbClr val="6B7280"/>
              </a:solidFill>
              <a:latin typeface="Arial"/>
              <a:ea typeface="Arial"/>
              <a:cs typeface="Arial"/>
              <a:sym typeface="Arial"/>
            </a:endParaRPr>
          </a:p>
        </p:txBody>
      </p:sp>
      <p:pic>
        <p:nvPicPr>
          <p:cNvPr id="391" name="Google Shape;391;p31"/>
          <p:cNvPicPr preferRelativeResize="0"/>
          <p:nvPr/>
        </p:nvPicPr>
        <p:blipFill rotWithShape="1">
          <a:blip r:embed="rId3">
            <a:alphaModFix/>
          </a:blip>
          <a:srcRect b="0" l="0" r="0" t="0"/>
          <a:stretch/>
        </p:blipFill>
        <p:spPr>
          <a:xfrm>
            <a:off x="2627948" y="2651760"/>
            <a:ext cx="6356983" cy="258635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2"/>
          <p:cNvSpPr/>
          <p:nvPr/>
        </p:nvSpPr>
        <p:spPr>
          <a:xfrm>
            <a:off x="502920" y="399288"/>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006A"/>
              </a:buClr>
              <a:buSzPts val="2800"/>
              <a:buFont typeface="Times New Roman"/>
              <a:buNone/>
            </a:pPr>
            <a:r>
              <a:rPr b="1" lang="en-US" sz="2800">
                <a:solidFill>
                  <a:srgbClr val="07006A"/>
                </a:solidFill>
                <a:latin typeface="Times New Roman"/>
                <a:ea typeface="Times New Roman"/>
                <a:cs typeface="Times New Roman"/>
                <a:sym typeface="Times New Roman"/>
              </a:rPr>
              <a:t>Conclusion</a:t>
            </a:r>
            <a:endParaRPr sz="2800">
              <a:solidFill>
                <a:schemeClr val="dk1"/>
              </a:solidFill>
              <a:latin typeface="Times New Roman"/>
              <a:ea typeface="Times New Roman"/>
              <a:cs typeface="Times New Roman"/>
              <a:sym typeface="Times New Roman"/>
            </a:endParaRPr>
          </a:p>
        </p:txBody>
      </p:sp>
      <p:sp>
        <p:nvSpPr>
          <p:cNvPr id="398" name="Google Shape;398;p32"/>
          <p:cNvSpPr/>
          <p:nvPr/>
        </p:nvSpPr>
        <p:spPr>
          <a:xfrm>
            <a:off x="512064" y="832104"/>
            <a:ext cx="1051560" cy="64008"/>
          </a:xfrm>
          <a:prstGeom prst="rect">
            <a:avLst/>
          </a:prstGeom>
          <a:solidFill>
            <a:srgbClr val="F15A24"/>
          </a:solidFill>
          <a:ln cap="flat" cmpd="sng" w="12700">
            <a:solidFill>
              <a:srgbClr val="F15A2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399" name="Google Shape;399;p32"/>
          <p:cNvSpPr/>
          <p:nvPr/>
        </p:nvSpPr>
        <p:spPr>
          <a:xfrm>
            <a:off x="502920" y="941832"/>
            <a:ext cx="987552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50"/>
              <a:buFont typeface="Gill Sans"/>
              <a:buNone/>
            </a:pPr>
            <a:r>
              <a:rPr lang="en-US" sz="1350">
                <a:solidFill>
                  <a:schemeClr val="dk1"/>
                </a:solidFill>
                <a:latin typeface="Gill Sans"/>
                <a:ea typeface="Gill Sans"/>
                <a:cs typeface="Gill Sans"/>
                <a:sym typeface="Gill Sans"/>
              </a:rPr>
              <a:t>GPT-5.4-mini led on the main quality dimensions, but the result was not cost-free.</a:t>
            </a:r>
            <a:endParaRPr/>
          </a:p>
        </p:txBody>
      </p:sp>
      <p:sp>
        <p:nvSpPr>
          <p:cNvPr id="400" name="Google Shape;400;p32"/>
          <p:cNvSpPr/>
          <p:nvPr/>
        </p:nvSpPr>
        <p:spPr>
          <a:xfrm>
            <a:off x="1493520" y="1799637"/>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Gill Sans"/>
              <a:buNone/>
            </a:pPr>
            <a:r>
              <a:t/>
            </a:r>
            <a:endParaRPr sz="1400">
              <a:solidFill>
                <a:schemeClr val="dk1"/>
              </a:solidFill>
              <a:latin typeface="Gill Sans"/>
              <a:ea typeface="Gill Sans"/>
              <a:cs typeface="Gill Sans"/>
              <a:sym typeface="Gill Sans"/>
            </a:endParaRPr>
          </a:p>
        </p:txBody>
      </p:sp>
      <p:sp>
        <p:nvSpPr>
          <p:cNvPr id="401" name="Google Shape;401;p32"/>
          <p:cNvSpPr/>
          <p:nvPr/>
        </p:nvSpPr>
        <p:spPr>
          <a:xfrm>
            <a:off x="640080" y="4956048"/>
            <a:ext cx="182880" cy="1097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575"/>
              </a:buClr>
              <a:buSzPts val="800"/>
              <a:buFont typeface="Gill Sans"/>
              <a:buNone/>
            </a:pPr>
            <a:r>
              <a:rPr lang="en-US" sz="800">
                <a:solidFill>
                  <a:srgbClr val="5B6575"/>
                </a:solidFill>
                <a:latin typeface="Gill Sans"/>
                <a:ea typeface="Gill Sans"/>
                <a:cs typeface="Gill Sans"/>
                <a:sym typeface="Gill Sans"/>
              </a:rPr>
              <a:t>0</a:t>
            </a:r>
            <a:endParaRPr sz="800">
              <a:solidFill>
                <a:schemeClr val="dk1"/>
              </a:solidFill>
              <a:latin typeface="Gill Sans"/>
              <a:ea typeface="Gill Sans"/>
              <a:cs typeface="Gill Sans"/>
              <a:sym typeface="Gill Sans"/>
            </a:endParaRPr>
          </a:p>
        </p:txBody>
      </p:sp>
      <p:sp>
        <p:nvSpPr>
          <p:cNvPr id="402" name="Google Shape;402;p32"/>
          <p:cNvSpPr/>
          <p:nvPr/>
        </p:nvSpPr>
        <p:spPr>
          <a:xfrm>
            <a:off x="640080" y="2185416"/>
            <a:ext cx="182880" cy="1097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dk1"/>
              </a:buClr>
              <a:buSzPts val="800"/>
              <a:buFont typeface="Gill Sans"/>
              <a:buNone/>
            </a:pPr>
            <a:r>
              <a:t/>
            </a:r>
            <a:endParaRPr sz="800">
              <a:solidFill>
                <a:schemeClr val="dk1"/>
              </a:solidFill>
              <a:latin typeface="Gill Sans"/>
              <a:ea typeface="Gill Sans"/>
              <a:cs typeface="Gill Sans"/>
              <a:sym typeface="Gill Sans"/>
            </a:endParaRPr>
          </a:p>
        </p:txBody>
      </p:sp>
      <p:sp>
        <p:nvSpPr>
          <p:cNvPr id="403" name="Google Shape;403;p32"/>
          <p:cNvSpPr/>
          <p:nvPr/>
        </p:nvSpPr>
        <p:spPr>
          <a:xfrm>
            <a:off x="2385060" y="4961568"/>
            <a:ext cx="8138159" cy="722434"/>
          </a:xfrm>
          <a:prstGeom prst="roundRect">
            <a:avLst>
              <a:gd fmla="val 12000" name="adj"/>
            </a:avLst>
          </a:prstGeom>
          <a:solidFill>
            <a:srgbClr val="FFFFFF"/>
          </a:solidFill>
          <a:ln cap="flat" cmpd="sng" w="15225">
            <a:solidFill>
              <a:srgbClr val="D7DBE8"/>
            </a:solidFill>
            <a:prstDash val="solid"/>
            <a:round/>
            <a:headEnd len="sm" w="sm" type="none"/>
            <a:tailEnd len="sm" w="sm" type="none"/>
          </a:ln>
        </p:spPr>
        <p:txBody>
          <a:bodyPr anchorCtr="0" anchor="t" bIns="45700" lIns="91425" spcFirstLastPara="1" rIns="91425" wrap="square" tIns="45700">
            <a:noAutofit/>
          </a:bodyPr>
          <a:lstStyle/>
          <a:p>
            <a:pPr indent="-171450" lvl="0" marL="171450" marR="0" rtl="0" algn="l">
              <a:spcBef>
                <a:spcPts val="0"/>
              </a:spcBef>
              <a:spcAft>
                <a:spcPts val="0"/>
              </a:spcAft>
              <a:buClr>
                <a:srgbClr val="1F2937"/>
              </a:buClr>
              <a:buSzPts val="1200"/>
              <a:buFont typeface="Arial"/>
              <a:buChar char="•"/>
            </a:pPr>
            <a:r>
              <a:rPr lang="en-US" sz="1200">
                <a:solidFill>
                  <a:srgbClr val="1F2937"/>
                </a:solidFill>
                <a:latin typeface="Gill Sans"/>
                <a:ea typeface="Gill Sans"/>
                <a:cs typeface="Gill Sans"/>
                <a:sym typeface="Gill Sans"/>
              </a:rPr>
              <a:t>GPT-5.4-mini achieved the highest average score for accuracy, safety, completeness, and overall quality.</a:t>
            </a:r>
            <a:endParaRPr/>
          </a:p>
          <a:p>
            <a:pPr indent="-171450" lvl="0" marL="171450" marR="0" rtl="0" algn="l">
              <a:spcBef>
                <a:spcPts val="0"/>
              </a:spcBef>
              <a:spcAft>
                <a:spcPts val="0"/>
              </a:spcAft>
              <a:buClr>
                <a:srgbClr val="1F2937"/>
              </a:buClr>
              <a:buSzPts val="1200"/>
              <a:buFont typeface="Arial"/>
              <a:buChar char="•"/>
            </a:pPr>
            <a:r>
              <a:rPr lang="en-US" sz="1200">
                <a:solidFill>
                  <a:srgbClr val="1F2937"/>
                </a:solidFill>
                <a:latin typeface="Gill Sans"/>
                <a:ea typeface="Gill Sans"/>
                <a:cs typeface="Gill Sans"/>
                <a:sym typeface="Gill Sans"/>
              </a:rPr>
              <a:t>Human ratings were generally more consistent across distributions, especially when judging reliability-sensitive criteria.</a:t>
            </a:r>
            <a:endParaRPr/>
          </a:p>
          <a:p>
            <a:pPr indent="-171450" lvl="0" marL="171450" marR="0" rtl="0" algn="l">
              <a:spcBef>
                <a:spcPts val="0"/>
              </a:spcBef>
              <a:spcAft>
                <a:spcPts val="0"/>
              </a:spcAft>
              <a:buClr>
                <a:srgbClr val="1F2937"/>
              </a:buClr>
              <a:buSzPts val="1200"/>
              <a:buFont typeface="Arial"/>
              <a:buChar char="•"/>
            </a:pPr>
            <a:r>
              <a:rPr lang="en-US" sz="1200">
                <a:solidFill>
                  <a:srgbClr val="1F2937"/>
                </a:solidFill>
                <a:latin typeface="Gill Sans"/>
                <a:ea typeface="Gill Sans"/>
                <a:cs typeface="Gill Sans"/>
                <a:sym typeface="Gill Sans"/>
              </a:rPr>
              <a:t>The top model also had empty responses and substantially higher reasoning-token usage.</a:t>
            </a:r>
            <a:endParaRPr sz="1200">
              <a:solidFill>
                <a:schemeClr val="dk1"/>
              </a:solidFill>
              <a:latin typeface="Gill Sans"/>
              <a:ea typeface="Gill Sans"/>
              <a:cs typeface="Gill Sans"/>
              <a:sym typeface="Gill Sans"/>
            </a:endParaRPr>
          </a:p>
          <a:p>
            <a:pPr indent="-95250" lvl="0" marL="171450" marR="0" rtl="0" algn="l">
              <a:spcBef>
                <a:spcPts val="0"/>
              </a:spcBef>
              <a:spcAft>
                <a:spcPts val="0"/>
              </a:spcAft>
              <a:buClr>
                <a:schemeClr val="dk1"/>
              </a:buClr>
              <a:buSzPts val="1200"/>
              <a:buFont typeface="Arial"/>
              <a:buNone/>
            </a:pPr>
            <a:r>
              <a:t/>
            </a:r>
            <a:endParaRPr sz="1200">
              <a:solidFill>
                <a:schemeClr val="dk1"/>
              </a:solidFill>
              <a:latin typeface="Gill Sans"/>
              <a:ea typeface="Gill Sans"/>
              <a:cs typeface="Gill Sans"/>
              <a:sym typeface="Gill Sans"/>
            </a:endParaRPr>
          </a:p>
          <a:p>
            <a:pPr indent="0" lvl="0" marL="0" marR="0" rtl="0" algn="l">
              <a:spcBef>
                <a:spcPts val="0"/>
              </a:spcBef>
              <a:spcAft>
                <a:spcPts val="0"/>
              </a:spcAft>
              <a:buNone/>
            </a:pPr>
            <a:r>
              <a:t/>
            </a:r>
            <a:endParaRPr sz="1200">
              <a:solidFill>
                <a:schemeClr val="dk1"/>
              </a:solidFill>
              <a:latin typeface="Gill Sans"/>
              <a:ea typeface="Gill Sans"/>
              <a:cs typeface="Gill Sans"/>
              <a:sym typeface="Gill Sans"/>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04" name="Google Shape;404;p32"/>
          <p:cNvSpPr/>
          <p:nvPr/>
        </p:nvSpPr>
        <p:spPr>
          <a:xfrm>
            <a:off x="502920" y="6592824"/>
            <a:ext cx="50292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8291"/>
              </a:buClr>
              <a:buSzPts val="750"/>
              <a:buFont typeface="Gill Sans"/>
              <a:buNone/>
            </a:pPr>
            <a:r>
              <a:rPr lang="en-US" sz="750">
                <a:solidFill>
                  <a:srgbClr val="7A8291"/>
                </a:solidFill>
                <a:latin typeface="Gill Sans"/>
                <a:ea typeface="Gill Sans"/>
                <a:cs typeface="Gill Sans"/>
                <a:sym typeface="Gill Sans"/>
              </a:rPr>
              <a:t>Life Insurance AI Advice Benchmark</a:t>
            </a:r>
            <a:endParaRPr sz="750">
              <a:solidFill>
                <a:schemeClr val="dk1"/>
              </a:solidFill>
              <a:latin typeface="Gill Sans"/>
              <a:ea typeface="Gill Sans"/>
              <a:cs typeface="Gill Sans"/>
              <a:sym typeface="Gill Sans"/>
            </a:endParaRPr>
          </a:p>
        </p:txBody>
      </p:sp>
      <p:sp>
        <p:nvSpPr>
          <p:cNvPr id="405" name="Google Shape;405;p32"/>
          <p:cNvSpPr txBox="1"/>
          <p:nvPr>
            <p:ph idx="4294967295" type="sldNum"/>
          </p:nvPr>
        </p:nvSpPr>
        <p:spPr>
          <a:xfrm>
            <a:off x="11612880" y="6601968"/>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6B7280"/>
                </a:solidFill>
                <a:latin typeface="Arial"/>
                <a:ea typeface="Arial"/>
                <a:cs typeface="Arial"/>
                <a:sym typeface="Arial"/>
              </a:rPr>
              <a:t>‹#›</a:t>
            </a:fld>
            <a:endParaRPr sz="800">
              <a:solidFill>
                <a:srgbClr val="6B7280"/>
              </a:solidFill>
              <a:latin typeface="Arial"/>
              <a:ea typeface="Arial"/>
              <a:cs typeface="Arial"/>
              <a:sym typeface="Arial"/>
            </a:endParaRPr>
          </a:p>
        </p:txBody>
      </p:sp>
      <p:pic>
        <p:nvPicPr>
          <p:cNvPr id="406" name="Google Shape;406;p32"/>
          <p:cNvPicPr preferRelativeResize="0"/>
          <p:nvPr/>
        </p:nvPicPr>
        <p:blipFill rotWithShape="1">
          <a:blip r:embed="rId3">
            <a:alphaModFix/>
          </a:blip>
          <a:srcRect b="0" l="0" r="0" t="0"/>
          <a:stretch/>
        </p:blipFill>
        <p:spPr>
          <a:xfrm>
            <a:off x="442976" y="1293877"/>
            <a:ext cx="5653024" cy="3406290"/>
          </a:xfrm>
          <a:prstGeom prst="rect">
            <a:avLst/>
          </a:prstGeom>
          <a:noFill/>
          <a:ln>
            <a:noFill/>
          </a:ln>
        </p:spPr>
      </p:pic>
      <p:pic>
        <p:nvPicPr>
          <p:cNvPr id="407" name="Google Shape;407;p32"/>
          <p:cNvPicPr preferRelativeResize="0"/>
          <p:nvPr/>
        </p:nvPicPr>
        <p:blipFill rotWithShape="1">
          <a:blip r:embed="rId4">
            <a:alphaModFix/>
          </a:blip>
          <a:srcRect b="0" l="0" r="0" t="0"/>
          <a:stretch/>
        </p:blipFill>
        <p:spPr>
          <a:xfrm>
            <a:off x="6515100" y="1225296"/>
            <a:ext cx="5227320" cy="349773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3"/>
          <p:cNvSpPr/>
          <p:nvPr/>
        </p:nvSpPr>
        <p:spPr>
          <a:xfrm>
            <a:off x="502920" y="292608"/>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006A"/>
              </a:buClr>
              <a:buSzPts val="2800"/>
              <a:buFont typeface="Play"/>
              <a:buNone/>
            </a:pPr>
            <a:r>
              <a:rPr b="1" lang="en-US" sz="2800">
                <a:solidFill>
                  <a:srgbClr val="07006A"/>
                </a:solidFill>
                <a:latin typeface="Times New Roman"/>
                <a:ea typeface="Times New Roman"/>
                <a:cs typeface="Times New Roman"/>
                <a:sym typeface="Times New Roman"/>
              </a:rPr>
              <a:t>Conclusions and future work</a:t>
            </a:r>
            <a:endParaRPr sz="2800">
              <a:solidFill>
                <a:schemeClr val="dk1"/>
              </a:solidFill>
              <a:latin typeface="Times New Roman"/>
              <a:ea typeface="Times New Roman"/>
              <a:cs typeface="Times New Roman"/>
              <a:sym typeface="Times New Roman"/>
            </a:endParaRPr>
          </a:p>
        </p:txBody>
      </p:sp>
      <p:sp>
        <p:nvSpPr>
          <p:cNvPr id="414" name="Google Shape;414;p33"/>
          <p:cNvSpPr/>
          <p:nvPr/>
        </p:nvSpPr>
        <p:spPr>
          <a:xfrm>
            <a:off x="512064" y="832104"/>
            <a:ext cx="1051560" cy="64008"/>
          </a:xfrm>
          <a:prstGeom prst="rect">
            <a:avLst/>
          </a:prstGeom>
          <a:solidFill>
            <a:srgbClr val="F15A24"/>
          </a:solidFill>
          <a:ln cap="flat" cmpd="sng" w="12700">
            <a:solidFill>
              <a:srgbClr val="F15A2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15" name="Google Shape;415;p33"/>
          <p:cNvSpPr/>
          <p:nvPr/>
        </p:nvSpPr>
        <p:spPr>
          <a:xfrm>
            <a:off x="502920" y="941832"/>
            <a:ext cx="987552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5"/>
              </a:buClr>
              <a:buSzPts val="1350"/>
              <a:buFont typeface="Gill Sans"/>
              <a:buNone/>
            </a:pPr>
            <a:r>
              <a:rPr lang="en-US" sz="1350">
                <a:solidFill>
                  <a:srgbClr val="5B6575"/>
                </a:solidFill>
                <a:latin typeface="Gill Sans"/>
                <a:ea typeface="Gill Sans"/>
                <a:cs typeface="Gill Sans"/>
                <a:sym typeface="Gill Sans"/>
              </a:rPr>
              <a:t>The benchmark highlights model differences, the value of human validation, and next steps for safer evaluation.</a:t>
            </a:r>
            <a:endParaRPr sz="1350">
              <a:solidFill>
                <a:schemeClr val="dk1"/>
              </a:solidFill>
              <a:latin typeface="Gill Sans"/>
              <a:ea typeface="Gill Sans"/>
              <a:cs typeface="Gill Sans"/>
              <a:sym typeface="Gill Sans"/>
            </a:endParaRPr>
          </a:p>
        </p:txBody>
      </p:sp>
      <p:sp>
        <p:nvSpPr>
          <p:cNvPr id="416" name="Google Shape;416;p33"/>
          <p:cNvSpPr/>
          <p:nvPr/>
        </p:nvSpPr>
        <p:spPr>
          <a:xfrm>
            <a:off x="749808" y="1417320"/>
            <a:ext cx="4206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006A"/>
              </a:buClr>
              <a:buSzPts val="2400"/>
              <a:buFont typeface="Gill Sans"/>
              <a:buNone/>
            </a:pPr>
            <a:r>
              <a:rPr b="1" lang="en-US" sz="2400">
                <a:solidFill>
                  <a:srgbClr val="07006A"/>
                </a:solidFill>
                <a:latin typeface="Gill Sans"/>
                <a:ea typeface="Gill Sans"/>
                <a:cs typeface="Gill Sans"/>
                <a:sym typeface="Gill Sans"/>
              </a:rPr>
              <a:t>Main conclusions</a:t>
            </a:r>
            <a:endParaRPr sz="2400">
              <a:solidFill>
                <a:schemeClr val="dk1"/>
              </a:solidFill>
              <a:latin typeface="Gill Sans"/>
              <a:ea typeface="Gill Sans"/>
              <a:cs typeface="Gill Sans"/>
              <a:sym typeface="Gill Sans"/>
            </a:endParaRPr>
          </a:p>
        </p:txBody>
      </p:sp>
      <p:sp>
        <p:nvSpPr>
          <p:cNvPr id="417" name="Google Shape;417;p33"/>
          <p:cNvSpPr/>
          <p:nvPr/>
        </p:nvSpPr>
        <p:spPr>
          <a:xfrm>
            <a:off x="822960" y="1901952"/>
            <a:ext cx="5212080" cy="2514600"/>
          </a:xfrm>
          <a:prstGeom prst="rect">
            <a:avLst/>
          </a:prstGeom>
          <a:noFill/>
          <a:ln>
            <a:noFill/>
          </a:ln>
        </p:spPr>
        <p:txBody>
          <a:bodyPr anchorCtr="0" anchor="ctr" bIns="500" lIns="500" spcFirstLastPara="1" rIns="500" wrap="square" tIns="500">
            <a:noAutofit/>
          </a:bodyPr>
          <a:lstStyle/>
          <a:p>
            <a:pPr indent="-285750" lvl="0" marL="285750" marR="0" rtl="0" algn="l">
              <a:spcBef>
                <a:spcPts val="0"/>
              </a:spcBef>
              <a:spcAft>
                <a:spcPts val="0"/>
              </a:spcAft>
              <a:buClr>
                <a:srgbClr val="1F2937"/>
              </a:buClr>
              <a:buSzPts val="1720"/>
              <a:buFont typeface="Arial"/>
              <a:buChar char="•"/>
            </a:pPr>
            <a:r>
              <a:rPr lang="en-US" sz="1720">
                <a:solidFill>
                  <a:srgbClr val="1F2937"/>
                </a:solidFill>
                <a:latin typeface="Gill Sans"/>
                <a:ea typeface="Gill Sans"/>
                <a:cs typeface="Gill Sans"/>
                <a:sym typeface="Gill Sans"/>
              </a:rPr>
              <a:t>Different models showed different scoring patterns across the five evaluation criteria.</a:t>
            </a:r>
            <a:endParaRPr sz="1720">
              <a:solidFill>
                <a:schemeClr val="dk1"/>
              </a:solidFill>
              <a:latin typeface="Gill Sans"/>
              <a:ea typeface="Gill Sans"/>
              <a:cs typeface="Gill Sans"/>
              <a:sym typeface="Gill Sans"/>
            </a:endParaRPr>
          </a:p>
          <a:p>
            <a:pPr indent="-285750" lvl="0" marL="285750" marR="0" rtl="0" algn="l">
              <a:spcBef>
                <a:spcPts val="0"/>
              </a:spcBef>
              <a:spcAft>
                <a:spcPts val="0"/>
              </a:spcAft>
              <a:buClr>
                <a:srgbClr val="1F2937"/>
              </a:buClr>
              <a:buSzPts val="1720"/>
              <a:buFont typeface="Arial"/>
              <a:buChar char="•"/>
            </a:pPr>
            <a:r>
              <a:rPr lang="en-US" sz="1720">
                <a:solidFill>
                  <a:srgbClr val="1F2937"/>
                </a:solidFill>
                <a:latin typeface="Gill Sans"/>
                <a:ea typeface="Gill Sans"/>
                <a:cs typeface="Gill Sans"/>
                <a:sym typeface="Gill Sans"/>
              </a:rPr>
              <a:t>Human evaluation remained important for validating AI-generated life insurance advice.</a:t>
            </a:r>
            <a:endParaRPr sz="1720">
              <a:solidFill>
                <a:schemeClr val="dk1"/>
              </a:solidFill>
              <a:latin typeface="Gill Sans"/>
              <a:ea typeface="Gill Sans"/>
              <a:cs typeface="Gill Sans"/>
              <a:sym typeface="Gill Sans"/>
            </a:endParaRPr>
          </a:p>
          <a:p>
            <a:pPr indent="-285750" lvl="0" marL="285750" marR="0" rtl="0" algn="l">
              <a:spcBef>
                <a:spcPts val="0"/>
              </a:spcBef>
              <a:spcAft>
                <a:spcPts val="0"/>
              </a:spcAft>
              <a:buClr>
                <a:srgbClr val="1F2937"/>
              </a:buClr>
              <a:buSzPts val="1720"/>
              <a:buFont typeface="Arial"/>
              <a:buChar char="•"/>
            </a:pPr>
            <a:r>
              <a:rPr lang="en-US" sz="1720">
                <a:solidFill>
                  <a:srgbClr val="1F2937"/>
                </a:solidFill>
                <a:latin typeface="Gill Sans"/>
                <a:ea typeface="Gill Sans"/>
                <a:cs typeface="Gill Sans"/>
                <a:sym typeface="Gill Sans"/>
              </a:rPr>
              <a:t>GPT-5.4-mini had the highest overall performance, but also more reasoning-token usage and empty responses.</a:t>
            </a:r>
            <a:endParaRPr sz="1720">
              <a:solidFill>
                <a:schemeClr val="dk1"/>
              </a:solidFill>
              <a:latin typeface="Gill Sans"/>
              <a:ea typeface="Gill Sans"/>
              <a:cs typeface="Gill Sans"/>
              <a:sym typeface="Gill Sans"/>
            </a:endParaRPr>
          </a:p>
          <a:p>
            <a:pPr indent="-285750" lvl="0" marL="285750" marR="0" rtl="0" algn="l">
              <a:spcBef>
                <a:spcPts val="0"/>
              </a:spcBef>
              <a:spcAft>
                <a:spcPts val="0"/>
              </a:spcAft>
              <a:buClr>
                <a:srgbClr val="1F2937"/>
              </a:buClr>
              <a:buSzPts val="1720"/>
              <a:buFont typeface="Arial"/>
              <a:buChar char="•"/>
            </a:pPr>
            <a:r>
              <a:rPr lang="en-US" sz="1720">
                <a:solidFill>
                  <a:srgbClr val="1F2937"/>
                </a:solidFill>
                <a:latin typeface="Gill Sans"/>
                <a:ea typeface="Gill Sans"/>
                <a:cs typeface="Gill Sans"/>
                <a:sym typeface="Gill Sans"/>
              </a:rPr>
              <a:t>Higher reasoning cost did not necessarily lead to more reliable results.</a:t>
            </a:r>
            <a:endParaRPr sz="1720">
              <a:solidFill>
                <a:schemeClr val="dk1"/>
              </a:solidFill>
              <a:latin typeface="Gill Sans"/>
              <a:ea typeface="Gill Sans"/>
              <a:cs typeface="Gill Sans"/>
              <a:sym typeface="Gill Sans"/>
            </a:endParaRPr>
          </a:p>
        </p:txBody>
      </p:sp>
      <p:sp>
        <p:nvSpPr>
          <p:cNvPr id="418" name="Google Shape;418;p33"/>
          <p:cNvSpPr/>
          <p:nvPr/>
        </p:nvSpPr>
        <p:spPr>
          <a:xfrm>
            <a:off x="6537960" y="1417320"/>
            <a:ext cx="4206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5A24"/>
              </a:buClr>
              <a:buSzPts val="2400"/>
              <a:buFont typeface="Gill Sans"/>
              <a:buNone/>
            </a:pPr>
            <a:r>
              <a:rPr b="1" lang="en-US" sz="2400">
                <a:solidFill>
                  <a:srgbClr val="F15A24"/>
                </a:solidFill>
                <a:latin typeface="Gill Sans"/>
                <a:ea typeface="Gill Sans"/>
                <a:cs typeface="Gill Sans"/>
                <a:sym typeface="Gill Sans"/>
              </a:rPr>
              <a:t>Future work</a:t>
            </a:r>
            <a:endParaRPr sz="2400">
              <a:solidFill>
                <a:schemeClr val="dk1"/>
              </a:solidFill>
              <a:latin typeface="Gill Sans"/>
              <a:ea typeface="Gill Sans"/>
              <a:cs typeface="Gill Sans"/>
              <a:sym typeface="Gill Sans"/>
            </a:endParaRPr>
          </a:p>
        </p:txBody>
      </p:sp>
      <p:sp>
        <p:nvSpPr>
          <p:cNvPr id="419" name="Google Shape;419;p33"/>
          <p:cNvSpPr/>
          <p:nvPr/>
        </p:nvSpPr>
        <p:spPr>
          <a:xfrm>
            <a:off x="6611112" y="1901952"/>
            <a:ext cx="4434840" cy="2084832"/>
          </a:xfrm>
          <a:prstGeom prst="rect">
            <a:avLst/>
          </a:prstGeom>
          <a:noFill/>
          <a:ln>
            <a:noFill/>
          </a:ln>
        </p:spPr>
        <p:txBody>
          <a:bodyPr anchorCtr="0" anchor="ctr" bIns="500" lIns="500" spcFirstLastPara="1" rIns="500" wrap="square" tIns="500">
            <a:noAutofit/>
          </a:bodyPr>
          <a:lstStyle/>
          <a:p>
            <a:pPr indent="-285750" lvl="0" marL="285750" marR="0" rtl="0" algn="l">
              <a:spcBef>
                <a:spcPts val="0"/>
              </a:spcBef>
              <a:spcAft>
                <a:spcPts val="0"/>
              </a:spcAft>
              <a:buClr>
                <a:srgbClr val="1F2937"/>
              </a:buClr>
              <a:buSzPts val="1720"/>
              <a:buFont typeface="Arial"/>
              <a:buChar char="•"/>
            </a:pPr>
            <a:r>
              <a:rPr lang="en-US" sz="1720">
                <a:solidFill>
                  <a:srgbClr val="1F2937"/>
                </a:solidFill>
                <a:latin typeface="Gill Sans"/>
                <a:ea typeface="Gill Sans"/>
                <a:cs typeface="Gill Sans"/>
                <a:sym typeface="Gill Sans"/>
              </a:rPr>
              <a:t>Expand the benchmark with more diverse life insurance questions.</a:t>
            </a:r>
            <a:endParaRPr sz="1720">
              <a:solidFill>
                <a:schemeClr val="dk1"/>
              </a:solidFill>
              <a:latin typeface="Gill Sans"/>
              <a:ea typeface="Gill Sans"/>
              <a:cs typeface="Gill Sans"/>
              <a:sym typeface="Gill Sans"/>
            </a:endParaRPr>
          </a:p>
          <a:p>
            <a:pPr indent="-285750" lvl="0" marL="285750" marR="0" rtl="0" algn="l">
              <a:spcBef>
                <a:spcPts val="0"/>
              </a:spcBef>
              <a:spcAft>
                <a:spcPts val="0"/>
              </a:spcAft>
              <a:buClr>
                <a:srgbClr val="1F2937"/>
              </a:buClr>
              <a:buSzPts val="1720"/>
              <a:buFont typeface="Arial"/>
              <a:buChar char="•"/>
            </a:pPr>
            <a:r>
              <a:rPr lang="en-US" sz="1720">
                <a:solidFill>
                  <a:srgbClr val="1F2937"/>
                </a:solidFill>
                <a:latin typeface="Gill Sans"/>
                <a:ea typeface="Gill Sans"/>
                <a:cs typeface="Gill Sans"/>
                <a:sym typeface="Gill Sans"/>
              </a:rPr>
              <a:t>Add additional insurance providers.</a:t>
            </a:r>
            <a:endParaRPr sz="1720">
              <a:solidFill>
                <a:schemeClr val="dk1"/>
              </a:solidFill>
              <a:latin typeface="Gill Sans"/>
              <a:ea typeface="Gill Sans"/>
              <a:cs typeface="Gill Sans"/>
              <a:sym typeface="Gill Sans"/>
            </a:endParaRPr>
          </a:p>
          <a:p>
            <a:pPr indent="-285750" lvl="0" marL="285750" marR="0" rtl="0" algn="l">
              <a:spcBef>
                <a:spcPts val="0"/>
              </a:spcBef>
              <a:spcAft>
                <a:spcPts val="0"/>
              </a:spcAft>
              <a:buClr>
                <a:srgbClr val="1F2937"/>
              </a:buClr>
              <a:buSzPts val="1720"/>
              <a:buFont typeface="Arial"/>
              <a:buChar char="•"/>
            </a:pPr>
            <a:r>
              <a:rPr lang="en-US" sz="1720">
                <a:solidFill>
                  <a:srgbClr val="1F2937"/>
                </a:solidFill>
                <a:latin typeface="Gill Sans"/>
                <a:ea typeface="Gill Sans"/>
                <a:cs typeface="Gill Sans"/>
                <a:sym typeface="Gill Sans"/>
              </a:rPr>
              <a:t>Evaluate newer LLMs.</a:t>
            </a:r>
            <a:endParaRPr sz="1720">
              <a:solidFill>
                <a:schemeClr val="dk1"/>
              </a:solidFill>
              <a:latin typeface="Gill Sans"/>
              <a:ea typeface="Gill Sans"/>
              <a:cs typeface="Gill Sans"/>
              <a:sym typeface="Gill Sans"/>
            </a:endParaRPr>
          </a:p>
          <a:p>
            <a:pPr indent="-285750" lvl="0" marL="285750" marR="0" rtl="0" algn="l">
              <a:spcBef>
                <a:spcPts val="0"/>
              </a:spcBef>
              <a:spcAft>
                <a:spcPts val="0"/>
              </a:spcAft>
              <a:buClr>
                <a:srgbClr val="1F2937"/>
              </a:buClr>
              <a:buSzPts val="1720"/>
              <a:buFont typeface="Arial"/>
              <a:buChar char="•"/>
            </a:pPr>
            <a:r>
              <a:rPr lang="en-US" sz="1720">
                <a:solidFill>
                  <a:srgbClr val="1F2937"/>
                </a:solidFill>
                <a:latin typeface="Gill Sans"/>
                <a:ea typeface="Gill Sans"/>
                <a:cs typeface="Gill Sans"/>
                <a:sym typeface="Gill Sans"/>
              </a:rPr>
              <a:t>Explore methods to improve agreement between automated and human evaluation.</a:t>
            </a:r>
            <a:endParaRPr sz="1720">
              <a:solidFill>
                <a:schemeClr val="dk1"/>
              </a:solidFill>
              <a:latin typeface="Gill Sans"/>
              <a:ea typeface="Gill Sans"/>
              <a:cs typeface="Gill Sans"/>
              <a:sym typeface="Gill Sans"/>
            </a:endParaRPr>
          </a:p>
        </p:txBody>
      </p:sp>
      <p:sp>
        <p:nvSpPr>
          <p:cNvPr id="420" name="Google Shape;420;p33"/>
          <p:cNvSpPr/>
          <p:nvPr/>
        </p:nvSpPr>
        <p:spPr>
          <a:xfrm>
            <a:off x="1828800" y="5074920"/>
            <a:ext cx="8458200" cy="676656"/>
          </a:xfrm>
          <a:prstGeom prst="roundRect">
            <a:avLst>
              <a:gd fmla="val 21622" name="adj"/>
            </a:avLst>
          </a:prstGeom>
          <a:solidFill>
            <a:srgbClr val="07006A"/>
          </a:solidFill>
          <a:ln cap="flat" cmpd="sng" w="12700">
            <a:solidFill>
              <a:srgbClr val="07006A">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21" name="Google Shape;421;p33"/>
          <p:cNvSpPr/>
          <p:nvPr/>
        </p:nvSpPr>
        <p:spPr>
          <a:xfrm>
            <a:off x="2075688" y="5285232"/>
            <a:ext cx="7955280" cy="228600"/>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Clr>
                <a:srgbClr val="FFFFFF"/>
              </a:buClr>
              <a:buSzPts val="1176"/>
              <a:buFont typeface="Gill Sans"/>
              <a:buNone/>
            </a:pPr>
            <a:r>
              <a:rPr b="1" lang="en-US" sz="1176">
                <a:solidFill>
                  <a:srgbClr val="FFFFFF"/>
                </a:solidFill>
                <a:latin typeface="Gill Sans"/>
                <a:ea typeface="Gill Sans"/>
                <a:cs typeface="Gill Sans"/>
                <a:sym typeface="Gill Sans"/>
              </a:rPr>
              <a:t>Core takeaway: use LLM judges as accelerators, not replacements, for human validation in high-stakes advice.</a:t>
            </a:r>
            <a:endParaRPr sz="1176">
              <a:solidFill>
                <a:schemeClr val="dk1"/>
              </a:solidFill>
              <a:latin typeface="Gill Sans"/>
              <a:ea typeface="Gill Sans"/>
              <a:cs typeface="Gill Sans"/>
              <a:sym typeface="Gill Sans"/>
            </a:endParaRPr>
          </a:p>
        </p:txBody>
      </p:sp>
      <p:sp>
        <p:nvSpPr>
          <p:cNvPr id="422" name="Google Shape;422;p33"/>
          <p:cNvSpPr/>
          <p:nvPr/>
        </p:nvSpPr>
        <p:spPr>
          <a:xfrm>
            <a:off x="502920" y="6592824"/>
            <a:ext cx="50292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8291"/>
              </a:buClr>
              <a:buSzPts val="750"/>
              <a:buFont typeface="Gill Sans"/>
              <a:buNone/>
            </a:pPr>
            <a:r>
              <a:rPr lang="en-US" sz="750">
                <a:solidFill>
                  <a:srgbClr val="7A8291"/>
                </a:solidFill>
                <a:latin typeface="Gill Sans"/>
                <a:ea typeface="Gill Sans"/>
                <a:cs typeface="Gill Sans"/>
                <a:sym typeface="Gill Sans"/>
              </a:rPr>
              <a:t>Life Insurance AI Advice Benchmark</a:t>
            </a:r>
            <a:endParaRPr sz="750">
              <a:solidFill>
                <a:schemeClr val="dk1"/>
              </a:solidFill>
              <a:latin typeface="Gill Sans"/>
              <a:ea typeface="Gill Sans"/>
              <a:cs typeface="Gill Sans"/>
              <a:sym typeface="Gill Sans"/>
            </a:endParaRPr>
          </a:p>
        </p:txBody>
      </p:sp>
      <p:sp>
        <p:nvSpPr>
          <p:cNvPr id="423" name="Google Shape;423;p33"/>
          <p:cNvSpPr txBox="1"/>
          <p:nvPr>
            <p:ph idx="4294967295" type="sldNum"/>
          </p:nvPr>
        </p:nvSpPr>
        <p:spPr>
          <a:xfrm>
            <a:off x="11612880" y="6601968"/>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6B7280"/>
                </a:solidFill>
                <a:latin typeface="Arial"/>
                <a:ea typeface="Arial"/>
                <a:cs typeface="Arial"/>
                <a:sym typeface="Arial"/>
              </a:rPr>
              <a:t>‹#›</a:t>
            </a:fld>
            <a:endParaRPr sz="800">
              <a:solidFill>
                <a:srgbClr val="6B728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34"/>
          <p:cNvSpPr/>
          <p:nvPr/>
        </p:nvSpPr>
        <p:spPr>
          <a:xfrm>
            <a:off x="502920" y="292608"/>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006A"/>
              </a:buClr>
              <a:buSzPts val="2800"/>
              <a:buFont typeface="Play"/>
              <a:buNone/>
            </a:pPr>
            <a:r>
              <a:rPr b="1" lang="en-US" sz="2800">
                <a:solidFill>
                  <a:srgbClr val="07006A"/>
                </a:solidFill>
                <a:latin typeface="Times New Roman"/>
                <a:ea typeface="Times New Roman"/>
                <a:cs typeface="Times New Roman"/>
                <a:sym typeface="Times New Roman"/>
              </a:rPr>
              <a:t>References and source poster</a:t>
            </a:r>
            <a:endParaRPr sz="2800">
              <a:solidFill>
                <a:schemeClr val="dk1"/>
              </a:solidFill>
              <a:latin typeface="Times New Roman"/>
              <a:ea typeface="Times New Roman"/>
              <a:cs typeface="Times New Roman"/>
              <a:sym typeface="Times New Roman"/>
            </a:endParaRPr>
          </a:p>
        </p:txBody>
      </p:sp>
      <p:sp>
        <p:nvSpPr>
          <p:cNvPr id="430" name="Google Shape;430;p34"/>
          <p:cNvSpPr/>
          <p:nvPr/>
        </p:nvSpPr>
        <p:spPr>
          <a:xfrm>
            <a:off x="512064" y="832104"/>
            <a:ext cx="1051560" cy="64008"/>
          </a:xfrm>
          <a:prstGeom prst="rect">
            <a:avLst/>
          </a:prstGeom>
          <a:solidFill>
            <a:srgbClr val="F15A24"/>
          </a:solidFill>
          <a:ln cap="flat" cmpd="sng" w="12700">
            <a:solidFill>
              <a:srgbClr val="F15A2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31" name="Google Shape;431;p34"/>
          <p:cNvSpPr/>
          <p:nvPr/>
        </p:nvSpPr>
        <p:spPr>
          <a:xfrm>
            <a:off x="502920" y="941832"/>
            <a:ext cx="987552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5"/>
              </a:buClr>
              <a:buSzPts val="1350"/>
              <a:buFont typeface="Gill Sans"/>
              <a:buNone/>
            </a:pPr>
            <a:r>
              <a:rPr lang="en-US" sz="1350">
                <a:solidFill>
                  <a:srgbClr val="5B6575"/>
                </a:solidFill>
                <a:latin typeface="Gill Sans"/>
                <a:ea typeface="Gill Sans"/>
                <a:cs typeface="Gill Sans"/>
                <a:sym typeface="Gill Sans"/>
              </a:rPr>
              <a:t>Reference list and poster source retained from the original one-page research poster.</a:t>
            </a:r>
            <a:endParaRPr sz="1350">
              <a:solidFill>
                <a:schemeClr val="dk1"/>
              </a:solidFill>
              <a:latin typeface="Gill Sans"/>
              <a:ea typeface="Gill Sans"/>
              <a:cs typeface="Gill Sans"/>
              <a:sym typeface="Gill Sans"/>
            </a:endParaRPr>
          </a:p>
        </p:txBody>
      </p:sp>
      <p:sp>
        <p:nvSpPr>
          <p:cNvPr id="432" name="Google Shape;432;p34"/>
          <p:cNvSpPr/>
          <p:nvPr/>
        </p:nvSpPr>
        <p:spPr>
          <a:xfrm>
            <a:off x="685800" y="1353312"/>
            <a:ext cx="3840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006A"/>
              </a:buClr>
              <a:buSzPts val="2000"/>
              <a:buFont typeface="Gill Sans"/>
              <a:buNone/>
            </a:pPr>
            <a:r>
              <a:rPr b="1" lang="en-US" sz="2000">
                <a:solidFill>
                  <a:srgbClr val="07006A"/>
                </a:solidFill>
                <a:latin typeface="Gill Sans"/>
                <a:ea typeface="Gill Sans"/>
                <a:cs typeface="Gill Sans"/>
                <a:sym typeface="Gill Sans"/>
              </a:rPr>
              <a:t>Selected references from poster</a:t>
            </a:r>
            <a:endParaRPr sz="2000">
              <a:solidFill>
                <a:schemeClr val="dk1"/>
              </a:solidFill>
              <a:latin typeface="Gill Sans"/>
              <a:ea typeface="Gill Sans"/>
              <a:cs typeface="Gill Sans"/>
              <a:sym typeface="Gill Sans"/>
            </a:endParaRPr>
          </a:p>
        </p:txBody>
      </p:sp>
      <p:sp>
        <p:nvSpPr>
          <p:cNvPr id="433" name="Google Shape;433;p34"/>
          <p:cNvSpPr/>
          <p:nvPr/>
        </p:nvSpPr>
        <p:spPr>
          <a:xfrm>
            <a:off x="685800" y="1755648"/>
            <a:ext cx="5166360" cy="3154680"/>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1F2937"/>
              </a:buClr>
              <a:buSzPts val="1350"/>
              <a:buFont typeface="Gill Sans"/>
              <a:buNone/>
            </a:pPr>
            <a:r>
              <a:rPr lang="en-US" sz="1350">
                <a:solidFill>
                  <a:srgbClr val="1F2937"/>
                </a:solidFill>
                <a:latin typeface="Gill Sans"/>
                <a:ea typeface="Gill Sans"/>
                <a:cs typeface="Gill Sans"/>
                <a:sym typeface="Gill Sans"/>
              </a:rPr>
              <a:t>[1] Lakkaraju et al. LLMs for Financial Advisement: A Fairness and Efficacy Study in Personal Decision Making. AIFin, 2023.</a:t>
            </a:r>
            <a:endParaRPr sz="1350">
              <a:solidFill>
                <a:schemeClr val="dk1"/>
              </a:solidFill>
              <a:latin typeface="Gill Sans"/>
              <a:ea typeface="Gill Sans"/>
              <a:cs typeface="Gill Sans"/>
              <a:sym typeface="Gill Sans"/>
            </a:endParaRPr>
          </a:p>
          <a:p>
            <a:pPr indent="0" lvl="0" marL="0" marR="0" rtl="0" algn="l">
              <a:spcBef>
                <a:spcPts val="0"/>
              </a:spcBef>
              <a:spcAft>
                <a:spcPts val="0"/>
              </a:spcAft>
              <a:buClr>
                <a:schemeClr val="dk1"/>
              </a:buClr>
              <a:buSzPts val="1350"/>
              <a:buFont typeface="Gill Sans"/>
              <a:buNone/>
            </a:pPr>
            <a:r>
              <a:t/>
            </a:r>
            <a:endParaRPr sz="1350">
              <a:solidFill>
                <a:schemeClr val="dk1"/>
              </a:solidFill>
              <a:latin typeface="Gill Sans"/>
              <a:ea typeface="Gill Sans"/>
              <a:cs typeface="Gill Sans"/>
              <a:sym typeface="Gill Sans"/>
            </a:endParaRPr>
          </a:p>
          <a:p>
            <a:pPr indent="0" lvl="0" marL="0" marR="0" rtl="0" algn="l">
              <a:spcBef>
                <a:spcPts val="0"/>
              </a:spcBef>
              <a:spcAft>
                <a:spcPts val="0"/>
              </a:spcAft>
              <a:buClr>
                <a:srgbClr val="1F2937"/>
              </a:buClr>
              <a:buSzPts val="1350"/>
              <a:buFont typeface="Gill Sans"/>
              <a:buNone/>
            </a:pPr>
            <a:r>
              <a:rPr lang="en-US" sz="1350">
                <a:solidFill>
                  <a:srgbClr val="1F2937"/>
                </a:solidFill>
                <a:latin typeface="Gill Sans"/>
                <a:ea typeface="Gill Sans"/>
                <a:cs typeface="Gill Sans"/>
                <a:sym typeface="Gill Sans"/>
              </a:rPr>
              <a:t>[2] Fieberg et al. Using Large Language Models for Financial Advice. CESifo Working Paper No. 11666, 2025.</a:t>
            </a:r>
            <a:endParaRPr sz="1350">
              <a:solidFill>
                <a:schemeClr val="dk1"/>
              </a:solidFill>
              <a:latin typeface="Gill Sans"/>
              <a:ea typeface="Gill Sans"/>
              <a:cs typeface="Gill Sans"/>
              <a:sym typeface="Gill Sans"/>
            </a:endParaRPr>
          </a:p>
          <a:p>
            <a:pPr indent="0" lvl="0" marL="0" marR="0" rtl="0" algn="l">
              <a:spcBef>
                <a:spcPts val="0"/>
              </a:spcBef>
              <a:spcAft>
                <a:spcPts val="0"/>
              </a:spcAft>
              <a:buClr>
                <a:schemeClr val="dk1"/>
              </a:buClr>
              <a:buSzPts val="1350"/>
              <a:buFont typeface="Gill Sans"/>
              <a:buNone/>
            </a:pPr>
            <a:r>
              <a:t/>
            </a:r>
            <a:endParaRPr sz="1350">
              <a:solidFill>
                <a:schemeClr val="dk1"/>
              </a:solidFill>
              <a:latin typeface="Gill Sans"/>
              <a:ea typeface="Gill Sans"/>
              <a:cs typeface="Gill Sans"/>
              <a:sym typeface="Gill Sans"/>
            </a:endParaRPr>
          </a:p>
          <a:p>
            <a:pPr indent="0" lvl="0" marL="0" marR="0" rtl="0" algn="l">
              <a:spcBef>
                <a:spcPts val="0"/>
              </a:spcBef>
              <a:spcAft>
                <a:spcPts val="0"/>
              </a:spcAft>
              <a:buClr>
                <a:srgbClr val="1F2937"/>
              </a:buClr>
              <a:buSzPts val="1350"/>
              <a:buFont typeface="Gill Sans"/>
              <a:buNone/>
            </a:pPr>
            <a:r>
              <a:rPr lang="en-US" sz="1350">
                <a:solidFill>
                  <a:srgbClr val="1F2937"/>
                </a:solidFill>
                <a:latin typeface="Gill Sans"/>
                <a:ea typeface="Gill Sans"/>
                <a:cs typeface="Gill Sans"/>
                <a:sym typeface="Gill Sans"/>
              </a:rPr>
              <a:t>[3] Zheng et al. Judging LLM-as-a-Judge with MT-Bench and Chatbot Arena. NeurIPS, 2023.</a:t>
            </a:r>
            <a:endParaRPr sz="1350">
              <a:solidFill>
                <a:schemeClr val="dk1"/>
              </a:solidFill>
              <a:latin typeface="Gill Sans"/>
              <a:ea typeface="Gill Sans"/>
              <a:cs typeface="Gill Sans"/>
              <a:sym typeface="Gill Sans"/>
            </a:endParaRPr>
          </a:p>
          <a:p>
            <a:pPr indent="0" lvl="0" marL="0" marR="0" rtl="0" algn="l">
              <a:spcBef>
                <a:spcPts val="0"/>
              </a:spcBef>
              <a:spcAft>
                <a:spcPts val="0"/>
              </a:spcAft>
              <a:buClr>
                <a:schemeClr val="dk1"/>
              </a:buClr>
              <a:buSzPts val="1350"/>
              <a:buFont typeface="Gill Sans"/>
              <a:buNone/>
            </a:pPr>
            <a:r>
              <a:t/>
            </a:r>
            <a:endParaRPr sz="1350">
              <a:solidFill>
                <a:schemeClr val="dk1"/>
              </a:solidFill>
              <a:latin typeface="Gill Sans"/>
              <a:ea typeface="Gill Sans"/>
              <a:cs typeface="Gill Sans"/>
              <a:sym typeface="Gill Sans"/>
            </a:endParaRPr>
          </a:p>
          <a:p>
            <a:pPr indent="0" lvl="0" marL="0" marR="0" rtl="0" algn="l">
              <a:spcBef>
                <a:spcPts val="0"/>
              </a:spcBef>
              <a:spcAft>
                <a:spcPts val="0"/>
              </a:spcAft>
              <a:buClr>
                <a:srgbClr val="1F2937"/>
              </a:buClr>
              <a:buSzPts val="1350"/>
              <a:buFont typeface="Gill Sans"/>
              <a:buNone/>
            </a:pPr>
            <a:r>
              <a:rPr lang="en-US" sz="1350">
                <a:solidFill>
                  <a:srgbClr val="1F2937"/>
                </a:solidFill>
                <a:latin typeface="Gill Sans"/>
                <a:ea typeface="Gill Sans"/>
                <a:cs typeface="Gill Sans"/>
                <a:sym typeface="Gill Sans"/>
              </a:rPr>
              <a:t>[4] Pan et al. Human-Centered Design Recommendations for LLM-as-a-judge. HCLLM Workshop, 2024.</a:t>
            </a:r>
            <a:endParaRPr sz="1350">
              <a:solidFill>
                <a:schemeClr val="dk1"/>
              </a:solidFill>
              <a:latin typeface="Gill Sans"/>
              <a:ea typeface="Gill Sans"/>
              <a:cs typeface="Gill Sans"/>
              <a:sym typeface="Gill Sans"/>
            </a:endParaRPr>
          </a:p>
        </p:txBody>
      </p:sp>
      <p:pic>
        <p:nvPicPr>
          <p:cNvPr descr="/mnt/data/ppt_assets/poster_full.png" id="434" name="Google Shape;434;p34"/>
          <p:cNvPicPr preferRelativeResize="0"/>
          <p:nvPr/>
        </p:nvPicPr>
        <p:blipFill rotWithShape="1">
          <a:blip r:embed="rId3">
            <a:alphaModFix/>
          </a:blip>
          <a:srcRect b="0" l="186" r="186" t="0"/>
          <a:stretch/>
        </p:blipFill>
        <p:spPr>
          <a:xfrm>
            <a:off x="6446520" y="1280160"/>
            <a:ext cx="4892040" cy="3273552"/>
          </a:xfrm>
          <a:prstGeom prst="rect">
            <a:avLst/>
          </a:prstGeom>
          <a:noFill/>
          <a:ln>
            <a:noFill/>
          </a:ln>
        </p:spPr>
      </p:pic>
      <p:sp>
        <p:nvSpPr>
          <p:cNvPr id="435" name="Google Shape;435;p34"/>
          <p:cNvSpPr/>
          <p:nvPr/>
        </p:nvSpPr>
        <p:spPr>
          <a:xfrm>
            <a:off x="7132320" y="4681728"/>
            <a:ext cx="347472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575"/>
              </a:buClr>
              <a:buSzPts val="1100"/>
              <a:buFont typeface="Gill Sans"/>
              <a:buNone/>
            </a:pPr>
            <a:r>
              <a:rPr lang="en-US" sz="1100">
                <a:solidFill>
                  <a:srgbClr val="5B6575"/>
                </a:solidFill>
                <a:latin typeface="Gill Sans"/>
                <a:ea typeface="Gill Sans"/>
                <a:cs typeface="Gill Sans"/>
                <a:sym typeface="Gill Sans"/>
              </a:rPr>
              <a:t>Original poster</a:t>
            </a:r>
            <a:endParaRPr sz="1100">
              <a:solidFill>
                <a:schemeClr val="dk1"/>
              </a:solidFill>
              <a:latin typeface="Gill Sans"/>
              <a:ea typeface="Gill Sans"/>
              <a:cs typeface="Gill Sans"/>
              <a:sym typeface="Gill Sans"/>
            </a:endParaRPr>
          </a:p>
        </p:txBody>
      </p:sp>
      <p:sp>
        <p:nvSpPr>
          <p:cNvPr id="436" name="Google Shape;436;p34"/>
          <p:cNvSpPr/>
          <p:nvPr/>
        </p:nvSpPr>
        <p:spPr>
          <a:xfrm>
            <a:off x="685800" y="5349240"/>
            <a:ext cx="1188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5A24"/>
              </a:buClr>
              <a:buSzPts val="1800"/>
              <a:buFont typeface="Gill Sans"/>
              <a:buNone/>
            </a:pPr>
            <a:r>
              <a:rPr b="1" lang="en-US" sz="1800">
                <a:solidFill>
                  <a:srgbClr val="F15A24"/>
                </a:solidFill>
                <a:latin typeface="Gill Sans"/>
                <a:ea typeface="Gill Sans"/>
                <a:cs typeface="Gill Sans"/>
                <a:sym typeface="Gill Sans"/>
              </a:rPr>
              <a:t>Contact</a:t>
            </a:r>
            <a:endParaRPr sz="1800">
              <a:solidFill>
                <a:schemeClr val="dk1"/>
              </a:solidFill>
              <a:latin typeface="Gill Sans"/>
              <a:ea typeface="Gill Sans"/>
              <a:cs typeface="Gill Sans"/>
              <a:sym typeface="Gill Sans"/>
            </a:endParaRPr>
          </a:p>
        </p:txBody>
      </p:sp>
      <p:sp>
        <p:nvSpPr>
          <p:cNvPr id="437" name="Google Shape;437;p34"/>
          <p:cNvSpPr/>
          <p:nvPr/>
        </p:nvSpPr>
        <p:spPr>
          <a:xfrm>
            <a:off x="2057400" y="5376672"/>
            <a:ext cx="7360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Gill Sans"/>
              <a:buNone/>
            </a:pPr>
            <a:r>
              <a:rPr lang="en-US" sz="1300">
                <a:solidFill>
                  <a:srgbClr val="1F2937"/>
                </a:solidFill>
                <a:latin typeface="Gill Sans"/>
                <a:ea typeface="Gill Sans"/>
                <a:cs typeface="Gill Sans"/>
                <a:sym typeface="Gill Sans"/>
              </a:rPr>
              <a:t>Chenhui.Yang@</a:t>
            </a:r>
            <a:r>
              <a:rPr lang="en-US" sz="1300">
                <a:solidFill>
                  <a:srgbClr val="1F2937"/>
                </a:solidFill>
                <a:latin typeface="Gill Sans"/>
                <a:ea typeface="Gill Sans"/>
                <a:cs typeface="Gill Sans"/>
                <a:sym typeface="Gill Sans"/>
              </a:rPr>
              <a:t>my.</a:t>
            </a:r>
            <a:r>
              <a:rPr lang="en-US" sz="1300">
                <a:solidFill>
                  <a:srgbClr val="1F2937"/>
                </a:solidFill>
                <a:latin typeface="Gill Sans"/>
                <a:ea typeface="Gill Sans"/>
                <a:cs typeface="Gill Sans"/>
                <a:sym typeface="Gill Sans"/>
              </a:rPr>
              <a:t>utsa.edu  ·  Omar.Badran@my.utsa.edu  ·  Wei.You@my.utsa.edu</a:t>
            </a:r>
            <a:endParaRPr sz="1300">
              <a:solidFill>
                <a:schemeClr val="dk1"/>
              </a:solidFill>
              <a:latin typeface="Gill Sans"/>
              <a:ea typeface="Gill Sans"/>
              <a:cs typeface="Gill Sans"/>
              <a:sym typeface="Gill Sans"/>
            </a:endParaRPr>
          </a:p>
        </p:txBody>
      </p:sp>
      <p:sp>
        <p:nvSpPr>
          <p:cNvPr id="438" name="Google Shape;438;p34"/>
          <p:cNvSpPr/>
          <p:nvPr/>
        </p:nvSpPr>
        <p:spPr>
          <a:xfrm>
            <a:off x="502920" y="6592824"/>
            <a:ext cx="50292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8291"/>
              </a:buClr>
              <a:buSzPts val="750"/>
              <a:buFont typeface="Gill Sans"/>
              <a:buNone/>
            </a:pPr>
            <a:r>
              <a:rPr lang="en-US" sz="750">
                <a:solidFill>
                  <a:srgbClr val="7A8291"/>
                </a:solidFill>
                <a:latin typeface="Gill Sans"/>
                <a:ea typeface="Gill Sans"/>
                <a:cs typeface="Gill Sans"/>
                <a:sym typeface="Gill Sans"/>
              </a:rPr>
              <a:t>Life Insurance AI Advice Benchmark</a:t>
            </a:r>
            <a:endParaRPr sz="750">
              <a:solidFill>
                <a:schemeClr val="dk1"/>
              </a:solidFill>
              <a:latin typeface="Gill Sans"/>
              <a:ea typeface="Gill Sans"/>
              <a:cs typeface="Gill Sans"/>
              <a:sym typeface="Gill Sans"/>
            </a:endParaRPr>
          </a:p>
        </p:txBody>
      </p:sp>
      <p:sp>
        <p:nvSpPr>
          <p:cNvPr id="439" name="Google Shape;439;p34"/>
          <p:cNvSpPr txBox="1"/>
          <p:nvPr>
            <p:ph idx="4294967295" type="sldNum"/>
          </p:nvPr>
        </p:nvSpPr>
        <p:spPr>
          <a:xfrm>
            <a:off x="11612880" y="6601968"/>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6B7280"/>
                </a:solidFill>
                <a:latin typeface="Arial"/>
                <a:ea typeface="Arial"/>
                <a:cs typeface="Arial"/>
                <a:sym typeface="Arial"/>
              </a:rPr>
              <a:t>‹#›</a:t>
            </a:fld>
            <a:endParaRPr sz="800">
              <a:solidFill>
                <a:srgbClr val="6B728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35"/>
          <p:cNvSpPr txBox="1"/>
          <p:nvPr>
            <p:ph type="ctrTitle"/>
          </p:nvPr>
        </p:nvSpPr>
        <p:spPr>
          <a:xfrm>
            <a:off x="0" y="0"/>
            <a:ext cx="12192000" cy="3343500"/>
          </a:xfrm>
          <a:prstGeom prst="rect">
            <a:avLst/>
          </a:prstGeom>
        </p:spPr>
        <p:txBody>
          <a:bodyPr anchorCtr="0" anchor="b" bIns="0" lIns="91425" spcFirstLastPara="1" rIns="91425" wrap="square" tIns="45700">
            <a:normAutofit/>
          </a:bodyPr>
          <a:lstStyle/>
          <a:p>
            <a:pPr indent="0" lvl="0" marL="0" rtl="0" algn="ctr">
              <a:spcBef>
                <a:spcPts val="0"/>
              </a:spcBef>
              <a:spcAft>
                <a:spcPts val="0"/>
              </a:spcAft>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allery">
  <a:themeElements>
    <a:clrScheme name="Gallery">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